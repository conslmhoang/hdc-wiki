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One-sentence summary: I built a wiki that an LLM writes and maintains from 60 papers on high ductile concrete, and I used it to write the literature review. The talk has two parts: 20 minutes on the system, 35 minutes on the review,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1 asked for an LLM wiki system on one smart-concrete topic; Project 2 asked for a literature review written with that system. I chose high ductile concrete. Part A shows how the system works; Part B is the review itself, and every claim in Part B comes from the wiki with a 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about 20 minutes, told as seven steps from an empty folder to a published wiki. The core idea comes from Andrej Karpathy’s “LLM wiki” proposal: the model compiles knowledge into linked notes rather than re-reading raw sources for every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is when the thinking happens. RAG thinks at question time and forgets. The wiki thinks at ingest time and keeps the result, so the cross-paper comparison is already written when I need it for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story on one slide, and the next slides follow these seven steps in order. Steps one and two happen once. Steps three to seven are a loop: every time I add papers, the same procedure runs again, and the existing notes get better instead of starting over. I did five rounds of this loop, going from 6 to 60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sources are the ground truth and are never touched. The wiki is entirely written by the LLM. The schema is the contract between us: I edit it only when we agree on a convention change, for example when I asked for batch ingest. Tool used: Claude Code working directly on the folder, with Obsidian to browse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this is deliberately low-tech. Obsidian opens the folder and draws the graph; GitHub stores the history. Datasets are three master tables: mix designs, mechanical results and micromechanical parameters, which is where the figures in Part B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of the setup. Without these rules an LLM will happily average two numbers or fill a missing DOI from memory. A fifth rule, not shown: background knowledge without a source must be tagged “general knowledge — needs source”. Units are also fixed in the schema: MPa, %, µm, 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reading, I set up the tool. Claude Code runs on my computer, inside the project folder. I gave it permission to read and write files in that folder, run small Python scripts, use the web for open-access papers, use my Chrome browser that is already signed in to the university library, and push to GitHub. Some things stay with me: I choose the topic and the papers, I log in, I handle anything behind a paywall or a CAPTCHA, and I check the numbers. Claude is not allowed to solve a CAPTCHA, enter passwords or pay for articles, and it never edits the original PDFs.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finding papers. I asked Claude to propose papers on high ductile concrete. It searched databases, checked every DOI against Crossref so nothing is invented, and wrote a reading list with a priority and a reason for each paper. Later rounds were guided by the wiki itself: the gaps page showed what was missing, for example durability and structural tests, so the next papers targeted those gaps. Step four: collecting the PDFs. Claude downloaded 39 of the 60 papers itself, from open journals and through my library login. I downloaded the other 21: my first papers, and the ones behind paywalls or a CAPTCHA, which Claude is not allowed to bypass. Our professor said quality matters more than quantity, so 60 is a starting point,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operation is defined in the schema, so the same command gives the same procedure in every session. I only type short commands. “ingest new” compares raw/ with the source notes, so I can drop many PDFs in at once. For an earlier batch of five papers, five sub-agents drafted the source notes in parallel, then one agent integrated them one at a time to keep the topic notes consistent. Round 4 scaled this up: 12 source agents drafted 34 source notes in parallel; then integration agents, each owning non-overlapping topic pages (theory, materials, mechanical, durability, tests and applications), merged them without editing the same file; finally the hub pages were merged once. ScienceDirect stopped in a CAPTCHA loop, which I did not bypass. In round 5 I downloaded 9 of those papers by hand and replaced the paywalled Wang 2007 (ACI) with Choi 2016; the same “ingest new” command then took the wiki from 50 to 60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effect. A single paper on PVA fibers changed the PVA, interface, strain-hardening, crack-width and tensile-strain pages, filled the biggest gap in the wiki (no normal-strength PVA source), and refined an earlier value: slip hardening β of 1.15–2.31 instead of the 0.6 quoted second-hand. At scale, round 4 ran the same procedure on 34 papers: about 40 topic pages updated, 10 new pages, +202 data-table rows and 32 new conflict rows. Round 5 added 10 papers: about 40 topic pages updated, 2 new pages, +60 data-table rows and 13 new conflict rows; it also corrected two second-hand values (permeability at 500 µm and the origin of the 100 µm crack-width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come from build_site.py and the dataset pages (also 113 mix-design rows and 26 micromechanical-parameter rows). Round 4 added 34 papers and took conflicts from 19 to 51; round 5 added 10 more papers, 36 mechanical-result rows and took conflicts to 64. The conflicts number is the one I want to stress: a reviewer would normally miss most of these because they sit in different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catches: Michigan HSHDC is 3.4% strain capacity in one paper and 4.2% in another (ranade2017 vs ranade2015), so the review reports the range; Gao 2020 calls 11.73% “ε_tu”, but that is post-peak strain, not strain capacity at peak (1.68–4.76%); the chloride crack-width threshold turned out to depend on exposure. Also: text extraction turns the micro sign into “m” (28 µm printed as 28 mm), which the LLM checks by rendering the page image; and checks work both ways: a suspected freeze–thaw mis-citation turned out to be two different Yun papers (2011 and 2013), and a suspected Deng 2018 mis-citation points to a third Deng paper not yet in the corpus. The human still verifies: the LLM flags, I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site is a single static page generated from the Markdown. Git keeps the full history, so every change the LLM made is reviewable as a commit. The .gitignore excludes raw PDFs; only my notes and summaries are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Colour shows note type: papers in steel blue, concepts in ochre, properties in plum. Node size is the number of links. Double-click a node to open its note. Keep the demo under three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demo is that the answer is short, cross-paper, and every sentence carries a source note and location. If the answer is reusable, the schema says the LLM should offer to save it as a synthesis page, so the next question starts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Part A: the system is a loop of seven steps, and the human stays in charge of choices and checks. The last step is using the wiki: a review outline lives in the wiki, and each chapter is drafted from the notes with citations. That is how Part B was made. Be honest about limits. The corpus is 60 papers, several from the same research groups (eight from the Xi’an Deng group alone), and some key references are cited but not ingested: Deng, Zhang &amp; Li 2018 and the Chinese standards JC/T 2461-2018 and DBJ61/T112-2016. The wiki makes that visible on the gaps page instead of hiding it. That is the bridge to Part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about 35 minutes. Everything that follows comes from the wiki pages; the source tags in each footer point to the source notes, which point to tables and pages in the PDFs.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papers cannot be listed on one slide, so they are grouped as in the wiki index. Round 4 added 34 papers: 13 JACT PDFs from J-STAGE, 18 MDPI papers as Europe PMC full-text XML, and the Wiley/Hindawi papers (including three Xi’an Deng papers) through my browser with university access. Round 5 added 10 more: 9 ScienceDirect papers that I downloaded by hand (a CAPTCHA blocked automated download) and Choi 2016, which replaced the paywalled Wang 2007 (ACI). They filled two new index groups: Xi’an HDC members and a cementless composite. The JACT group is a journal, not a lab: it includes Michigan, Dresden and Stellenbosch authors. The reviews widen coverage, but their numbers are second-hand: in the wiki they are always marked “as cited”. Counting: 52 primary + 8 reviews = 60; Li 2003 is a review but sits in the theory group of the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HDC is a regional name, not a separate material, and fiber type does not define it. XAUAT says it renamed ECC “to facilitate the application of ECC in concrete structures”, yet its measured PVA-HDC reaches only about 1% strain (Deng 2018 short columns): the name signals intent, not ECC-level ductility. The JCI chain helps with papers whose label overstates the evidence: DFRCC only needs multiple cracking in bending, HPFRCC needs strain hardening in tension. Many round-4 papers carry an HDC/HDCC/ECC label with no tension test at all. Thresholds also differ between reviews (more than 55 MPa and 4%, or more than 80 MPa and 2%). Under Zhang’s cut-off, the Xi’an PVA-HSHDC at about 94 MPa would not count as high-strength.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name the lineage when quoting “HSHDC” values. Michigan reaches high strength with heat curing; the Chinese groups use ambient-cured binders with fly ash or slag and finer PE fibers. Round 4 added a fourth high-strength lineage: Korea University’s steel + PE hybrid, room-cured, about 122–123 MPa. Steel is capped at 1.0% so that PE drives hardening, but neither ingested paper shows a tensile strain curve, only a 9.7 MPa direct tensile strength. The more than 2.9% comes from the group’s earlier papers, so it is “claimed, not shown”. GDUT f'c values were read from a bar chart, so they are approximate. The note under the table is a round-5 conflict: the Xi’an normal-strength PVA-HDC, nominally the same mix, ranges from about 3% to about 1% and, in a modified matrix, below the 0.5% HDC bar. Fiber origin (Japanese vs Chinese PVA) is the only controlled comparison; batch, specimen geometry and strain basis (end of curve vs at peak) may explain the rest, and the first values were read from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1992 paper is the foundation of every later ECC and HDC design. It also adds a flaw-size condition that the later PSH indices leave out, which matters two slides from now. Note: the paper’s Table 1 critical volumes could not be reproduced exactly from Eq. 17, flagged on the source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 from the second ingest round: the thresholds depend on how the fiber fails. 1.2 and 3 are Kanda and Li’s 1998 values for pull-out fibers; their 2006 paper gives 1.3 and 2.7 for rupture-type composites such as PVA-ECC, based on only four or five composites. Strain hardening at all needs only both ratios above 1. These are the pseudo strain-hardening (PSH) indices used by the micromechanics-based primary studies in the corpus; Jin 2019 quotes a third strength threshold, 1.45, attributed to Kanda and Li 1998, which is not yet verified. Example: Michigan HSHDC at quasi-static rate has a strength ratio of about 1.8 and an energy ratio of about 39; at 10 per second the energy ratio drops to about 6 but strain hardening survives.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in the third panel: lower bond means a softer bridging curve, so cracks get wider (43 to 88 micrometres) while still staying under 100. Crack saturation starts at about 0.8% oil, exactly where the energy ratio passes 3. Commercial PVA for ECC uses 0.8–1.2% oil. Matrix: w/c 0.45, no fly ash, 2% PVA, 12 mm by 39 µm.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findings that only appeared because the wiki put the two papers side by side. The second ingest round refined it: the stricter 2006 margin explains part of the PE6 case, but embedment length and flaw size are still missing from the indices. It is labelled as synthesis, not as something either paper claims. It is also logged as an open question on the gaps page. Round 4 added a third threshold: Jin 2019 quotes a strength ratio above 1.45 for PVA-SHCC and attributes it to Kanda &amp; Li 1998, which is not ingested, so it may be a mis-quote or a different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strain rows: the same PVA fiber gives almost 5% in a normal matrix and 0.3% in a dense W/B 0.16 matrix, because the dense matrix makes the bond even stronger. The PVA melting value is now settled by primary thermogravimetry: melting starts at 230 °C, with instability from 220 to 420 °C (Zhou 2023); 263 °C in van Zijl 2010 is decomposition, and the old 273 °C had no source. The low PE melting point is the price for its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one controlled variable in one study, so effects are not additive across rows. The W/B result is the interesting one: too low and the bond is so strong that fibers rupture; too high and they slip. Round 4 confirmed the fly-ash lever in two independent PVA datasets: strain rises from about 2% to about 3.5% as FA/C goes towards 3, while compressive strength falls by about 30%; Jin’s FA/C 4.4 suggests the gain levels off above about 3. The VAE coating lowers the bond, like the oil coating on the previous slides, but strain in that study fell by about half between 7 and 28 days, so 7-day values overstate ductility. Rubber works by acting as weak spots that lower matrix toughness, but costs compressive strength.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figure of the review. My first version of the wiki concluded there was a fundamental trade-off. When the HSHDCC review was ingested, the wiki logged a conflict and revised the conclusion. Specimens and test setups differ between studies, so read the chart as qualitative. The Chinese PVA-HDC points sit low because that standard asks only for 0.5%; lowering W/B from 0.31 to 0.20 there also cut strain from 0.64 to 0.42%. Xi’an PE mixes are not plotted because their composite f'c was not reported. Round 4 adds two cautions: a primary PE UHP-ECC (Sui 2018) reports more than 8% at about 120 MPa, but from the abstract and a figure only, so it is not plotted; and the JCI round robin shows that one PVA mix can give 0.07 to 2.70% depending on the specimen, so points from different test setups are qualitative at best. Round 5 adds a third: a cementless composite, alkali-activated slag with 1.75% PE and no aggregate (Choi 2016), reaches 7.50% at 54.8 MPa (50 mm cubes). It is not plotted, but it sits on the ductile side of the trend and supports the same message: fiber, interface and matrix design set ductility.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mix, same lab programme: shape, casting direction and end fixity change the strain at peak by more than 30 times. Thin, horizontally cast plates align fibers in two dimensions and give the highest values. Kanakubo concludes that strain at peak is not suitable to describe DFRCC deformation capacity, which is why JCI chose a bending test with tensile evaluation only as an appendix. The UM inverse method is calibrated for its own beam geometry and assumes the material truly strain-hardens, so a few direct-tension checks are still needed. One subtlety: Qian’s validation used the 2.7% thin plate as the tension reference; the same-section dogbone gave 2.38% or 0.77%. Across the wider corpus, gauge lengths range from 80 to 205 mm and loading rates over orders of magnitude, so strain values from different groups are not strictly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designers this is good news: lab-scale flexural strength may transfer to members. But the largest beam was only 150 mm deep; the authors themselves call for metre-scale tests. Note the table inconsistency in this paper on the mortar beam sizes, flagged earlier. The UHDC matrix here is weak (about 37 MPa) and fly-ash rich. The orange line is the counterweight from round 4: in tension members of practical thickness, PE UHP-SHCC lost about 85% of its dumbbell strain and failed brittle, explained by 3-D instead of 2-D fiber orientation and a weakest-link effect. A small steel ratio brings the distributed cracking back. So flexural strength may transfer to members, but dogbone strain capacity does not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Michigan papers. The interface barely changes with rate because PE has no chemical bond; the fiber itself drives the rate effect. The impact message: first-impact peak force is similar for both materials, but damage tolerance under repeated impact comes from tensile ductility, not compressive strength. Rates above 10 per second, typical of blast, are untested for HSHDC. Round 4 adds one PVA-SHCC study up to 50 per second: strain first falls, then rises again, as the failure mode switches from fiber rupture to pull-out; strength rises to 11.93 MPa. Why PVA switches back to pull-out at high rate is an open question. So for PVA the simple “less ductile when faster” rule does not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bars are PVA-based, orange bars PE-based. The thresholds in the chart come from reviews and measure different things: chloride ingress, self-healing speed, the ECC design target; the chloride band is second-hand (Jang 2011, as cited in He 2024). Round 4 brought primary chloride data, and they split by transport mode: under immersion, cast 100 µm notches behave like uncracked ECC; under wet–dry cycling, real flexural cracks of 50–100 µm let chloride reach the bar within hours, with no correlation to width. So there is no single safe crack width. The 55–80 µm chloride band is second-hand. Round 5 added two corrections. First, the loaded-vs-residual gap: in short-term tension cracks close only about 15% (Yang 2009) or 10%, that is 5–10 µm (Lepech 2009) on unloading, while under sustained flexural load they are about twice the residual width (Özbay 2013); the difference is loading mode and duration. Second, the 100 µm line is not an ECC measurement: Lepech and Li took it as a design target from single cracks in concrete (Wang 1997) and tested ECC only at 50–63 µm; the “0.10–0.15 mm” value quoted from them is a mis-citation. Also, Yang 2009’s healing limits (below 50 µm full, above 150 µm none) come from a tension-softening mortar, not ECC. Every width in the wiki is residual and usually an average, while service cracks under load are about twice as wide and the widest crack governs ingress. Under immersion, PE-HSHDC widths of 80–130 µm may still be acceptable. Silica fume, rubber, longer fibers or hybrid steel all narrow PE cracks, so this is a design target, not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used to rest almost entirely on reviews; round 4 brought primary studies for most exposures. They confirm the headline that PVA-ECC/HDC far outlasts plain concrete under freeze–thaw and sulfate, but add cautions. Carbonation of high-fly-ash ECC is faster than reviews suggested, and two almost identical mixes differ by about 2.7 times at 28 days (4.78 vs about 13 mm), which is logged as a conflict. Under wet–dry chloride, fine cracks do not stop chloride reaching steel; the benefit is in corrosion cracking and spalling, not initiation. Healing works outdoors for a year, but unloaded tests overestimate it. Under wet–dry chloride the corrosion rate was similar to mortar, with localised pitting (Paul 2014). Uncracked ECC permeability is 8.18 × 10⁻¹² m/s (Lepech 2009). Several of these “ECC” papers never show strain hardening (Zhong 2019, Zhang 2022, Bu 2022, Zhou 2023, Mohammed 2020). Steel-fiber hybrids raise residual strength above 400 °C but bring back spalling at 800 °C. Round 5 added four primary papers. Freeze–thaw now has a tension test: a hybrid PVA + PE SHCC kept its strength after 300 cycles, but strain dropped slightly and bending ended in a single crack (only 2 dumbbells per point). Permeability: the reinforced-mortar value at about 500 µm is 4.46 × 10⁻⁴ m/s from the primary table, not the 10⁻⁵ quoted in a review; 10⁻⁵ is the 300 µm value. The ECC k values are partly healed, and healing appeared only in flowing water. Hot tests (Pourfalah 2018) show bending ductility is lost from about 150 °C, below the 230 °C melting onset; the PVA + steel hybrid stays ductile to 600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Blue-bordered cards are primary experimental data. Round 5 turned the two weakest cards into primary data, all from the Xi’an (XAUAT) group. Column jackets: with a bar mesh, the HDC jacket moved the failure from brittle bend-shear to a flexural hinge, but the jacketed columns carried higher axial loads than the controls (881 vs 573 kN), so the gains mix two effects. Beams cast wholly in HDC (strain only about 1%) failed in ductile shear; both codes were very conservative, and ACI 318-14 also underestimated the RC controls about 2–3×. Masonry: the shake-table model was first tested bare, then with a welded-wire mortar overlay, then repaired and given a 15 mm HDC overlay, so the comparison is on one damaged model with unequal retrofit areas. AAC walls: strips alone debonded (+17%), bar-reinforced strips +28%, a full single-sided layer +31% with sliding failure. Gaps: no bond test of HDC on brick or AAC, no crack widths, one specimen per case. The Japanese field cases remain second-hand (Kunieda and Rokugo 2006); the FE masonry study (Tabrizikahou 2022) is now superseded by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groups: orange for material durability, blue for fire, test methods and theory, green for structural and long-term behaviour. All six are on the wiki’s gaps page with the sources behind them, updated for the 60-source corpus; the page now logs 64 conflicts, up from 51 after round 4 and 19 before it. Round 5 closed two gaps (masonry retrofit and RC column jackets now have primary tests) but opened new ones: the same XAUAT PVA-HDC gives about 3% in one paper and about 1% or less in others; the 100 µm permeability line was never measured on ECC; and the healing limits of Yang 2009 come from a tension-softening mortar. Two further items: the Korean HSDC/NSHSDC tensile ductility is claimed but not shown, and no study measures how FA dosage trades ductility against frost resistance. A gap in my own corpus: Deng, Zhang and Li 2018, Kanda and Li 1998, JSCE 2008, JC/T 2461-2018 and DBJ61/T112-2016 are cited but not ingested.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Part B with the four messages. The first three are about the material; the last ties back to Part A: the method is what let a 60-paper corpus produce a review with explicit, checkable gaps and 64 logged conflicts. Round 4 sharpened the first message: many papers use the HDC or ECC label without any tension test, so the label alone is not evidence. Round 5 sharpened it again: the same Xi’an PVA-HDC mix gives about 3% or about 1% strain depending on the fiber and the paper. It also added primary structural tests (column jackets, whole-HDC beams, masonry on a shake table), where even about 1% strain changed brittle failures into ductile ones, and a cementless PE composite at 7.50% that supports the third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How do you know the LLM did not invent numbers? (evidence rules, page images, to-verify lists, my checks). Why 60 papers, and why not more? (corpus limits: 10 ScienceDirect/ACI papers could not be downloaded automatically because of a CAPTCHA loop, which I did not bypass; I downloaded 9 by hand, and the paywalled Wang 2007 (ACI) was replaced by Choi 2016. Still cited but not ingested: Deng, Zhang &amp; Li 2018, Kanda &amp; Li 1998, JSCE 2008, and the standards JC/T 2461-2018 and DBJ61/T112-2016; the gaps page states this). Can the system scale? (yes, ingest new is batch; the professor’s wiki has about 860 papers). What would you add next? (Deng, Zhang &amp; Li 2018, the JC/T 2461 and DBJ61/T112 standards, and durability studies of HSHDC/UHDC, which are still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9060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0070C0"/>
                </a:solidFill>
                <a:latin typeface="Arial" pitchFamily="34" charset="0"/>
                <a:ea typeface="Arial" pitchFamily="34" charset="-122"/>
                <a:cs typeface="Arial"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686520"/>
            <a:ext cx="10566400" cy="4358680"/>
          </a:xfrm>
          <a:prstGeom prst="rect">
            <a:avLst/>
          </a:prstGeom>
          <a:noFill/>
          <a:ln/>
        </p:spPr>
        <p:txBody>
          <a:bodyPr wrap="square" lIns="0" tIns="0" rIns="0" bIns="0" rtlCol="0" anchor="t"/>
          <a:lstStyle>
            <a:lvl1pPr algn="l" indent="0" marL="0">
              <a:lnSpc>
                <a:spcPct val="140000"/>
              </a:lnSpc>
              <a:buNone/>
              <a:defRPr lang="en-US" sz="1600" dirty="0">
                <a:solidFill>
                  <a:srgbClr val="0070C0"/>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990600"/>
            <a:ext cx="10566400" cy="391120"/>
          </a:xfrm>
          <a:prstGeom prst="rect">
            <a:avLst/>
          </a:prstGeom>
          <a:noFill/>
          <a:ln/>
        </p:spPr>
        <p:txBody>
          <a:bodyPr wrap="square" lIns="0" tIns="0" rIns="0" bIns="0" rtlCol="0" anchor="t"/>
          <a:lstStyle>
            <a:lvl1pPr algn="l" indent="0" marL="0">
              <a:lnSpc>
                <a:spcPct val="115000"/>
              </a:lnSpc>
              <a:buNone/>
              <a:defRPr lang="en-US" sz="2800" dirty="0">
                <a:solidFill>
                  <a:srgbClr val="0070C0"/>
                </a:solidFill>
                <a:latin typeface="Arial" pitchFamily="34" charset="0"/>
                <a:ea typeface="Arial" pitchFamily="34" charset="-122"/>
                <a:cs typeface="Arial"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686520"/>
            <a:ext cx="10566400" cy="4358680"/>
          </a:xfrm>
          <a:prstGeom prst="rect">
            <a:avLst/>
          </a:prstGeom>
          <a:noFill/>
          <a:ln/>
        </p:spPr>
        <p:txBody>
          <a:bodyPr wrap="square" lIns="0" tIns="0" rIns="0" bIns="0" rtlCol="0" anchor="t"/>
          <a:lstStyle>
            <a:lvl1pPr algn="l" indent="0" marL="0">
              <a:lnSpc>
                <a:spcPct val="140000"/>
              </a:lnSpc>
              <a:buNone/>
              <a:defRPr lang="en-US" sz="1600" dirty="0">
                <a:solidFill>
                  <a:srgbClr val="0070C0"/>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Chonnam National University logo">    </p:cNvPr>
          <p:cNvPicPr>
            <a:picLocks noChangeAspect="1"/>
          </p:cNvPicPr>
          <p:nvPr/>
        </p:nvPicPr>
        <p:blipFill>
          <a:blip r:embed="rId1"/>
          <a:srcRect l="0" r="0" t="-14" b="-14"/>
          <a:stretch/>
        </p:blipFill>
        <p:spPr>
          <a:xfrm>
            <a:off x="355600" y="304800"/>
            <a:ext cx="3429000" cy="1060450"/>
          </a:xfrm>
          <a:prstGeom prst="rect">
            <a:avLst/>
          </a:prstGeom>
        </p:spPr>
      </p:pic>
      <p:sp>
        <p:nvSpPr>
          <p:cNvPr id="3" name="Text 0"/>
          <p:cNvSpPr/>
          <p:nvPr/>
        </p:nvSpPr>
        <p:spPr>
          <a:xfrm>
            <a:off x="3989705" y="330200"/>
            <a:ext cx="5101590" cy="878681"/>
          </a:xfrm>
          <a:prstGeom prst="rect">
            <a:avLst/>
          </a:prstGeom>
          <a:noFill/>
          <a:ln/>
        </p:spPr>
        <p:txBody>
          <a:bodyPr wrap="square" lIns="0" tIns="0" rIns="0" bIns="0" rtlCol="0" anchor="t">
            <a:normAutofit/>
          </a:bodyPr>
          <a:lstStyle/>
          <a:p>
            <a:pPr algn="ctr" indent="0" marL="0">
              <a:lnSpc>
                <a:spcPts val="3360"/>
              </a:lnSpc>
              <a:buNone/>
            </a:pPr>
            <a:r>
              <a:rPr lang="en-US" sz="2800" dirty="0">
                <a:solidFill>
                  <a:srgbClr val="0070C0"/>
                </a:solidFill>
                <a:latin typeface="Arial" pitchFamily="34" charset="0"/>
                <a:ea typeface="Arial" pitchFamily="34" charset="-122"/>
                <a:cs typeface="Arial" pitchFamily="34" charset="-120"/>
              </a:rPr>
              <a:t>BUILDING AN LLM WIKI FOR HIGH DUCTILE CONCRETE</a:t>
            </a:r>
            <a:endParaRPr lang="en-US" sz="2800" dirty="0"/>
          </a:p>
        </p:txBody>
      </p:sp>
      <p:sp>
        <p:nvSpPr>
          <p:cNvPr id="4" name="Text 1"/>
          <p:cNvSpPr/>
          <p:nvPr/>
        </p:nvSpPr>
        <p:spPr>
          <a:xfrm>
            <a:off x="9060180" y="381000"/>
            <a:ext cx="2877820" cy="594320"/>
          </a:xfrm>
          <a:prstGeom prst="rect">
            <a:avLst/>
          </a:prstGeom>
          <a:noFill/>
          <a:ln/>
        </p:spPr>
        <p:txBody>
          <a:bodyPr wrap="square" lIns="0" tIns="0" rIns="0" bIns="0" rtlCol="0" anchor="t">
            <a:normAutofit/>
          </a:bodyPr>
          <a:lstStyle/>
          <a:p>
            <a:pPr algn="r" indent="0" marL="0">
              <a:lnSpc>
                <a:spcPts val="2240"/>
              </a:lnSpc>
              <a:buNone/>
            </a:pPr>
            <a:r>
              <a:rPr lang="en-US" sz="1600" b="1" i="1" dirty="0">
                <a:solidFill>
                  <a:srgbClr val="0070C0"/>
                </a:solidFill>
                <a:latin typeface="Arial" pitchFamily="34" charset="0"/>
                <a:ea typeface="Arial" pitchFamily="34" charset="-122"/>
                <a:cs typeface="Arial" pitchFamily="34" charset="-120"/>
              </a:rPr>
              <a:t>Advisor: Prof. [Advisor name]</a:t>
            </a:r>
            <a:endParaRPr lang="en-US" sz="1600" dirty="0"/>
          </a:p>
        </p:txBody>
      </p:sp>
      <p:sp>
        <p:nvSpPr>
          <p:cNvPr id="5" name="Text 2"/>
          <p:cNvSpPr/>
          <p:nvPr/>
        </p:nvSpPr>
        <p:spPr>
          <a:xfrm>
            <a:off x="9060180" y="711200"/>
            <a:ext cx="2877820" cy="309860"/>
          </a:xfrm>
          <a:prstGeom prst="rect">
            <a:avLst/>
          </a:prstGeom>
          <a:noFill/>
          <a:ln/>
        </p:spPr>
        <p:txBody>
          <a:bodyPr wrap="square" lIns="0" tIns="0" rIns="0" bIns="0" rtlCol="0" anchor="t">
            <a:normAutofit/>
          </a:bodyPr>
          <a:lstStyle/>
          <a:p>
            <a:pPr algn="r" indent="0" marL="0">
              <a:lnSpc>
                <a:spcPts val="2240"/>
              </a:lnSpc>
              <a:buNone/>
            </a:pPr>
            <a:r>
              <a:rPr lang="en-US" sz="1600" dirty="0">
                <a:solidFill>
                  <a:srgbClr val="0070C0"/>
                </a:solidFill>
                <a:latin typeface="Arial" pitchFamily="34" charset="0"/>
                <a:ea typeface="Arial" pitchFamily="34" charset="-122"/>
                <a:cs typeface="Arial" pitchFamily="34" charset="-120"/>
              </a:rPr>
              <a:t>Master’s Student: [Your name]</a:t>
            </a:r>
            <a:endParaRPr lang="en-US" sz="1600" dirty="0"/>
          </a:p>
        </p:txBody>
      </p:sp>
      <p:pic>
        <p:nvPicPr>
          <p:cNvPr id="6" name="Image 1" descr="Knowledge graph of the HDC wiki: linked notes, papers labelled">    </p:cNvPr>
          <p:cNvPicPr>
            <a:picLocks noChangeAspect="1"/>
          </p:cNvPicPr>
          <p:nvPr/>
        </p:nvPicPr>
        <p:blipFill>
          <a:blip r:embed="rId2"/>
          <a:srcRect l="-464" r="-464" t="0" b="0"/>
          <a:stretch/>
        </p:blipFill>
        <p:spPr>
          <a:xfrm>
            <a:off x="889000" y="1905000"/>
            <a:ext cx="4572000" cy="4127500"/>
          </a:xfrm>
          <a:prstGeom prst="rect">
            <a:avLst/>
          </a:prstGeom>
        </p:spPr>
      </p:pic>
      <p:sp>
        <p:nvSpPr>
          <p:cNvPr id="7" name="Text 3"/>
          <p:cNvSpPr/>
          <p:nvPr/>
        </p:nvSpPr>
        <p:spPr>
          <a:xfrm>
            <a:off x="6223000" y="2095500"/>
            <a:ext cx="523240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F4E79"/>
                </a:solidFill>
                <a:latin typeface="Arial" pitchFamily="34" charset="0"/>
                <a:ea typeface="Arial" pitchFamily="34" charset="-122"/>
                <a:cs typeface="Arial" pitchFamily="34" charset="-120"/>
              </a:rPr>
              <a:t>Project 1 · LLM wiki system for a smart concrete</a:t>
            </a:r>
            <a:endParaRPr lang="en-US" sz="2000" dirty="0"/>
          </a:p>
        </p:txBody>
      </p:sp>
      <p:sp>
        <p:nvSpPr>
          <p:cNvPr id="8" name="Text 4"/>
          <p:cNvSpPr/>
          <p:nvPr/>
        </p:nvSpPr>
        <p:spPr>
          <a:xfrm>
            <a:off x="6223000" y="2794000"/>
            <a:ext cx="5232400" cy="6858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1F4E79"/>
                </a:solidFill>
                <a:latin typeface="Arial" pitchFamily="34" charset="0"/>
                <a:ea typeface="Arial" pitchFamily="34" charset="-122"/>
                <a:cs typeface="Arial" pitchFamily="34" charset="-120"/>
              </a:rPr>
              <a:t>Project 2 · Literature review of high ductile concrete with the wiki</a:t>
            </a:r>
            <a:endParaRPr lang="en-US" sz="2000" dirty="0"/>
          </a:p>
        </p:txBody>
      </p:sp>
      <p:sp>
        <p:nvSpPr>
          <p:cNvPr id="9" name="Text 5"/>
          <p:cNvSpPr/>
          <p:nvPr/>
        </p:nvSpPr>
        <p:spPr>
          <a:xfrm>
            <a:off x="6223000" y="3937000"/>
            <a:ext cx="52324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64C"/>
                </a:solidFill>
                <a:latin typeface="Arial" pitchFamily="34" charset="0"/>
                <a:ea typeface="Arial" pitchFamily="34" charset="-122"/>
                <a:cs typeface="Arial" pitchFamily="34" charset="-120"/>
              </a:rPr>
              <a:t>60 papers · 129 linked notes · 2955 links</a:t>
            </a:r>
            <a:endParaRPr lang="en-US" sz="1600" dirty="0"/>
          </a:p>
        </p:txBody>
      </p:sp>
      <p:sp>
        <p:nvSpPr>
          <p:cNvPr id="10" name="Text 6"/>
          <p:cNvSpPr/>
          <p:nvPr/>
        </p:nvSpPr>
        <p:spPr>
          <a:xfrm>
            <a:off x="6223000" y="4381500"/>
            <a:ext cx="52324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3E464C"/>
                </a:solidFill>
                <a:latin typeface="Arial" pitchFamily="34" charset="0"/>
                <a:ea typeface="Arial" pitchFamily="34" charset="-122"/>
                <a:cs typeface="Arial" pitchFamily="34" charset="-120"/>
              </a:rPr>
              <a:t>conslmhoang.github.io/HDC-wiki</a:t>
            </a:r>
            <a:endParaRPr lang="en-US" sz="1600" dirty="0"/>
          </a:p>
        </p:txBody>
      </p:sp>
      <p:sp>
        <p:nvSpPr>
          <p:cNvPr id="11" name="Text 7"/>
          <p:cNvSpPr/>
          <p:nvPr/>
        </p:nvSpPr>
        <p:spPr>
          <a:xfrm>
            <a:off x="6223000" y="54610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of Architecture and Civil Engineering · [Date]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Overview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Two projects, one system</a:t>
            </a:r>
            <a:endParaRPr lang="en-US" sz="2800" dirty="0"/>
          </a:p>
        </p:txBody>
      </p:sp>
      <p:sp>
        <p:nvSpPr>
          <p:cNvPr id="7" name="Shape 5"/>
          <p:cNvSpPr/>
          <p:nvPr/>
        </p:nvSpPr>
        <p:spPr>
          <a:xfrm>
            <a:off x="815975" y="1740495"/>
            <a:ext cx="3938290" cy="3996730"/>
          </a:xfrm>
          <a:prstGeom prst="roundRect">
            <a:avLst>
              <a:gd name="adj" fmla="val 1854"/>
            </a:avLst>
          </a:prstGeom>
          <a:solidFill>
            <a:srgbClr val="F4F8FC"/>
          </a:solidFill>
          <a:ln w="6350">
            <a:solidFill>
              <a:srgbClr val="C9D7E8"/>
            </a:solidFill>
            <a:prstDash val="solid"/>
          </a:ln>
        </p:spPr>
      </p:sp>
      <p:sp>
        <p:nvSpPr>
          <p:cNvPr id="8" name="Text 6"/>
          <p:cNvSpPr/>
          <p:nvPr/>
        </p:nvSpPr>
        <p:spPr>
          <a:xfrm>
            <a:off x="1123950" y="2048470"/>
            <a:ext cx="342201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70C0"/>
                </a:solidFill>
                <a:latin typeface="Arial" pitchFamily="34" charset="0"/>
                <a:ea typeface="Arial" pitchFamily="34" charset="-122"/>
                <a:cs typeface="Arial" pitchFamily="34" charset="-120"/>
              </a:rPr>
              <a:t>Part A · 20 min</a:t>
            </a:r>
            <a:endParaRPr lang="en-US" sz="1600" dirty="0"/>
          </a:p>
        </p:txBody>
      </p:sp>
      <p:sp>
        <p:nvSpPr>
          <p:cNvPr id="9" name="Text 7"/>
          <p:cNvSpPr/>
          <p:nvPr/>
        </p:nvSpPr>
        <p:spPr>
          <a:xfrm>
            <a:off x="1123950" y="2459930"/>
            <a:ext cx="342201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Setting up the LLM wiki</a:t>
            </a:r>
            <a:endParaRPr lang="en-US" sz="2000" dirty="0"/>
          </a:p>
        </p:txBody>
      </p:sp>
      <p:sp>
        <p:nvSpPr>
          <p:cNvPr id="10" name="Text 8"/>
          <p:cNvSpPr/>
          <p:nvPr/>
        </p:nvSpPr>
        <p:spPr>
          <a:xfrm>
            <a:off x="1123950" y="2891730"/>
            <a:ext cx="3422010" cy="1498302"/>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Seven steps: set up the folder and rules, grant permissions, let Claude find and collect 60 papers, ingest, check, publish — plus two live demos.</a:t>
            </a:r>
            <a:endParaRPr lang="en-US" sz="1600" dirty="0"/>
          </a:p>
        </p:txBody>
      </p:sp>
      <p:sp>
        <p:nvSpPr>
          <p:cNvPr id="11" name="Shape 9"/>
          <p:cNvSpPr/>
          <p:nvPr/>
        </p:nvSpPr>
        <p:spPr>
          <a:xfrm>
            <a:off x="4963815" y="1740495"/>
            <a:ext cx="3938290" cy="3996730"/>
          </a:xfrm>
          <a:prstGeom prst="roundRect">
            <a:avLst>
              <a:gd name="adj" fmla="val 1854"/>
            </a:avLst>
          </a:prstGeom>
          <a:solidFill>
            <a:srgbClr val="F4F8FC"/>
          </a:solidFill>
          <a:ln w="6350">
            <a:solidFill>
              <a:srgbClr val="C9D7E8"/>
            </a:solidFill>
            <a:prstDash val="solid"/>
          </a:ln>
        </p:spPr>
      </p:sp>
      <p:sp>
        <p:nvSpPr>
          <p:cNvPr id="12" name="Text 10"/>
          <p:cNvSpPr/>
          <p:nvPr/>
        </p:nvSpPr>
        <p:spPr>
          <a:xfrm>
            <a:off x="5271790" y="2048470"/>
            <a:ext cx="342201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8720C"/>
                </a:solidFill>
                <a:latin typeface="Arial" pitchFamily="34" charset="0"/>
                <a:ea typeface="Arial" pitchFamily="34" charset="-122"/>
                <a:cs typeface="Arial" pitchFamily="34" charset="-120"/>
              </a:rPr>
              <a:t>Part B · 35 min</a:t>
            </a:r>
            <a:endParaRPr lang="en-US" sz="1600" dirty="0"/>
          </a:p>
        </p:txBody>
      </p:sp>
      <p:sp>
        <p:nvSpPr>
          <p:cNvPr id="13" name="Text 11"/>
          <p:cNvSpPr/>
          <p:nvPr/>
        </p:nvSpPr>
        <p:spPr>
          <a:xfrm>
            <a:off x="5271790" y="2459930"/>
            <a:ext cx="3422010"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Literature review: high ductile concrete</a:t>
            </a:r>
            <a:endParaRPr lang="en-US" sz="2000" dirty="0"/>
          </a:p>
        </p:txBody>
      </p:sp>
      <p:sp>
        <p:nvSpPr>
          <p:cNvPr id="14" name="Text 12"/>
          <p:cNvSpPr/>
          <p:nvPr/>
        </p:nvSpPr>
        <p:spPr>
          <a:xfrm>
            <a:off x="5271790" y="3196530"/>
            <a:ext cx="3422010" cy="1203722"/>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Terminology, design theory, materials, mechanical and dynamic behaviour, durability, applications, gaps.</a:t>
            </a:r>
            <a:endParaRPr lang="en-US" sz="1600" dirty="0"/>
          </a:p>
        </p:txBody>
      </p:sp>
      <p:sp>
        <p:nvSpPr>
          <p:cNvPr id="15" name="Shape 13"/>
          <p:cNvSpPr/>
          <p:nvPr/>
        </p:nvSpPr>
        <p:spPr>
          <a:xfrm>
            <a:off x="9108480" y="1737320"/>
            <a:ext cx="2270720" cy="4003080"/>
          </a:xfrm>
          <a:prstGeom prst="roundRect">
            <a:avLst>
              <a:gd name="adj" fmla="val 3356"/>
            </a:avLst>
          </a:prstGeom>
          <a:solidFill>
            <a:srgbClr val="EEF3F9"/>
          </a:solidFill>
          <a:ln/>
        </p:spPr>
      </p:sp>
      <p:sp>
        <p:nvSpPr>
          <p:cNvPr id="16" name="Text 14"/>
          <p:cNvSpPr/>
          <p:nvPr/>
        </p:nvSpPr>
        <p:spPr>
          <a:xfrm>
            <a:off x="9413280" y="2042120"/>
            <a:ext cx="1711920"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64C"/>
                </a:solidFill>
                <a:latin typeface="Arial" pitchFamily="34" charset="0"/>
                <a:ea typeface="Arial" pitchFamily="34" charset="-122"/>
                <a:cs typeface="Arial" pitchFamily="34" charset="-120"/>
              </a:rPr>
              <a:t>5 min</a:t>
            </a:r>
            <a:endParaRPr lang="en-US" sz="1600" dirty="0"/>
          </a:p>
        </p:txBody>
      </p:sp>
      <p:sp>
        <p:nvSpPr>
          <p:cNvPr id="17" name="Text 15"/>
          <p:cNvSpPr/>
          <p:nvPr/>
        </p:nvSpPr>
        <p:spPr>
          <a:xfrm>
            <a:off x="9413280" y="2453580"/>
            <a:ext cx="171192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Questions</a:t>
            </a:r>
            <a:endParaRPr lang="en-US" sz="2000" dirty="0"/>
          </a:p>
        </p:txBody>
      </p:sp>
      <p:sp>
        <p:nvSpPr>
          <p:cNvPr id="18" name="Text 1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Agenda</a:t>
            </a:r>
            <a:endParaRPr lang="en-US" sz="1200" dirty="0"/>
          </a:p>
        </p:txBody>
      </p:sp>
      <p:sp>
        <p:nvSpPr>
          <p:cNvPr id="19" name="Shape 17"/>
          <p:cNvSpPr/>
          <p:nvPr/>
        </p:nvSpPr>
        <p:spPr>
          <a:xfrm>
            <a:off x="0" y="6350000"/>
            <a:ext cx="12192000" cy="12700"/>
          </a:xfrm>
          <a:prstGeom prst="rect">
            <a:avLst/>
          </a:prstGeom>
          <a:solidFill>
            <a:srgbClr val="A6A6A6"/>
          </a:solidFill>
          <a:ln/>
        </p:spPr>
      </p:sp>
      <p:sp>
        <p:nvSpPr>
          <p:cNvPr id="20" name="Text 1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1" name="Text 1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a:t>
            </a:r>
            <a:endParaRPr lang="en-US" sz="1500" dirty="0"/>
          </a:p>
        </p:txBody>
      </p:sp>
      <p:pic>
        <p:nvPicPr>
          <p:cNvPr id="22"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nvSpPr>
        <p:spPr>
          <a:xfrm>
            <a:off x="812800" y="218569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0070C0"/>
                </a:solidFill>
                <a:latin typeface="Arial" pitchFamily="34" charset="0"/>
                <a:ea typeface="Arial" pitchFamily="34" charset="-122"/>
                <a:cs typeface="Arial" pitchFamily="34" charset="-120"/>
              </a:rPr>
              <a:t>Part A</a:t>
            </a:r>
            <a:endParaRPr lang="en-US" sz="1600" dirty="0"/>
          </a:p>
        </p:txBody>
      </p:sp>
      <p:sp>
        <p:nvSpPr>
          <p:cNvPr id="7" name="Text 5"/>
          <p:cNvSpPr/>
          <p:nvPr>
            <p:ph type="title"/>
          </p:nvPr>
        </p:nvSpPr>
        <p:spPr>
          <a:xfrm>
            <a:off x="812800" y="2673350"/>
            <a:ext cx="9156700" cy="665460"/>
          </a:xfrm>
          <a:prstGeom prst="rect">
            <a:avLst/>
          </a:prstGeom>
          <a:noFill/>
          <a:ln/>
        </p:spPr>
        <p:txBody>
          <a:bodyPr wrap="square" lIns="0" tIns="0" rIns="0" bIns="0" rtlCol="0" anchor="t">
            <a:normAutofit/>
          </a:bodyPr>
          <a:lstStyle/>
          <a:p>
            <a:pPr algn="l" indent="0" marL="0">
              <a:lnSpc>
                <a:spcPts val="5040"/>
              </a:lnSpc>
              <a:buNone/>
            </a:pPr>
            <a:r>
              <a:rPr lang="en-US" sz="4800" b="0" i="0" dirty="0">
                <a:solidFill>
                  <a:srgbClr val="0070C0"/>
                </a:solidFill>
                <a:latin typeface="Arial" pitchFamily="34" charset="0"/>
                <a:ea typeface="Arial" pitchFamily="34" charset="-122"/>
                <a:cs typeface="Arial" pitchFamily="34" charset="-120"/>
              </a:rPr>
              <a:t>Setting up the LLM wiki</a:t>
            </a:r>
            <a:endParaRPr lang="en-US" sz="4800" dirty="0"/>
          </a:p>
        </p:txBody>
      </p:sp>
      <p:sp>
        <p:nvSpPr>
          <p:cNvPr id="8" name="Text 6"/>
          <p:cNvSpPr/>
          <p:nvPr/>
        </p:nvSpPr>
        <p:spPr>
          <a:xfrm>
            <a:off x="812800" y="3516610"/>
            <a:ext cx="8502650" cy="10541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E464C"/>
                </a:solidFill>
                <a:latin typeface="Arial" pitchFamily="34" charset="0"/>
                <a:ea typeface="Arial" pitchFamily="34" charset="-122"/>
                <a:cs typeface="Arial" pitchFamily="34" charset="-120"/>
              </a:rPr>
              <a:t>How I built it in seven steps: I set the rules and made the decisions; Claude found, read and organised 60 papers into a linked knowledge base.</a:t>
            </a:r>
            <a:endParaRPr lang="en-US" sz="2000" dirty="0"/>
          </a:p>
        </p:txBody>
      </p:sp>
      <p:sp>
        <p:nvSpPr>
          <p:cNvPr id="9" name="Shape 7"/>
          <p:cNvSpPr/>
          <p:nvPr/>
        </p:nvSpPr>
        <p:spPr>
          <a:xfrm>
            <a:off x="0" y="6350000"/>
            <a:ext cx="12192000" cy="12700"/>
          </a:xfrm>
          <a:prstGeom prst="rect">
            <a:avLst/>
          </a:prstGeom>
          <a:solidFill>
            <a:srgbClr val="A6A6A6"/>
          </a:solidFill>
          <a:ln/>
        </p:spPr>
      </p:sp>
      <p:sp>
        <p:nvSpPr>
          <p:cNvPr id="10"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1"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a:t>
            </a:r>
            <a:endParaRPr lang="en-US" sz="1500" dirty="0"/>
          </a:p>
        </p:txBody>
      </p:sp>
      <p:pic>
        <p:nvPicPr>
          <p:cNvPr id="12"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 A literature review is a synthesis problem</a:t>
            </a:r>
            <a:endParaRPr lang="en-US" sz="2800" dirty="0"/>
          </a:p>
        </p:txBody>
      </p:sp>
      <p:sp>
        <p:nvSpPr>
          <p:cNvPr id="7" name="Shape 5"/>
          <p:cNvSpPr/>
          <p:nvPr/>
        </p:nvSpPr>
        <p:spPr>
          <a:xfrm>
            <a:off x="812800" y="1737320"/>
            <a:ext cx="5168900" cy="2245122"/>
          </a:xfrm>
          <a:prstGeom prst="roundRect">
            <a:avLst>
              <a:gd name="adj" fmla="val 3394"/>
            </a:avLst>
          </a:prstGeom>
          <a:solidFill>
            <a:srgbClr val="EEF3F9"/>
          </a:solidFill>
          <a:ln/>
        </p:spPr>
      </p:sp>
      <p:sp>
        <p:nvSpPr>
          <p:cNvPr id="8" name="Text 6"/>
          <p:cNvSpPr/>
          <p:nvPr/>
        </p:nvSpPr>
        <p:spPr>
          <a:xfrm>
            <a:off x="1117600" y="2042120"/>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Search-and-answer (RAG)</a:t>
            </a:r>
            <a:endParaRPr lang="en-US" sz="2000" dirty="0"/>
          </a:p>
        </p:txBody>
      </p:sp>
      <p:sp>
        <p:nvSpPr>
          <p:cNvPr id="9" name="Text 7"/>
          <p:cNvSpPr/>
          <p:nvPr/>
        </p:nvSpPr>
        <p:spPr>
          <a:xfrm>
            <a:off x="1194308" y="2473920"/>
            <a:ext cx="4611751" cy="1203722"/>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Retrieves a few text chunks per question</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Re-derives the answer from scratch every time</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Nothing accumulates between questions</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Weak at “compare 60 papers on one property”</a:t>
            </a:r>
            <a:endParaRPr lang="en-US" sz="1600" dirty="0"/>
          </a:p>
        </p:txBody>
      </p:sp>
      <p:sp>
        <p:nvSpPr>
          <p:cNvPr id="10" name="Shape 8"/>
          <p:cNvSpPr/>
          <p:nvPr/>
        </p:nvSpPr>
        <p:spPr>
          <a:xfrm>
            <a:off x="6191250" y="1743670"/>
            <a:ext cx="5181600" cy="2232422"/>
          </a:xfrm>
          <a:prstGeom prst="roundRect">
            <a:avLst>
              <a:gd name="adj" fmla="val 3129"/>
            </a:avLst>
          </a:prstGeom>
          <a:solidFill>
            <a:srgbClr val="F4F8FC"/>
          </a:solidFill>
          <a:ln w="12700">
            <a:solidFill>
              <a:srgbClr val="0070C0"/>
            </a:solidFill>
            <a:prstDash val="solid"/>
          </a:ln>
        </p:spPr>
      </p:sp>
      <p:sp>
        <p:nvSpPr>
          <p:cNvPr id="11" name="Text 9"/>
          <p:cNvSpPr/>
          <p:nvPr/>
        </p:nvSpPr>
        <p:spPr>
          <a:xfrm>
            <a:off x="6502400" y="2054820"/>
            <a:ext cx="469607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F4E79"/>
                </a:solidFill>
                <a:latin typeface="Arial" pitchFamily="34" charset="0"/>
                <a:ea typeface="Arial" pitchFamily="34" charset="-122"/>
                <a:cs typeface="Arial" pitchFamily="34" charset="-120"/>
              </a:rPr>
              <a:t>Compiled wiki</a:t>
            </a:r>
            <a:endParaRPr lang="en-US" sz="2000" dirty="0"/>
          </a:p>
        </p:txBody>
      </p:sp>
      <p:sp>
        <p:nvSpPr>
          <p:cNvPr id="12" name="Text 10"/>
          <p:cNvSpPr/>
          <p:nvPr/>
        </p:nvSpPr>
        <p:spPr>
          <a:xfrm>
            <a:off x="6579108" y="2486620"/>
            <a:ext cx="4611751" cy="1203722"/>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Each paper is read once, in full</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Knowledge goes into linked topic notes</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Every new paper updates the existing notes</a:t>
            </a:r>
            <a:endParaRPr lang="en-US" sz="1600" dirty="0"/>
          </a:p>
          <a:p>
            <a:pPr algn="l" marL="177292" indent="-177292">
              <a:lnSpc>
                <a:spcPts val="2320"/>
              </a:lnSpc>
              <a:buSzPct val="100000"/>
              <a:buChar char="•"/>
            </a:pPr>
            <a:r>
              <a:rPr lang="en-US" sz="1600" dirty="0">
                <a:solidFill>
                  <a:srgbClr val="3E464C"/>
                </a:solidFill>
                <a:latin typeface="Arial" pitchFamily="34" charset="0"/>
                <a:ea typeface="Arial" pitchFamily="34" charset="-122"/>
                <a:cs typeface="Arial" pitchFamily="34" charset="-120"/>
              </a:rPr>
              <a:t>Conflicts and gaps are recorded as they appear</a:t>
            </a:r>
            <a:endParaRPr lang="en-US" sz="1600" dirty="0"/>
          </a:p>
        </p:txBody>
      </p:sp>
      <p:sp>
        <p:nvSpPr>
          <p:cNvPr id="13" name="Text 11"/>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Why a wiki</a:t>
            </a:r>
            <a:endParaRPr lang="en-US" sz="1200" dirty="0"/>
          </a:p>
        </p:txBody>
      </p:sp>
      <p:sp>
        <p:nvSpPr>
          <p:cNvPr id="14" name="Shape 12"/>
          <p:cNvSpPr/>
          <p:nvPr/>
        </p:nvSpPr>
        <p:spPr>
          <a:xfrm>
            <a:off x="0" y="6350000"/>
            <a:ext cx="12192000" cy="12700"/>
          </a:xfrm>
          <a:prstGeom prst="rect">
            <a:avLst/>
          </a:prstGeom>
          <a:solidFill>
            <a:srgbClr val="A6A6A6"/>
          </a:solidFill>
          <a:ln/>
        </p:spPr>
      </p:sp>
      <p:sp>
        <p:nvSpPr>
          <p:cNvPr id="15" name="Text 13"/>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6" name="Text 14"/>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4</a:t>
            </a:r>
            <a:endParaRPr lang="en-US" sz="1500" dirty="0"/>
          </a:p>
        </p:txBody>
      </p:sp>
      <p:pic>
        <p:nvPicPr>
          <p:cNvPr id="17"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1.2. Seven steps from an empty folder to a review</a:t>
            </a:r>
            <a:endParaRPr lang="en-US" sz="2800" dirty="0"/>
          </a:p>
        </p:txBody>
      </p:sp>
      <p:sp>
        <p:nvSpPr>
          <p:cNvPr id="7" name="Shape 5"/>
          <p:cNvSpPr/>
          <p:nvPr/>
        </p:nvSpPr>
        <p:spPr>
          <a:xfrm>
            <a:off x="812800" y="1686520"/>
            <a:ext cx="1422400" cy="2232422"/>
          </a:xfrm>
          <a:prstGeom prst="roundRect">
            <a:avLst>
              <a:gd name="adj" fmla="val 5357"/>
            </a:avLst>
          </a:prstGeom>
          <a:solidFill>
            <a:srgbClr val="F4F8FC"/>
          </a:solidFill>
          <a:ln/>
        </p:spPr>
      </p:sp>
      <p:sp>
        <p:nvSpPr>
          <p:cNvPr id="8" name="Shape 6"/>
          <p:cNvSpPr/>
          <p:nvPr/>
        </p:nvSpPr>
        <p:spPr>
          <a:xfrm>
            <a:off x="812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0070C0"/>
          </a:solidFill>
          <a:ln/>
        </p:spPr>
      </p:sp>
      <p:sp>
        <p:nvSpPr>
          <p:cNvPr id="9" name="Text 7"/>
          <p:cNvSpPr/>
          <p:nvPr/>
        </p:nvSpPr>
        <p:spPr>
          <a:xfrm>
            <a:off x="939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070C0"/>
                </a:solidFill>
                <a:latin typeface="Arial" pitchFamily="34" charset="0"/>
                <a:ea typeface="Arial" pitchFamily="34" charset="-122"/>
                <a:cs typeface="Arial" pitchFamily="34" charset="-120"/>
              </a:rPr>
              <a:t>1</a:t>
            </a:r>
            <a:endParaRPr lang="en-US" sz="3200" dirty="0"/>
          </a:p>
        </p:txBody>
      </p:sp>
      <p:sp>
        <p:nvSpPr>
          <p:cNvPr id="10" name="Text 8"/>
          <p:cNvSpPr/>
          <p:nvPr/>
        </p:nvSpPr>
        <p:spPr>
          <a:xfrm>
            <a:off x="939800" y="2385020"/>
            <a:ext cx="12192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Set up</a:t>
            </a:r>
            <a:endParaRPr lang="en-US" sz="1500" dirty="0"/>
          </a:p>
        </p:txBody>
      </p:sp>
      <p:sp>
        <p:nvSpPr>
          <p:cNvPr id="11" name="Text 9"/>
          <p:cNvSpPr/>
          <p:nvPr/>
        </p:nvSpPr>
        <p:spPr>
          <a:xfrm>
            <a:off x="939800" y="2689820"/>
            <a:ext cx="1219200" cy="848122"/>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A folder, three layers and a rule book (CLAUDE.md)</a:t>
            </a:r>
            <a:endParaRPr lang="en-US" sz="1200" dirty="0"/>
          </a:p>
        </p:txBody>
      </p:sp>
      <p:sp>
        <p:nvSpPr>
          <p:cNvPr id="12" name="Shape 10"/>
          <p:cNvSpPr/>
          <p:nvPr/>
        </p:nvSpPr>
        <p:spPr>
          <a:xfrm>
            <a:off x="2336800" y="1686520"/>
            <a:ext cx="1422400" cy="2232422"/>
          </a:xfrm>
          <a:prstGeom prst="roundRect">
            <a:avLst>
              <a:gd name="adj" fmla="val 5357"/>
            </a:avLst>
          </a:prstGeom>
          <a:solidFill>
            <a:srgbClr val="F4F8FC"/>
          </a:solidFill>
          <a:ln/>
        </p:spPr>
      </p:sp>
      <p:sp>
        <p:nvSpPr>
          <p:cNvPr id="13" name="Shape 11"/>
          <p:cNvSpPr/>
          <p:nvPr/>
        </p:nvSpPr>
        <p:spPr>
          <a:xfrm>
            <a:off x="2336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0070C0"/>
          </a:solidFill>
          <a:ln/>
        </p:spPr>
      </p:sp>
      <p:sp>
        <p:nvSpPr>
          <p:cNvPr id="14" name="Text 12"/>
          <p:cNvSpPr/>
          <p:nvPr/>
        </p:nvSpPr>
        <p:spPr>
          <a:xfrm>
            <a:off x="2463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070C0"/>
                </a:solidFill>
                <a:latin typeface="Arial" pitchFamily="34" charset="0"/>
                <a:ea typeface="Arial" pitchFamily="34" charset="-122"/>
                <a:cs typeface="Arial" pitchFamily="34" charset="-120"/>
              </a:rPr>
              <a:t>2</a:t>
            </a:r>
            <a:endParaRPr lang="en-US" sz="3200" dirty="0"/>
          </a:p>
        </p:txBody>
      </p:sp>
      <p:sp>
        <p:nvSpPr>
          <p:cNvPr id="15" name="Text 13"/>
          <p:cNvSpPr/>
          <p:nvPr/>
        </p:nvSpPr>
        <p:spPr>
          <a:xfrm>
            <a:off x="2463800" y="2385020"/>
            <a:ext cx="121920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Grant permissions</a:t>
            </a:r>
            <a:endParaRPr lang="en-US" sz="1500" dirty="0"/>
          </a:p>
        </p:txBody>
      </p:sp>
      <p:sp>
        <p:nvSpPr>
          <p:cNvPr id="16" name="Text 14"/>
          <p:cNvSpPr/>
          <p:nvPr/>
        </p:nvSpPr>
        <p:spPr>
          <a:xfrm>
            <a:off x="2463800" y="2918420"/>
            <a:ext cx="1219200" cy="848122"/>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What Claude may do on my computer, and what stays mine</a:t>
            </a:r>
            <a:endParaRPr lang="en-US" sz="1200" dirty="0"/>
          </a:p>
        </p:txBody>
      </p:sp>
      <p:sp>
        <p:nvSpPr>
          <p:cNvPr id="17" name="Shape 15"/>
          <p:cNvSpPr/>
          <p:nvPr/>
        </p:nvSpPr>
        <p:spPr>
          <a:xfrm>
            <a:off x="3860800" y="1686520"/>
            <a:ext cx="1422400" cy="2232422"/>
          </a:xfrm>
          <a:prstGeom prst="roundRect">
            <a:avLst>
              <a:gd name="adj" fmla="val 5357"/>
            </a:avLst>
          </a:prstGeom>
          <a:solidFill>
            <a:srgbClr val="F4F8FC"/>
          </a:solidFill>
          <a:ln/>
        </p:spPr>
      </p:sp>
      <p:sp>
        <p:nvSpPr>
          <p:cNvPr id="18" name="Shape 16"/>
          <p:cNvSpPr/>
          <p:nvPr/>
        </p:nvSpPr>
        <p:spPr>
          <a:xfrm>
            <a:off x="3860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4E8A2A"/>
          </a:solidFill>
          <a:ln/>
        </p:spPr>
      </p:sp>
      <p:sp>
        <p:nvSpPr>
          <p:cNvPr id="19" name="Text 17"/>
          <p:cNvSpPr/>
          <p:nvPr/>
        </p:nvSpPr>
        <p:spPr>
          <a:xfrm>
            <a:off x="3987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4E8A2A"/>
                </a:solidFill>
                <a:latin typeface="Arial" pitchFamily="34" charset="0"/>
                <a:ea typeface="Arial" pitchFamily="34" charset="-122"/>
                <a:cs typeface="Arial" pitchFamily="34" charset="-120"/>
              </a:rPr>
              <a:t>3</a:t>
            </a:r>
            <a:endParaRPr lang="en-US" sz="3200" dirty="0"/>
          </a:p>
        </p:txBody>
      </p:sp>
      <p:sp>
        <p:nvSpPr>
          <p:cNvPr id="20" name="Text 18"/>
          <p:cNvSpPr/>
          <p:nvPr/>
        </p:nvSpPr>
        <p:spPr>
          <a:xfrm>
            <a:off x="3987800" y="2385020"/>
            <a:ext cx="12192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Find papers</a:t>
            </a:r>
            <a:endParaRPr lang="en-US" sz="1500" dirty="0"/>
          </a:p>
        </p:txBody>
      </p:sp>
      <p:sp>
        <p:nvSpPr>
          <p:cNvPr id="21" name="Text 19"/>
          <p:cNvSpPr/>
          <p:nvPr/>
        </p:nvSpPr>
        <p:spPr>
          <a:xfrm>
            <a:off x="3987800" y="2689820"/>
            <a:ext cx="1219200" cy="848122"/>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Claude proposes a reading list with verified DOIs</a:t>
            </a:r>
            <a:endParaRPr lang="en-US" sz="1200" dirty="0"/>
          </a:p>
        </p:txBody>
      </p:sp>
      <p:sp>
        <p:nvSpPr>
          <p:cNvPr id="22" name="Shape 20"/>
          <p:cNvSpPr/>
          <p:nvPr/>
        </p:nvSpPr>
        <p:spPr>
          <a:xfrm>
            <a:off x="5384800" y="1686520"/>
            <a:ext cx="1422400" cy="2232422"/>
          </a:xfrm>
          <a:prstGeom prst="roundRect">
            <a:avLst>
              <a:gd name="adj" fmla="val 5357"/>
            </a:avLst>
          </a:prstGeom>
          <a:solidFill>
            <a:srgbClr val="F4F8FC"/>
          </a:solidFill>
          <a:ln/>
        </p:spPr>
      </p:sp>
      <p:sp>
        <p:nvSpPr>
          <p:cNvPr id="23" name="Shape 21"/>
          <p:cNvSpPr/>
          <p:nvPr/>
        </p:nvSpPr>
        <p:spPr>
          <a:xfrm>
            <a:off x="5384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4E8A2A"/>
          </a:solidFill>
          <a:ln/>
        </p:spPr>
      </p:sp>
      <p:sp>
        <p:nvSpPr>
          <p:cNvPr id="24" name="Text 22"/>
          <p:cNvSpPr/>
          <p:nvPr/>
        </p:nvSpPr>
        <p:spPr>
          <a:xfrm>
            <a:off x="5511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4E8A2A"/>
                </a:solidFill>
                <a:latin typeface="Arial" pitchFamily="34" charset="0"/>
                <a:ea typeface="Arial" pitchFamily="34" charset="-122"/>
                <a:cs typeface="Arial" pitchFamily="34" charset="-120"/>
              </a:rPr>
              <a:t>4</a:t>
            </a:r>
            <a:endParaRPr lang="en-US" sz="3200" dirty="0"/>
          </a:p>
        </p:txBody>
      </p:sp>
      <p:sp>
        <p:nvSpPr>
          <p:cNvPr id="25" name="Text 23"/>
          <p:cNvSpPr/>
          <p:nvPr/>
        </p:nvSpPr>
        <p:spPr>
          <a:xfrm>
            <a:off x="5511800" y="2385020"/>
            <a:ext cx="121920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Collect PDFs</a:t>
            </a:r>
            <a:endParaRPr lang="en-US" sz="1500" dirty="0"/>
          </a:p>
        </p:txBody>
      </p:sp>
      <p:sp>
        <p:nvSpPr>
          <p:cNvPr id="26" name="Text 24"/>
          <p:cNvSpPr/>
          <p:nvPr/>
        </p:nvSpPr>
        <p:spPr>
          <a:xfrm>
            <a:off x="5511800" y="2918420"/>
            <a:ext cx="1219200" cy="848122"/>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Claude downloads open sources; I handle paywalls</a:t>
            </a:r>
            <a:endParaRPr lang="en-US" sz="1200" dirty="0"/>
          </a:p>
        </p:txBody>
      </p:sp>
      <p:sp>
        <p:nvSpPr>
          <p:cNvPr id="27" name="Shape 25"/>
          <p:cNvSpPr/>
          <p:nvPr/>
        </p:nvSpPr>
        <p:spPr>
          <a:xfrm>
            <a:off x="6908800" y="1686520"/>
            <a:ext cx="1422400" cy="2232422"/>
          </a:xfrm>
          <a:prstGeom prst="roundRect">
            <a:avLst>
              <a:gd name="adj" fmla="val 5357"/>
            </a:avLst>
          </a:prstGeom>
          <a:solidFill>
            <a:srgbClr val="F4F8FC"/>
          </a:solidFill>
          <a:ln/>
        </p:spPr>
      </p:sp>
      <p:sp>
        <p:nvSpPr>
          <p:cNvPr id="28" name="Shape 26"/>
          <p:cNvSpPr/>
          <p:nvPr/>
        </p:nvSpPr>
        <p:spPr>
          <a:xfrm>
            <a:off x="6908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B8720C"/>
          </a:solidFill>
          <a:ln/>
        </p:spPr>
      </p:sp>
      <p:sp>
        <p:nvSpPr>
          <p:cNvPr id="29" name="Text 27"/>
          <p:cNvSpPr/>
          <p:nvPr/>
        </p:nvSpPr>
        <p:spPr>
          <a:xfrm>
            <a:off x="7035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8720C"/>
                </a:solidFill>
                <a:latin typeface="Arial" pitchFamily="34" charset="0"/>
                <a:ea typeface="Arial" pitchFamily="34" charset="-122"/>
                <a:cs typeface="Arial" pitchFamily="34" charset="-120"/>
              </a:rPr>
              <a:t>5</a:t>
            </a:r>
            <a:endParaRPr lang="en-US" sz="3200" dirty="0"/>
          </a:p>
        </p:txBody>
      </p:sp>
      <p:sp>
        <p:nvSpPr>
          <p:cNvPr id="30" name="Text 28"/>
          <p:cNvSpPr/>
          <p:nvPr/>
        </p:nvSpPr>
        <p:spPr>
          <a:xfrm>
            <a:off x="7035800" y="2385020"/>
            <a:ext cx="12192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Ingest</a:t>
            </a:r>
            <a:endParaRPr lang="en-US" sz="1500" dirty="0"/>
          </a:p>
        </p:txBody>
      </p:sp>
      <p:sp>
        <p:nvSpPr>
          <p:cNvPr id="31" name="Text 29"/>
          <p:cNvSpPr/>
          <p:nvPr/>
        </p:nvSpPr>
        <p:spPr>
          <a:xfrm>
            <a:off x="7035800" y="2689820"/>
            <a:ext cx="1219200" cy="848122"/>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Each paper is read in full and woven into topic notes</a:t>
            </a:r>
            <a:endParaRPr lang="en-US" sz="1200" dirty="0"/>
          </a:p>
        </p:txBody>
      </p:sp>
      <p:sp>
        <p:nvSpPr>
          <p:cNvPr id="32" name="Shape 30"/>
          <p:cNvSpPr/>
          <p:nvPr/>
        </p:nvSpPr>
        <p:spPr>
          <a:xfrm>
            <a:off x="8432800" y="1686520"/>
            <a:ext cx="1422400" cy="2232422"/>
          </a:xfrm>
          <a:prstGeom prst="roundRect">
            <a:avLst>
              <a:gd name="adj" fmla="val 5357"/>
            </a:avLst>
          </a:prstGeom>
          <a:solidFill>
            <a:srgbClr val="F4F8FC"/>
          </a:solidFill>
          <a:ln/>
        </p:spPr>
      </p:sp>
      <p:sp>
        <p:nvSpPr>
          <p:cNvPr id="33" name="Shape 31"/>
          <p:cNvSpPr/>
          <p:nvPr/>
        </p:nvSpPr>
        <p:spPr>
          <a:xfrm>
            <a:off x="8432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B8720C"/>
          </a:solidFill>
          <a:ln/>
        </p:spPr>
      </p:sp>
      <p:sp>
        <p:nvSpPr>
          <p:cNvPr id="34" name="Text 32"/>
          <p:cNvSpPr/>
          <p:nvPr/>
        </p:nvSpPr>
        <p:spPr>
          <a:xfrm>
            <a:off x="8559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B8720C"/>
                </a:solidFill>
                <a:latin typeface="Arial" pitchFamily="34" charset="0"/>
                <a:ea typeface="Arial" pitchFamily="34" charset="-122"/>
                <a:cs typeface="Arial" pitchFamily="34" charset="-120"/>
              </a:rPr>
              <a:t>6</a:t>
            </a:r>
            <a:endParaRPr lang="en-US" sz="3200" dirty="0"/>
          </a:p>
        </p:txBody>
      </p:sp>
      <p:sp>
        <p:nvSpPr>
          <p:cNvPr id="35" name="Text 33"/>
          <p:cNvSpPr/>
          <p:nvPr/>
        </p:nvSpPr>
        <p:spPr>
          <a:xfrm>
            <a:off x="8559800" y="2385020"/>
            <a:ext cx="12192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Check</a:t>
            </a:r>
            <a:endParaRPr lang="en-US" sz="1500" dirty="0"/>
          </a:p>
        </p:txBody>
      </p:sp>
      <p:sp>
        <p:nvSpPr>
          <p:cNvPr id="36" name="Text 34"/>
          <p:cNvSpPr/>
          <p:nvPr/>
        </p:nvSpPr>
        <p:spPr>
          <a:xfrm>
            <a:off x="8559800" y="2689820"/>
            <a:ext cx="1219200"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Links, citations, conflicts and items to verify</a:t>
            </a:r>
            <a:endParaRPr lang="en-US" sz="1200" dirty="0"/>
          </a:p>
        </p:txBody>
      </p:sp>
      <p:sp>
        <p:nvSpPr>
          <p:cNvPr id="37" name="Shape 35"/>
          <p:cNvSpPr/>
          <p:nvPr/>
        </p:nvSpPr>
        <p:spPr>
          <a:xfrm>
            <a:off x="9956800" y="1686520"/>
            <a:ext cx="1422400" cy="2232422"/>
          </a:xfrm>
          <a:prstGeom prst="roundRect">
            <a:avLst>
              <a:gd name="adj" fmla="val 5357"/>
            </a:avLst>
          </a:prstGeom>
          <a:solidFill>
            <a:srgbClr val="F4F8FC"/>
          </a:solidFill>
          <a:ln/>
        </p:spPr>
      </p:sp>
      <p:sp>
        <p:nvSpPr>
          <p:cNvPr id="38" name="Shape 36"/>
          <p:cNvSpPr/>
          <p:nvPr/>
        </p:nvSpPr>
        <p:spPr>
          <a:xfrm>
            <a:off x="9956800" y="1686520"/>
            <a:ext cx="1422400" cy="2232422"/>
          </a:xfrm>
          <a:custGeom>
            <a:avLst/>
            <a:gdLst/>
            <a:ahLst/>
            <a:cxnLst/>
            <a:rect l="l" t="t" r="r" b="b"/>
            <a:pathLst>
              <a:path w="1422400" h="2232422">
                <a:moveTo>
                  <a:pt x="0" y="76200"/>
                </a:moveTo>
                <a:lnTo>
                  <a:pt x="0" y="76200"/>
                </a:lnTo>
                <a:arcTo hR="76200" wR="76200" stAng="10800000" swAng="5400000"/>
                <a:lnTo>
                  <a:pt x="1346200" y="0"/>
                </a:lnTo>
                <a:arcTo hR="76200" wR="76200" stAng="16200000" swAng="5400000"/>
                <a:lnTo>
                  <a:pt x="1422400" y="76200"/>
                </a:lnTo>
                <a:arcTo hR="38100" wR="76200" stAng="0" swAng="-5400000"/>
                <a:lnTo>
                  <a:pt x="76200" y="38100"/>
                </a:lnTo>
                <a:arcTo hR="38100" wR="76200" stAng="16200000" swAng="-5400000"/>
                <a:close/>
              </a:path>
            </a:pathLst>
          </a:custGeom>
          <a:solidFill>
            <a:srgbClr val="1F4E79"/>
          </a:solidFill>
          <a:ln/>
        </p:spPr>
      </p:sp>
      <p:sp>
        <p:nvSpPr>
          <p:cNvPr id="39" name="Text 37"/>
          <p:cNvSpPr/>
          <p:nvPr/>
        </p:nvSpPr>
        <p:spPr>
          <a:xfrm>
            <a:off x="10083800" y="1902420"/>
            <a:ext cx="1219200"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1F4E79"/>
                </a:solidFill>
                <a:latin typeface="Arial" pitchFamily="34" charset="0"/>
                <a:ea typeface="Arial" pitchFamily="34" charset="-122"/>
                <a:cs typeface="Arial" pitchFamily="34" charset="-120"/>
              </a:rPr>
              <a:t>7</a:t>
            </a:r>
            <a:endParaRPr lang="en-US" sz="3200" dirty="0"/>
          </a:p>
        </p:txBody>
      </p:sp>
      <p:sp>
        <p:nvSpPr>
          <p:cNvPr id="40" name="Text 38"/>
          <p:cNvSpPr/>
          <p:nvPr/>
        </p:nvSpPr>
        <p:spPr>
          <a:xfrm>
            <a:off x="10083800" y="2385020"/>
            <a:ext cx="121920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Publish and use</a:t>
            </a:r>
            <a:endParaRPr lang="en-US" sz="1500" dirty="0"/>
          </a:p>
        </p:txBody>
      </p:sp>
      <p:sp>
        <p:nvSpPr>
          <p:cNvPr id="41" name="Text 39"/>
          <p:cNvSpPr/>
          <p:nvPr/>
        </p:nvSpPr>
        <p:spPr>
          <a:xfrm>
            <a:off x="10083800" y="2918420"/>
            <a:ext cx="1219200" cy="64244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3E464C"/>
                </a:solidFill>
                <a:latin typeface="Arial" pitchFamily="34" charset="0"/>
                <a:ea typeface="Arial" pitchFamily="34" charset="-122"/>
                <a:cs typeface="Arial" pitchFamily="34" charset="-120"/>
              </a:rPr>
              <a:t>Website, then the literature review in Part B</a:t>
            </a:r>
            <a:endParaRPr lang="en-US" sz="1200" dirty="0"/>
          </a:p>
        </p:txBody>
      </p:sp>
      <p:sp>
        <p:nvSpPr>
          <p:cNvPr id="42" name="Text 40"/>
          <p:cNvSpPr/>
          <p:nvPr/>
        </p:nvSpPr>
        <p:spPr>
          <a:xfrm>
            <a:off x="812800" y="4223742"/>
            <a:ext cx="10464800"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64C"/>
                </a:solidFill>
                <a:latin typeface="Arial" pitchFamily="34" charset="0"/>
                <a:ea typeface="Arial" pitchFamily="34" charset="-122"/>
                <a:cs typeface="Arial" pitchFamily="34" charset="-120"/>
              </a:rPr>
              <a:t>I type short commands and make the decisions; Claude does the reading, writing, cross-linking and bookkeeping. Steps 3–7 repeat for every new batch of papers: the corpus grew in five rounds, from 6 to 60.</a:t>
            </a:r>
            <a:endParaRPr lang="en-US" sz="1500" dirty="0"/>
          </a:p>
        </p:txBody>
      </p:sp>
      <p:sp>
        <p:nvSpPr>
          <p:cNvPr id="43" name="Text 41"/>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Roadmap · wiki/log.md</a:t>
            </a:r>
            <a:endParaRPr lang="en-US" sz="1200" dirty="0"/>
          </a:p>
        </p:txBody>
      </p:sp>
      <p:sp>
        <p:nvSpPr>
          <p:cNvPr id="44" name="Shape 42"/>
          <p:cNvSpPr/>
          <p:nvPr/>
        </p:nvSpPr>
        <p:spPr>
          <a:xfrm>
            <a:off x="0" y="6350000"/>
            <a:ext cx="12192000" cy="12700"/>
          </a:xfrm>
          <a:prstGeom prst="rect">
            <a:avLst/>
          </a:prstGeom>
          <a:solidFill>
            <a:srgbClr val="A6A6A6"/>
          </a:solidFill>
          <a:ln/>
        </p:spPr>
      </p:sp>
      <p:sp>
        <p:nvSpPr>
          <p:cNvPr id="45" name="Text 43"/>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46" name="Text 44"/>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5</a:t>
            </a:r>
            <a:endParaRPr lang="en-US" sz="1500" dirty="0"/>
          </a:p>
        </p:txBody>
      </p:sp>
      <p:pic>
        <p:nvPicPr>
          <p:cNvPr id="47"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1.3. Step 1: three layers, three owners</a:t>
            </a:r>
            <a:endParaRPr lang="en-US" sz="2800" dirty="0"/>
          </a:p>
        </p:txBody>
      </p:sp>
      <p:sp>
        <p:nvSpPr>
          <p:cNvPr id="7" name="Shape 5"/>
          <p:cNvSpPr/>
          <p:nvPr/>
        </p:nvSpPr>
        <p:spPr>
          <a:xfrm>
            <a:off x="812800" y="1934170"/>
            <a:ext cx="2849563" cy="2331641"/>
          </a:xfrm>
          <a:prstGeom prst="roundRect">
            <a:avLst>
              <a:gd name="adj" fmla="val 3268"/>
            </a:avLst>
          </a:prstGeom>
          <a:solidFill>
            <a:srgbClr val="EEF3F9"/>
          </a:solidFill>
          <a:ln/>
        </p:spPr>
      </p:sp>
      <p:sp>
        <p:nvSpPr>
          <p:cNvPr id="8" name="Text 6"/>
          <p:cNvSpPr/>
          <p:nvPr/>
        </p:nvSpPr>
        <p:spPr>
          <a:xfrm>
            <a:off x="1066800" y="2188170"/>
            <a:ext cx="2411809"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B7378"/>
                </a:solidFill>
                <a:latin typeface="Arial" pitchFamily="34" charset="0"/>
                <a:ea typeface="Arial" pitchFamily="34" charset="-122"/>
                <a:cs typeface="Arial" pitchFamily="34" charset="-120"/>
              </a:rPr>
              <a:t>raw/ · owned by me</a:t>
            </a:r>
            <a:endParaRPr lang="en-US" sz="1400" dirty="0"/>
          </a:p>
        </p:txBody>
      </p:sp>
      <p:sp>
        <p:nvSpPr>
          <p:cNvPr id="9" name="Text 7"/>
          <p:cNvSpPr/>
          <p:nvPr/>
        </p:nvSpPr>
        <p:spPr>
          <a:xfrm>
            <a:off x="1066800" y="2538611"/>
            <a:ext cx="241180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Raw sources</a:t>
            </a:r>
            <a:endParaRPr lang="en-US" sz="2000" dirty="0"/>
          </a:p>
        </p:txBody>
      </p:sp>
      <p:sp>
        <p:nvSpPr>
          <p:cNvPr id="10" name="Text 8"/>
          <p:cNvSpPr/>
          <p:nvPr/>
        </p:nvSpPr>
        <p:spPr>
          <a:xfrm>
            <a:off x="1066800" y="2945011"/>
            <a:ext cx="2411809"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60 papers (PDF, or open-access XML). Read-only: never edited, renamed or deleted by the LLM.</a:t>
            </a:r>
            <a:endParaRPr lang="en-US" sz="1500" dirty="0"/>
          </a:p>
        </p:txBody>
      </p:sp>
      <p:pic>
        <p:nvPicPr>
          <p:cNvPr id="11" name="Image 0" descr="arrow-right">    </p:cNvPr>
          <p:cNvPicPr>
            <a:picLocks noChangeAspect="1"/>
          </p:cNvPicPr>
          <p:nvPr/>
        </p:nvPicPr>
        <p:blipFill>
          <a:blip r:embed="rId1"/>
          <a:srcRect l="0" r="0" t="0" b="0"/>
          <a:stretch/>
        </p:blipFill>
        <p:spPr>
          <a:xfrm>
            <a:off x="3814763" y="2985691"/>
            <a:ext cx="457200" cy="228600"/>
          </a:xfrm>
          <a:prstGeom prst="rect">
            <a:avLst/>
          </a:prstGeom>
        </p:spPr>
      </p:pic>
      <p:sp>
        <p:nvSpPr>
          <p:cNvPr id="12" name="Shape 9"/>
          <p:cNvSpPr/>
          <p:nvPr/>
        </p:nvSpPr>
        <p:spPr>
          <a:xfrm>
            <a:off x="4430713" y="1794470"/>
            <a:ext cx="3330575" cy="2611041"/>
          </a:xfrm>
          <a:prstGeom prst="roundRect">
            <a:avLst>
              <a:gd name="adj" fmla="val 2675"/>
            </a:avLst>
          </a:prstGeom>
          <a:solidFill>
            <a:srgbClr val="F4F8FC"/>
          </a:solidFill>
          <a:ln w="12700">
            <a:solidFill>
              <a:srgbClr val="0070C0"/>
            </a:solidFill>
            <a:prstDash val="solid"/>
          </a:ln>
        </p:spPr>
      </p:sp>
      <p:sp>
        <p:nvSpPr>
          <p:cNvPr id="13" name="Text 10"/>
          <p:cNvSpPr/>
          <p:nvPr/>
        </p:nvSpPr>
        <p:spPr>
          <a:xfrm>
            <a:off x="4691063" y="2054820"/>
            <a:ext cx="2894171"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wiki/ · owned by the LLM</a:t>
            </a:r>
            <a:endParaRPr lang="en-US" sz="1400" dirty="0"/>
          </a:p>
        </p:txBody>
      </p:sp>
      <p:sp>
        <p:nvSpPr>
          <p:cNvPr id="14" name="Text 11"/>
          <p:cNvSpPr/>
          <p:nvPr/>
        </p:nvSpPr>
        <p:spPr>
          <a:xfrm>
            <a:off x="4691063" y="2405261"/>
            <a:ext cx="2894171"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Wiki</a:t>
            </a:r>
            <a:endParaRPr lang="en-US" sz="2000" dirty="0"/>
          </a:p>
        </p:txBody>
      </p:sp>
      <p:sp>
        <p:nvSpPr>
          <p:cNvPr id="15" name="Text 12"/>
          <p:cNvSpPr/>
          <p:nvPr/>
        </p:nvSpPr>
        <p:spPr>
          <a:xfrm>
            <a:off x="4691063" y="2811661"/>
            <a:ext cx="2894171"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129 Markdown notes with 2955 links: one per paper, plus concepts, materials, properties, tests, applications and data tables.</a:t>
            </a:r>
            <a:endParaRPr lang="en-US" sz="1500" dirty="0"/>
          </a:p>
        </p:txBody>
      </p:sp>
      <p:pic>
        <p:nvPicPr>
          <p:cNvPr id="16" name="Image 1" descr="arrow-left">    </p:cNvPr>
          <p:cNvPicPr>
            <a:picLocks noChangeAspect="1"/>
          </p:cNvPicPr>
          <p:nvPr/>
        </p:nvPicPr>
        <p:blipFill>
          <a:blip r:embed="rId2"/>
          <a:srcRect l="0" r="0" t="0" b="0"/>
          <a:stretch/>
        </p:blipFill>
        <p:spPr>
          <a:xfrm>
            <a:off x="7920038" y="2985691"/>
            <a:ext cx="457200" cy="228600"/>
          </a:xfrm>
          <a:prstGeom prst="rect">
            <a:avLst/>
          </a:prstGeom>
        </p:spPr>
      </p:pic>
      <p:sp>
        <p:nvSpPr>
          <p:cNvPr id="17" name="Shape 13"/>
          <p:cNvSpPr/>
          <p:nvPr/>
        </p:nvSpPr>
        <p:spPr>
          <a:xfrm>
            <a:off x="8529638" y="1943100"/>
            <a:ext cx="2849563" cy="2313781"/>
          </a:xfrm>
          <a:prstGeom prst="roundRect">
            <a:avLst>
              <a:gd name="adj" fmla="val 3293"/>
            </a:avLst>
          </a:prstGeom>
          <a:solidFill>
            <a:srgbClr val="EEF3F9"/>
          </a:solidFill>
          <a:ln/>
        </p:spPr>
      </p:sp>
      <p:sp>
        <p:nvSpPr>
          <p:cNvPr id="18" name="Text 14"/>
          <p:cNvSpPr/>
          <p:nvPr/>
        </p:nvSpPr>
        <p:spPr>
          <a:xfrm>
            <a:off x="8783638" y="2197100"/>
            <a:ext cx="2411809" cy="52308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B7378"/>
                </a:solidFill>
                <a:latin typeface="Arial" pitchFamily="34" charset="0"/>
                <a:ea typeface="Arial" pitchFamily="34" charset="-122"/>
                <a:cs typeface="Arial" pitchFamily="34" charset="-120"/>
              </a:rPr>
              <a:t>CLAUDE.md · agreed together</a:t>
            </a:r>
            <a:endParaRPr lang="en-US" sz="1400" dirty="0"/>
          </a:p>
        </p:txBody>
      </p:sp>
      <p:sp>
        <p:nvSpPr>
          <p:cNvPr id="19" name="Text 15"/>
          <p:cNvSpPr/>
          <p:nvPr/>
        </p:nvSpPr>
        <p:spPr>
          <a:xfrm>
            <a:off x="8783638" y="2796381"/>
            <a:ext cx="241180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2272B"/>
                </a:solidFill>
                <a:latin typeface="Arial" pitchFamily="34" charset="0"/>
                <a:ea typeface="Arial" pitchFamily="34" charset="-122"/>
                <a:cs typeface="Arial" pitchFamily="34" charset="-120"/>
              </a:rPr>
              <a:t>Schema</a:t>
            </a:r>
            <a:endParaRPr lang="en-US" sz="2000" dirty="0"/>
          </a:p>
        </p:txBody>
      </p:sp>
      <p:sp>
        <p:nvSpPr>
          <p:cNvPr id="20" name="Text 16"/>
          <p:cNvSpPr/>
          <p:nvPr/>
        </p:nvSpPr>
        <p:spPr>
          <a:xfrm>
            <a:off x="8783638" y="3202781"/>
            <a:ext cx="2411809"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The rules the LLM must follow: structure, units, citations, conflict handling.</a:t>
            </a:r>
            <a:endParaRPr lang="en-US" sz="1500" dirty="0"/>
          </a:p>
        </p:txBody>
      </p:sp>
      <p:sp>
        <p:nvSpPr>
          <p:cNvPr id="21" name="Text 17"/>
          <p:cNvSpPr/>
          <p:nvPr/>
        </p:nvSpPr>
        <p:spPr>
          <a:xfrm>
            <a:off x="812800" y="4818261"/>
            <a:ext cx="981075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The human curates sources and checks results. The LLM does the reading, summarising, cross-linking and bookkeeping that people usually abandon.</a:t>
            </a:r>
            <a:endParaRPr lang="en-US" sz="1600" dirty="0"/>
          </a:p>
        </p:txBody>
      </p:sp>
      <p:sp>
        <p:nvSpPr>
          <p:cNvPr id="22" name="Text 18"/>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Architecture</a:t>
            </a:r>
            <a:endParaRPr lang="en-US" sz="1200" dirty="0"/>
          </a:p>
        </p:txBody>
      </p:sp>
      <p:sp>
        <p:nvSpPr>
          <p:cNvPr id="23" name="Shape 19"/>
          <p:cNvSpPr/>
          <p:nvPr/>
        </p:nvSpPr>
        <p:spPr>
          <a:xfrm>
            <a:off x="0" y="6350000"/>
            <a:ext cx="12192000" cy="12700"/>
          </a:xfrm>
          <a:prstGeom prst="rect">
            <a:avLst/>
          </a:prstGeom>
          <a:solidFill>
            <a:srgbClr val="A6A6A6"/>
          </a:solidFill>
          <a:ln/>
        </p:spPr>
      </p:sp>
      <p:sp>
        <p:nvSpPr>
          <p:cNvPr id="24" name="Text 20"/>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5" name="Text 21"/>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6</a:t>
            </a:r>
            <a:endParaRPr lang="en-US" sz="1500" dirty="0"/>
          </a:p>
        </p:txBody>
      </p:sp>
      <p:pic>
        <p:nvPicPr>
          <p:cNvPr id="26" name="Image 2" descr="">    </p:cNvPr>
          <p:cNvPicPr>
            <a:picLocks noChangeAspect="1"/>
          </p:cNvPicPr>
          <p:nvPr/>
        </p:nvPicPr>
        <p:blipFill>
          <a:blip r:embed="rId3">
            <a:alphaModFix amt="60000"/>
          </a:blip>
          <a:srcRect l="0" r="0" t="0" b="0"/>
          <a:stretch/>
        </p:blipFill>
        <p:spPr>
          <a:xfrm>
            <a:off x="11468100" y="6400800"/>
            <a:ext cx="431800" cy="431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1.4. Step 1: the wiki is just a folder of linked notes</a:t>
            </a:r>
            <a:endParaRPr lang="en-US" sz="2800" dirty="0"/>
          </a:p>
        </p:txBody>
      </p:sp>
      <p:sp>
        <p:nvSpPr>
          <p:cNvPr id="7" name="Text 5"/>
          <p:cNvSpPr/>
          <p:nvPr/>
        </p:nvSpPr>
        <p:spPr>
          <a:xfrm>
            <a:off x="812800" y="1686520"/>
            <a:ext cx="5384800" cy="3708400"/>
          </a:xfrm>
          <a:prstGeom prst="roundRect">
            <a:avLst>
              <a:gd name="adj" fmla="val 2055"/>
            </a:avLst>
          </a:prstGeom>
          <a:solidFill>
            <a:srgbClr val="1F4E79"/>
          </a:solidFill>
          <a:ln/>
        </p:spPr>
        <p:txBody>
          <a:bodyPr wrap="square" lIns="231682" tIns="231682" rIns="85378" bIns="206282" rtlCol="0" anchor="t">
            <a:normAutofit/>
          </a:bodyPr>
          <a:lstStyle/>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wiki/</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index.md · catalogue, read first</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log.md · every operation</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gaps.md · conflicts, open questions</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sources/ · 60, one per paper</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concepts/ · 19</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materials/ · 11</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properties/ · 19</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test-methods/ · 7</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applications/ · 6</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datasets/ · 3 master tables</a:t>
            </a:r>
            <a:endParaRPr lang="en-US" sz="1400" dirty="0"/>
          </a:p>
          <a:p>
            <a:pPr algn="l" indent="0" marL="0">
              <a:lnSpc>
                <a:spcPts val="2100"/>
              </a:lnSpc>
              <a:buNone/>
            </a:pPr>
            <a:r>
              <a:rPr lang="en-US" sz="1400" dirty="0">
                <a:solidFill>
                  <a:srgbClr val="E9EBE8"/>
                </a:solidFill>
                <a:latin typeface="Courier New" pitchFamily="49" charset="0"/>
                <a:ea typeface="Courier New" pitchFamily="49" charset="-122"/>
                <a:cs typeface="Courier New" pitchFamily="49" charset="-120"/>
              </a:rPr>
              <a:t>└─ synthesis/ · review outline</a:t>
            </a:r>
            <a:endParaRPr lang="en-US" sz="1400" dirty="0"/>
          </a:p>
        </p:txBody>
      </p:sp>
      <p:sp>
        <p:nvSpPr>
          <p:cNvPr id="8" name="Text 6"/>
          <p:cNvSpPr/>
          <p:nvPr/>
        </p:nvSpPr>
        <p:spPr>
          <a:xfrm>
            <a:off x="6502400" y="1686520"/>
            <a:ext cx="502310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Plain Markdown</a:t>
            </a:r>
            <a:endParaRPr lang="en-US" sz="1800" dirty="0"/>
          </a:p>
        </p:txBody>
      </p:sp>
      <p:sp>
        <p:nvSpPr>
          <p:cNvPr id="9" name="Text 7"/>
          <p:cNvSpPr/>
          <p:nvPr/>
        </p:nvSpPr>
        <p:spPr>
          <a:xfrm>
            <a:off x="6502400" y="2011561"/>
            <a:ext cx="568960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Readable in any editor, versioned with Git, no database.</a:t>
            </a:r>
            <a:endParaRPr lang="en-US" sz="1500" dirty="0"/>
          </a:p>
        </p:txBody>
      </p:sp>
      <p:sp>
        <p:nvSpPr>
          <p:cNvPr id="10" name="Text 8"/>
          <p:cNvSpPr/>
          <p:nvPr/>
        </p:nvSpPr>
        <p:spPr>
          <a:xfrm>
            <a:off x="6502400" y="2456061"/>
            <a:ext cx="502310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Wikilinks</a:t>
            </a:r>
            <a:endParaRPr lang="en-US" sz="1800" dirty="0"/>
          </a:p>
        </p:txBody>
      </p:sp>
      <p:sp>
        <p:nvSpPr>
          <p:cNvPr id="11" name="Text 9"/>
          <p:cNvSpPr/>
          <p:nvPr/>
        </p:nvSpPr>
        <p:spPr>
          <a:xfrm>
            <a:off x="6502400" y="2781102"/>
            <a:ext cx="502310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[[pva-fiber]] style links. Every page links in and out.</a:t>
            </a:r>
            <a:endParaRPr lang="en-US" sz="1500" dirty="0"/>
          </a:p>
        </p:txBody>
      </p:sp>
      <p:sp>
        <p:nvSpPr>
          <p:cNvPr id="12" name="Text 10"/>
          <p:cNvSpPr/>
          <p:nvPr/>
        </p:nvSpPr>
        <p:spPr>
          <a:xfrm>
            <a:off x="6502400" y="3225602"/>
            <a:ext cx="502310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Templates</a:t>
            </a:r>
            <a:endParaRPr lang="en-US" sz="1800" dirty="0"/>
          </a:p>
        </p:txBody>
      </p:sp>
      <p:sp>
        <p:nvSpPr>
          <p:cNvPr id="13" name="Text 11"/>
          <p:cNvSpPr/>
          <p:nvPr/>
        </p:nvSpPr>
        <p:spPr>
          <a:xfrm>
            <a:off x="6502400" y="3550642"/>
            <a:ext cx="5023104"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Each source note has the same fields: mix design, test methods, results with table location, limitations, items to verify.</a:t>
            </a:r>
            <a:endParaRPr lang="en-US" sz="1500" dirty="0"/>
          </a:p>
        </p:txBody>
      </p:sp>
      <p:sp>
        <p:nvSpPr>
          <p:cNvPr id="14" name="Text 12"/>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Structure</a:t>
            </a:r>
            <a:endParaRPr lang="en-US" sz="1200" dirty="0"/>
          </a:p>
        </p:txBody>
      </p:sp>
      <p:sp>
        <p:nvSpPr>
          <p:cNvPr id="15" name="Shape 13"/>
          <p:cNvSpPr/>
          <p:nvPr/>
        </p:nvSpPr>
        <p:spPr>
          <a:xfrm>
            <a:off x="0" y="6350000"/>
            <a:ext cx="12192000" cy="12700"/>
          </a:xfrm>
          <a:prstGeom prst="rect">
            <a:avLst/>
          </a:prstGeom>
          <a:solidFill>
            <a:srgbClr val="A6A6A6"/>
          </a:solidFill>
          <a:ln/>
        </p:spPr>
      </p:sp>
      <p:sp>
        <p:nvSpPr>
          <p:cNvPr id="16" name="Text 14"/>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7" name="Text 15"/>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7</a:t>
            </a:r>
            <a:endParaRPr lang="en-US" sz="1500" dirty="0"/>
          </a:p>
        </p:txBody>
      </p:sp>
      <p:pic>
        <p:nvPicPr>
          <p:cNvPr id="18"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1.5. Step 1: evidence rules keep the LLM honest</a:t>
            </a:r>
            <a:endParaRPr lang="en-US" sz="2800" dirty="0"/>
          </a:p>
        </p:txBody>
      </p:sp>
      <p:sp>
        <p:nvSpPr>
          <p:cNvPr id="7" name="Shape 5"/>
          <p:cNvSpPr/>
          <p:nvPr/>
        </p:nvSpPr>
        <p:spPr>
          <a:xfrm>
            <a:off x="815975" y="1689695"/>
            <a:ext cx="5187950" cy="1347391"/>
          </a:xfrm>
          <a:prstGeom prst="roundRect">
            <a:avLst>
              <a:gd name="adj" fmla="val 5420"/>
            </a:avLst>
          </a:prstGeom>
          <a:solidFill>
            <a:srgbClr val="F4F8FC"/>
          </a:solidFill>
          <a:ln w="6350">
            <a:solidFill>
              <a:srgbClr val="C9D7E8"/>
            </a:solidFill>
            <a:prstDash val="solid"/>
          </a:ln>
        </p:spPr>
      </p:sp>
      <p:sp>
        <p:nvSpPr>
          <p:cNvPr id="8" name="Text 6"/>
          <p:cNvSpPr/>
          <p:nvPr/>
        </p:nvSpPr>
        <p:spPr>
          <a:xfrm>
            <a:off x="1047750" y="1921470"/>
            <a:ext cx="486613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Every number is cited</a:t>
            </a:r>
            <a:endParaRPr lang="en-US" sz="1800" dirty="0"/>
          </a:p>
        </p:txBody>
      </p:sp>
      <p:sp>
        <p:nvSpPr>
          <p:cNvPr id="9" name="Text 7"/>
          <p:cNvSpPr/>
          <p:nvPr/>
        </p:nvSpPr>
        <p:spPr>
          <a:xfrm>
            <a:off x="1047750" y="22719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Source note plus table, figure or page, so any value can be checked in the PDF in seconds.</a:t>
            </a:r>
            <a:endParaRPr lang="en-US" sz="1500" dirty="0"/>
          </a:p>
        </p:txBody>
      </p:sp>
      <p:sp>
        <p:nvSpPr>
          <p:cNvPr id="10" name="Shape 8"/>
          <p:cNvSpPr/>
          <p:nvPr/>
        </p:nvSpPr>
        <p:spPr>
          <a:xfrm>
            <a:off x="6188075" y="1689695"/>
            <a:ext cx="5187950" cy="1347391"/>
          </a:xfrm>
          <a:prstGeom prst="roundRect">
            <a:avLst>
              <a:gd name="adj" fmla="val 5420"/>
            </a:avLst>
          </a:prstGeom>
          <a:solidFill>
            <a:srgbClr val="F4F8FC"/>
          </a:solidFill>
          <a:ln w="6350">
            <a:solidFill>
              <a:srgbClr val="C9D7E8"/>
            </a:solidFill>
            <a:prstDash val="solid"/>
          </a:ln>
        </p:spPr>
      </p:sp>
      <p:sp>
        <p:nvSpPr>
          <p:cNvPr id="11" name="Text 9"/>
          <p:cNvSpPr/>
          <p:nvPr/>
        </p:nvSpPr>
        <p:spPr>
          <a:xfrm>
            <a:off x="6419850" y="1921470"/>
            <a:ext cx="486613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Never invent</a:t>
            </a:r>
            <a:endParaRPr lang="en-US" sz="1800" dirty="0"/>
          </a:p>
        </p:txBody>
      </p:sp>
      <p:sp>
        <p:nvSpPr>
          <p:cNvPr id="12" name="Text 10"/>
          <p:cNvSpPr/>
          <p:nvPr/>
        </p:nvSpPr>
        <p:spPr>
          <a:xfrm>
            <a:off x="6419850" y="22719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No made-up numbers, authors or DOIs. Doubtful items get ⚠ and a “to verify” entry.</a:t>
            </a:r>
            <a:endParaRPr lang="en-US" sz="1500" dirty="0"/>
          </a:p>
        </p:txBody>
      </p:sp>
      <p:sp>
        <p:nvSpPr>
          <p:cNvPr id="13" name="Shape 11"/>
          <p:cNvSpPr/>
          <p:nvPr/>
        </p:nvSpPr>
        <p:spPr>
          <a:xfrm>
            <a:off x="815975" y="3221236"/>
            <a:ext cx="5187950" cy="1347391"/>
          </a:xfrm>
          <a:prstGeom prst="roundRect">
            <a:avLst>
              <a:gd name="adj" fmla="val 5420"/>
            </a:avLst>
          </a:prstGeom>
          <a:solidFill>
            <a:srgbClr val="F4F8FC"/>
          </a:solidFill>
          <a:ln w="6350">
            <a:solidFill>
              <a:srgbClr val="C9D7E8"/>
            </a:solidFill>
            <a:prstDash val="solid"/>
          </a:ln>
        </p:spPr>
      </p:sp>
      <p:sp>
        <p:nvSpPr>
          <p:cNvPr id="14" name="Text 12"/>
          <p:cNvSpPr/>
          <p:nvPr/>
        </p:nvSpPr>
        <p:spPr>
          <a:xfrm>
            <a:off x="1047750" y="3453011"/>
            <a:ext cx="486613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Reported vs interpreted</a:t>
            </a:r>
            <a:endParaRPr lang="en-US" sz="1800" dirty="0"/>
          </a:p>
        </p:txBody>
      </p:sp>
      <p:sp>
        <p:nvSpPr>
          <p:cNvPr id="15" name="Text 13"/>
          <p:cNvSpPr/>
          <p:nvPr/>
        </p:nvSpPr>
        <p:spPr>
          <a:xfrm>
            <a:off x="1047750" y="3803452"/>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The LLM’s own cross-paper reasoning is marked “Synthesis”, separate from what papers state.</a:t>
            </a:r>
            <a:endParaRPr lang="en-US" sz="1500" dirty="0"/>
          </a:p>
        </p:txBody>
      </p:sp>
      <p:sp>
        <p:nvSpPr>
          <p:cNvPr id="16" name="Shape 14"/>
          <p:cNvSpPr/>
          <p:nvPr/>
        </p:nvSpPr>
        <p:spPr>
          <a:xfrm>
            <a:off x="6188075" y="3221236"/>
            <a:ext cx="5187950" cy="1347391"/>
          </a:xfrm>
          <a:prstGeom prst="roundRect">
            <a:avLst>
              <a:gd name="adj" fmla="val 5420"/>
            </a:avLst>
          </a:prstGeom>
          <a:solidFill>
            <a:srgbClr val="F4F8FC"/>
          </a:solidFill>
          <a:ln w="6350">
            <a:solidFill>
              <a:srgbClr val="C9D7E8"/>
            </a:solidFill>
            <a:prstDash val="solid"/>
          </a:ln>
        </p:spPr>
      </p:sp>
      <p:sp>
        <p:nvSpPr>
          <p:cNvPr id="17" name="Text 15"/>
          <p:cNvSpPr/>
          <p:nvPr/>
        </p:nvSpPr>
        <p:spPr>
          <a:xfrm>
            <a:off x="6419850" y="3453011"/>
            <a:ext cx="486613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Keep both sides of a conflict</a:t>
            </a:r>
            <a:endParaRPr lang="en-US" sz="1800" dirty="0"/>
          </a:p>
        </p:txBody>
      </p:sp>
      <p:sp>
        <p:nvSpPr>
          <p:cNvPr id="18" name="Text 16"/>
          <p:cNvSpPr/>
          <p:nvPr/>
        </p:nvSpPr>
        <p:spPr>
          <a:xfrm>
            <a:off x="6419850" y="3803452"/>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Disagreeing values are never averaged. Both stay, and the conflict goes on the gaps page.</a:t>
            </a:r>
            <a:endParaRPr lang="en-US" sz="1500" dirty="0"/>
          </a:p>
        </p:txBody>
      </p:sp>
      <p:sp>
        <p:nvSpPr>
          <p:cNvPr id="19" name="Text 17"/>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Schema rules (CLAUDE.md §4)</a:t>
            </a:r>
            <a:endParaRPr lang="en-US" sz="1200" dirty="0"/>
          </a:p>
        </p:txBody>
      </p:sp>
      <p:sp>
        <p:nvSpPr>
          <p:cNvPr id="20" name="Shape 18"/>
          <p:cNvSpPr/>
          <p:nvPr/>
        </p:nvSpPr>
        <p:spPr>
          <a:xfrm>
            <a:off x="0" y="6350000"/>
            <a:ext cx="12192000" cy="12700"/>
          </a:xfrm>
          <a:prstGeom prst="rect">
            <a:avLst/>
          </a:prstGeom>
          <a:solidFill>
            <a:srgbClr val="A6A6A6"/>
          </a:solidFill>
          <a:ln/>
        </p:spPr>
      </p:sp>
      <p:sp>
        <p:nvSpPr>
          <p:cNvPr id="21" name="Text 19"/>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2" name="Text 20"/>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8</a:t>
            </a:r>
            <a:endParaRPr lang="en-US" sz="1500" dirty="0"/>
          </a:p>
        </p:txBody>
      </p:sp>
      <p:pic>
        <p:nvPicPr>
          <p:cNvPr id="2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1.6. Step 2: what I allowed Claude to do</a:t>
            </a:r>
            <a:endParaRPr lang="en-US" sz="2800" dirty="0"/>
          </a:p>
        </p:txBody>
      </p:sp>
      <p:sp>
        <p:nvSpPr>
          <p:cNvPr id="7" name="Shape 5"/>
          <p:cNvSpPr/>
          <p:nvPr/>
        </p:nvSpPr>
        <p:spPr>
          <a:xfrm>
            <a:off x="819150" y="1692870"/>
            <a:ext cx="5168900" cy="2576612"/>
          </a:xfrm>
          <a:prstGeom prst="roundRect">
            <a:avLst>
              <a:gd name="adj" fmla="val 2711"/>
            </a:avLst>
          </a:prstGeom>
          <a:solidFill>
            <a:srgbClr val="F4F8FC"/>
          </a:solidFill>
          <a:ln w="12700">
            <a:solidFill>
              <a:srgbClr val="0070C0"/>
            </a:solidFill>
            <a:prstDash val="solid"/>
          </a:ln>
        </p:spPr>
      </p:sp>
      <p:sp>
        <p:nvSpPr>
          <p:cNvPr id="8" name="Text 6"/>
          <p:cNvSpPr/>
          <p:nvPr/>
        </p:nvSpPr>
        <p:spPr>
          <a:xfrm>
            <a:off x="1079500" y="1953220"/>
            <a:ext cx="478764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070C0"/>
                </a:solidFill>
                <a:latin typeface="Arial" pitchFamily="34" charset="0"/>
                <a:ea typeface="Arial" pitchFamily="34" charset="-122"/>
                <a:cs typeface="Arial" pitchFamily="34" charset="-120"/>
              </a:rPr>
              <a:t>Granted to Claude (Claude Code)</a:t>
            </a:r>
            <a:endParaRPr lang="en-US" sz="1800" dirty="0"/>
          </a:p>
        </p:txBody>
      </p:sp>
      <p:sp>
        <p:nvSpPr>
          <p:cNvPr id="9" name="Text 7"/>
          <p:cNvSpPr/>
          <p:nvPr/>
        </p:nvSpPr>
        <p:spPr>
          <a:xfrm>
            <a:off x="1177163" y="2329061"/>
            <a:ext cx="4682363" cy="1465461"/>
          </a:xfrm>
          <a:prstGeom prst="rect">
            <a:avLst/>
          </a:prstGeom>
          <a:noFill/>
          <a:ln/>
        </p:spPr>
        <p:txBody>
          <a:bodyPr wrap="square" lIns="0" tIns="0" rIns="0" bIns="0" rtlCol="0" anchor="t">
            <a:normAutofit/>
          </a:bodyPr>
          <a:lstStyle/>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Read and write files in the project folder only</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Run Python scripts: text extraction, site build, charts</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Search and download from open sources (J-STAGE, Europe PMC)</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Use my Chrome, already signed in to the university library</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Commit and push to GitHub; publish these slides</a:t>
            </a:r>
            <a:endParaRPr lang="en-US" sz="1350" dirty="0"/>
          </a:p>
        </p:txBody>
      </p:sp>
      <p:sp>
        <p:nvSpPr>
          <p:cNvPr id="10" name="Shape 8"/>
          <p:cNvSpPr/>
          <p:nvPr/>
        </p:nvSpPr>
        <p:spPr>
          <a:xfrm>
            <a:off x="6203950" y="1692870"/>
            <a:ext cx="5168900" cy="2576612"/>
          </a:xfrm>
          <a:prstGeom prst="roundRect">
            <a:avLst>
              <a:gd name="adj" fmla="val 2711"/>
            </a:avLst>
          </a:prstGeom>
          <a:solidFill>
            <a:srgbClr val="F4F8FC"/>
          </a:solidFill>
          <a:ln w="12700">
            <a:solidFill>
              <a:srgbClr val="B8720C"/>
            </a:solidFill>
            <a:prstDash val="solid"/>
          </a:ln>
        </p:spPr>
      </p:sp>
      <p:sp>
        <p:nvSpPr>
          <p:cNvPr id="11" name="Text 9"/>
          <p:cNvSpPr/>
          <p:nvPr/>
        </p:nvSpPr>
        <p:spPr>
          <a:xfrm>
            <a:off x="6464300" y="1953220"/>
            <a:ext cx="478764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8720C"/>
                </a:solidFill>
                <a:latin typeface="Arial" pitchFamily="34" charset="0"/>
                <a:ea typeface="Arial" pitchFamily="34" charset="-122"/>
                <a:cs typeface="Arial" pitchFamily="34" charset="-120"/>
              </a:rPr>
              <a:t>Kept by me (the human)</a:t>
            </a:r>
            <a:endParaRPr lang="en-US" sz="1800" dirty="0"/>
          </a:p>
        </p:txBody>
      </p:sp>
      <p:sp>
        <p:nvSpPr>
          <p:cNvPr id="12" name="Text 10"/>
          <p:cNvSpPr/>
          <p:nvPr/>
        </p:nvSpPr>
        <p:spPr>
          <a:xfrm>
            <a:off x="6561963" y="2329061"/>
            <a:ext cx="4682363" cy="1705471"/>
          </a:xfrm>
          <a:prstGeom prst="rect">
            <a:avLst/>
          </a:prstGeom>
          <a:noFill/>
          <a:ln/>
        </p:spPr>
        <p:txBody>
          <a:bodyPr wrap="square" lIns="0" tIns="0" rIns="0" bIns="0" rtlCol="0" anchor="t">
            <a:normAutofit/>
          </a:bodyPr>
          <a:lstStyle/>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Choosing the topic, scope and final paper list</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Logging in; paid or blocked papers (paywall, CAPTCHA)</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Approving each new kind of action the first time</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Checking numbers against the PDF before they go on a slide</a:t>
            </a:r>
            <a:endParaRPr lang="en-US" sz="1350" dirty="0"/>
          </a:p>
          <a:p>
            <a:pPr algn="l" marL="156337" indent="-156337">
              <a:lnSpc>
                <a:spcPts val="1890"/>
              </a:lnSpc>
              <a:buSzPct val="100000"/>
              <a:buChar char="•"/>
            </a:pPr>
            <a:r>
              <a:rPr lang="en-US" sz="1350" dirty="0">
                <a:solidFill>
                  <a:srgbClr val="3E464C"/>
                </a:solidFill>
                <a:latin typeface="Arial" pitchFamily="34" charset="0"/>
                <a:ea typeface="Arial" pitchFamily="34" charset="-122"/>
                <a:cs typeface="Arial" pitchFamily="34" charset="-120"/>
              </a:rPr>
              <a:t>Never touched: raw PDFs are read-only and never published</a:t>
            </a:r>
            <a:endParaRPr lang="en-US" sz="1350" dirty="0"/>
          </a:p>
        </p:txBody>
      </p:sp>
      <p:sp>
        <p:nvSpPr>
          <p:cNvPr id="13" name="Text 11"/>
          <p:cNvSpPr/>
          <p:nvPr/>
        </p:nvSpPr>
        <p:spPr>
          <a:xfrm>
            <a:off x="812800" y="4580632"/>
            <a:ext cx="10464800"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64C"/>
                </a:solidFill>
                <a:latin typeface="Arial" pitchFamily="34" charset="0"/>
                <a:ea typeface="Arial" pitchFamily="34" charset="-122"/>
                <a:cs typeface="Arial" pitchFamily="34" charset="-120"/>
              </a:rPr>
              <a:t>The rule book (CLAUDE.md) says </a:t>
            </a:r>
            <a:r>
              <a:rPr lang="en-US" sz="1500" b="1" dirty="0">
                <a:solidFill>
                  <a:srgbClr val="3E464C"/>
                </a:solidFill>
                <a:latin typeface="Arial" pitchFamily="34" charset="0"/>
                <a:ea typeface="Arial" pitchFamily="34" charset="-122"/>
                <a:cs typeface="Arial" pitchFamily="34" charset="-120"/>
              </a:rPr>
              <a:t>how</a:t>
            </a:r>
            <a:r>
              <a:rPr lang="en-US" sz="1500" dirty="0">
                <a:solidFill>
                  <a:srgbClr val="3E464C"/>
                </a:solidFill>
                <a:latin typeface="Arial" pitchFamily="34" charset="0"/>
                <a:ea typeface="Arial" pitchFamily="34" charset="-122"/>
                <a:cs typeface="Arial" pitchFamily="34" charset="-120"/>
              </a:rPr>
              <a:t> to work; permissions say </a:t>
            </a:r>
            <a:r>
              <a:rPr lang="en-US" sz="1500" b="1" dirty="0">
                <a:solidFill>
                  <a:srgbClr val="3E464C"/>
                </a:solidFill>
                <a:latin typeface="Arial" pitchFamily="34" charset="0"/>
                <a:ea typeface="Arial" pitchFamily="34" charset="-122"/>
                <a:cs typeface="Arial" pitchFamily="34" charset="-120"/>
              </a:rPr>
              <a:t>what</a:t>
            </a:r>
            <a:r>
              <a:rPr lang="en-US" sz="1500" dirty="0">
                <a:solidFill>
                  <a:srgbClr val="3E464C"/>
                </a:solidFill>
                <a:latin typeface="Arial" pitchFamily="34" charset="0"/>
                <a:ea typeface="Arial" pitchFamily="34" charset="-122"/>
                <a:cs typeface="Arial" pitchFamily="34" charset="-120"/>
              </a:rPr>
              <a:t> Claude may touch. Both are written down, so every session behaves the same way.</a:t>
            </a:r>
            <a:endParaRPr lang="en-US" sz="1500" dirty="0"/>
          </a:p>
        </p:txBody>
      </p:sp>
      <p:sp>
        <p:nvSpPr>
          <p:cNvPr id="14" name="Text 12"/>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Permissions · CLAUDE.md §1 (layers), Claude Code permission settings</a:t>
            </a:r>
            <a:endParaRPr lang="en-US" sz="1200" dirty="0"/>
          </a:p>
        </p:txBody>
      </p:sp>
      <p:sp>
        <p:nvSpPr>
          <p:cNvPr id="15" name="Shape 13"/>
          <p:cNvSpPr/>
          <p:nvPr/>
        </p:nvSpPr>
        <p:spPr>
          <a:xfrm>
            <a:off x="0" y="6350000"/>
            <a:ext cx="12192000" cy="12700"/>
          </a:xfrm>
          <a:prstGeom prst="rect">
            <a:avLst/>
          </a:prstGeom>
          <a:solidFill>
            <a:srgbClr val="A6A6A6"/>
          </a:solidFill>
          <a:ln/>
        </p:spPr>
      </p:sp>
      <p:sp>
        <p:nvSpPr>
          <p:cNvPr id="16" name="Text 14"/>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7" name="Text 15"/>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9</a:t>
            </a:r>
            <a:endParaRPr lang="en-US" sz="1500" dirty="0"/>
          </a:p>
        </p:txBody>
      </p:sp>
      <p:pic>
        <p:nvPicPr>
          <p:cNvPr id="18"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1.7. Steps 3–4: Claude proposes the papers and fetches them</a:t>
            </a:r>
            <a:endParaRPr lang="en-US" sz="2800" dirty="0"/>
          </a:p>
        </p:txBody>
      </p:sp>
      <p:sp>
        <p:nvSpPr>
          <p:cNvPr id="7" name="Text 5"/>
          <p:cNvSpPr/>
          <p:nvPr/>
        </p:nvSpPr>
        <p:spPr>
          <a:xfrm>
            <a:off x="812800" y="1672530"/>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2272B"/>
                </a:solidFill>
                <a:latin typeface="Arial" pitchFamily="34" charset="0"/>
                <a:ea typeface="Arial" pitchFamily="34" charset="-122"/>
                <a:cs typeface="Arial" pitchFamily="34" charset="-120"/>
              </a:rPr>
              <a:t>Round 1 </a:t>
            </a:r>
            <a:r>
              <a:rPr lang="en-US" sz="1300" b="1" dirty="0">
                <a:solidFill>
                  <a:srgbClr val="6B7378"/>
                </a:solidFill>
                <a:latin typeface="Arial" pitchFamily="34" charset="0"/>
                <a:ea typeface="Arial" pitchFamily="34" charset="-122"/>
                <a:cs typeface="Arial" pitchFamily="34" charset="-120"/>
              </a:rPr>
              <a:t>6 Oct</a:t>
            </a:r>
            <a:endParaRPr lang="en-US" sz="1300" dirty="0"/>
          </a:p>
        </p:txBody>
      </p:sp>
      <p:sp>
        <p:nvSpPr>
          <p:cNvPr id="8" name="Shape 6"/>
          <p:cNvSpPr/>
          <p:nvPr/>
        </p:nvSpPr>
        <p:spPr>
          <a:xfrm>
            <a:off x="2209800" y="1661120"/>
            <a:ext cx="533400" cy="254000"/>
          </a:xfrm>
          <a:prstGeom prst="roundRect">
            <a:avLst>
              <a:gd name="adj" fmla="val 15000"/>
            </a:avLst>
          </a:prstGeom>
          <a:solidFill>
            <a:srgbClr val="B8720C"/>
          </a:solidFill>
          <a:ln/>
        </p:spPr>
      </p:sp>
      <p:sp>
        <p:nvSpPr>
          <p:cNvPr id="9" name="Text 7"/>
          <p:cNvSpPr/>
          <p:nvPr/>
        </p:nvSpPr>
        <p:spPr>
          <a:xfrm>
            <a:off x="2870200" y="1697335"/>
            <a:ext cx="3849800" cy="206970"/>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3E464C"/>
                </a:solidFill>
                <a:latin typeface="Arial" pitchFamily="34" charset="0"/>
                <a:ea typeface="Arial" pitchFamily="34" charset="-122"/>
                <a:cs typeface="Arial" pitchFamily="34" charset="-120"/>
              </a:rPr>
              <a:t>+6 · my first papers</a:t>
            </a:r>
            <a:endParaRPr lang="en-US" sz="1100" dirty="0"/>
          </a:p>
        </p:txBody>
      </p:sp>
      <p:sp>
        <p:nvSpPr>
          <p:cNvPr id="10" name="Text 8"/>
          <p:cNvSpPr/>
          <p:nvPr/>
        </p:nvSpPr>
        <p:spPr>
          <a:xfrm>
            <a:off x="812800" y="2040830"/>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2272B"/>
                </a:solidFill>
                <a:latin typeface="Arial" pitchFamily="34" charset="0"/>
                <a:ea typeface="Arial" pitchFamily="34" charset="-122"/>
                <a:cs typeface="Arial" pitchFamily="34" charset="-120"/>
              </a:rPr>
              <a:t>Round 2 </a:t>
            </a:r>
            <a:r>
              <a:rPr lang="en-US" sz="1300" b="1" dirty="0">
                <a:solidFill>
                  <a:srgbClr val="6B7378"/>
                </a:solidFill>
                <a:latin typeface="Arial" pitchFamily="34" charset="0"/>
                <a:ea typeface="Arial" pitchFamily="34" charset="-122"/>
                <a:cs typeface="Arial" pitchFamily="34" charset="-120"/>
              </a:rPr>
              <a:t>16 Oct</a:t>
            </a:r>
            <a:endParaRPr lang="en-US" sz="1300" dirty="0"/>
          </a:p>
        </p:txBody>
      </p:sp>
      <p:sp>
        <p:nvSpPr>
          <p:cNvPr id="11" name="Shape 9"/>
          <p:cNvSpPr/>
          <p:nvPr/>
        </p:nvSpPr>
        <p:spPr>
          <a:xfrm>
            <a:off x="2209800" y="2029420"/>
            <a:ext cx="444500" cy="254000"/>
          </a:xfrm>
          <a:prstGeom prst="roundRect">
            <a:avLst>
              <a:gd name="adj" fmla="val 15000"/>
            </a:avLst>
          </a:prstGeom>
          <a:solidFill>
            <a:srgbClr val="B8720C"/>
          </a:solidFill>
          <a:ln/>
        </p:spPr>
      </p:sp>
      <p:sp>
        <p:nvSpPr>
          <p:cNvPr id="12" name="Text 10"/>
          <p:cNvSpPr/>
          <p:nvPr/>
        </p:nvSpPr>
        <p:spPr>
          <a:xfrm>
            <a:off x="2781300" y="2065635"/>
            <a:ext cx="3941367" cy="206970"/>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3E464C"/>
                </a:solidFill>
                <a:latin typeface="Arial" pitchFamily="34" charset="0"/>
                <a:ea typeface="Arial" pitchFamily="34" charset="-122"/>
                <a:cs typeface="Arial" pitchFamily="34" charset="-120"/>
              </a:rPr>
              <a:t>+5 · from Claude's reading list</a:t>
            </a:r>
            <a:endParaRPr lang="en-US" sz="1100" dirty="0"/>
          </a:p>
        </p:txBody>
      </p:sp>
      <p:sp>
        <p:nvSpPr>
          <p:cNvPr id="13" name="Text 11"/>
          <p:cNvSpPr/>
          <p:nvPr/>
        </p:nvSpPr>
        <p:spPr>
          <a:xfrm>
            <a:off x="812800" y="2409130"/>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2272B"/>
                </a:solidFill>
                <a:latin typeface="Arial" pitchFamily="34" charset="0"/>
                <a:ea typeface="Arial" pitchFamily="34" charset="-122"/>
                <a:cs typeface="Arial" pitchFamily="34" charset="-120"/>
              </a:rPr>
              <a:t>Round 3 </a:t>
            </a:r>
            <a:r>
              <a:rPr lang="en-US" sz="1300" b="1" dirty="0">
                <a:solidFill>
                  <a:srgbClr val="6B7378"/>
                </a:solidFill>
                <a:latin typeface="Arial" pitchFamily="34" charset="0"/>
                <a:ea typeface="Arial" pitchFamily="34" charset="-122"/>
                <a:cs typeface="Arial" pitchFamily="34" charset="-120"/>
              </a:rPr>
              <a:t>20 Oct</a:t>
            </a:r>
            <a:endParaRPr lang="en-US" sz="1300" dirty="0"/>
          </a:p>
        </p:txBody>
      </p:sp>
      <p:sp>
        <p:nvSpPr>
          <p:cNvPr id="14" name="Shape 12"/>
          <p:cNvSpPr/>
          <p:nvPr/>
        </p:nvSpPr>
        <p:spPr>
          <a:xfrm>
            <a:off x="2209800" y="2397720"/>
            <a:ext cx="444500" cy="254000"/>
          </a:xfrm>
          <a:prstGeom prst="roundRect">
            <a:avLst>
              <a:gd name="adj" fmla="val 15000"/>
            </a:avLst>
          </a:prstGeom>
          <a:solidFill>
            <a:srgbClr val="0070C0"/>
          </a:solidFill>
          <a:ln/>
        </p:spPr>
      </p:sp>
      <p:sp>
        <p:nvSpPr>
          <p:cNvPr id="15" name="Text 13"/>
          <p:cNvSpPr/>
          <p:nvPr/>
        </p:nvSpPr>
        <p:spPr>
          <a:xfrm>
            <a:off x="2781300" y="2433935"/>
            <a:ext cx="3941367" cy="206970"/>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3E464C"/>
                </a:solidFill>
                <a:latin typeface="Arial" pitchFamily="34" charset="0"/>
                <a:ea typeface="Arial" pitchFamily="34" charset="-122"/>
                <a:cs typeface="Arial" pitchFamily="34" charset="-120"/>
              </a:rPr>
              <a:t>+5 · J-STAGE, Europe PMC</a:t>
            </a:r>
            <a:endParaRPr lang="en-US" sz="1100" dirty="0"/>
          </a:p>
        </p:txBody>
      </p:sp>
      <p:sp>
        <p:nvSpPr>
          <p:cNvPr id="16" name="Text 14"/>
          <p:cNvSpPr/>
          <p:nvPr/>
        </p:nvSpPr>
        <p:spPr>
          <a:xfrm>
            <a:off x="812800" y="3013571"/>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2272B"/>
                </a:solidFill>
                <a:latin typeface="Arial" pitchFamily="34" charset="0"/>
                <a:ea typeface="Arial" pitchFamily="34" charset="-122"/>
                <a:cs typeface="Arial" pitchFamily="34" charset="-120"/>
              </a:rPr>
              <a:t>Round 4 </a:t>
            </a:r>
            <a:r>
              <a:rPr lang="en-US" sz="1300" b="1" dirty="0">
                <a:solidFill>
                  <a:srgbClr val="6B7378"/>
                </a:solidFill>
                <a:latin typeface="Arial" pitchFamily="34" charset="0"/>
                <a:ea typeface="Arial" pitchFamily="34" charset="-122"/>
                <a:cs typeface="Arial" pitchFamily="34" charset="-120"/>
              </a:rPr>
              <a:t>21 Oct</a:t>
            </a:r>
            <a:endParaRPr lang="en-US" sz="1300" dirty="0"/>
          </a:p>
        </p:txBody>
      </p:sp>
      <p:sp>
        <p:nvSpPr>
          <p:cNvPr id="17" name="Shape 15"/>
          <p:cNvSpPr/>
          <p:nvPr/>
        </p:nvSpPr>
        <p:spPr>
          <a:xfrm>
            <a:off x="2209800" y="3002161"/>
            <a:ext cx="3022600" cy="254000"/>
          </a:xfrm>
          <a:prstGeom prst="roundRect">
            <a:avLst>
              <a:gd name="adj" fmla="val 15000"/>
            </a:avLst>
          </a:prstGeom>
          <a:solidFill>
            <a:srgbClr val="0070C0"/>
          </a:solidFill>
          <a:ln/>
        </p:spPr>
      </p:sp>
      <p:sp>
        <p:nvSpPr>
          <p:cNvPr id="18" name="Text 16"/>
          <p:cNvSpPr/>
          <p:nvPr/>
        </p:nvSpPr>
        <p:spPr>
          <a:xfrm>
            <a:off x="5359400" y="2766020"/>
            <a:ext cx="1299270" cy="751681"/>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3E464C"/>
                </a:solidFill>
                <a:latin typeface="Arial" pitchFamily="34" charset="0"/>
                <a:ea typeface="Arial" pitchFamily="34" charset="-122"/>
                <a:cs typeface="Arial" pitchFamily="34" charset="-120"/>
              </a:rPr>
              <a:t>+34 · J-STAGE 13 · Europe PMC 18 · Wiley via my Chrome 3</a:t>
            </a:r>
            <a:endParaRPr lang="en-US" sz="1100" dirty="0"/>
          </a:p>
        </p:txBody>
      </p:sp>
      <p:sp>
        <p:nvSpPr>
          <p:cNvPr id="19" name="Text 17"/>
          <p:cNvSpPr/>
          <p:nvPr/>
        </p:nvSpPr>
        <p:spPr>
          <a:xfrm>
            <a:off x="812800" y="3618012"/>
            <a:ext cx="13208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2272B"/>
                </a:solidFill>
                <a:latin typeface="Arial" pitchFamily="34" charset="0"/>
                <a:ea typeface="Arial" pitchFamily="34" charset="-122"/>
                <a:cs typeface="Arial" pitchFamily="34" charset="-120"/>
              </a:rPr>
              <a:t>Round 5 </a:t>
            </a:r>
            <a:r>
              <a:rPr lang="en-US" sz="1300" b="1" dirty="0">
                <a:solidFill>
                  <a:srgbClr val="6B7378"/>
                </a:solidFill>
                <a:latin typeface="Arial" pitchFamily="34" charset="0"/>
                <a:ea typeface="Arial" pitchFamily="34" charset="-122"/>
                <a:cs typeface="Arial" pitchFamily="34" charset="-120"/>
              </a:rPr>
              <a:t>21 Oct</a:t>
            </a:r>
            <a:endParaRPr lang="en-US" sz="1300" dirty="0"/>
          </a:p>
        </p:txBody>
      </p:sp>
      <p:sp>
        <p:nvSpPr>
          <p:cNvPr id="20" name="Shape 18"/>
          <p:cNvSpPr/>
          <p:nvPr/>
        </p:nvSpPr>
        <p:spPr>
          <a:xfrm>
            <a:off x="2209800" y="3606602"/>
            <a:ext cx="889000" cy="254000"/>
          </a:xfrm>
          <a:prstGeom prst="roundRect">
            <a:avLst>
              <a:gd name="adj" fmla="val 15000"/>
            </a:avLst>
          </a:prstGeom>
          <a:solidFill>
            <a:srgbClr val="B8720C"/>
          </a:solidFill>
          <a:ln/>
        </p:spPr>
      </p:sp>
      <p:sp>
        <p:nvSpPr>
          <p:cNvPr id="21" name="Text 19"/>
          <p:cNvSpPr/>
          <p:nvPr/>
        </p:nvSpPr>
        <p:spPr>
          <a:xfrm>
            <a:off x="3225800" y="3642816"/>
            <a:ext cx="3483532" cy="206970"/>
          </a:xfrm>
          <a:prstGeom prst="rect">
            <a:avLst/>
          </a:prstGeom>
          <a:noFill/>
          <a:ln/>
        </p:spPr>
        <p:txBody>
          <a:bodyPr wrap="square" lIns="0" tIns="0" rIns="0" bIns="0" rtlCol="0" anchor="t">
            <a:normAutofit/>
          </a:bodyPr>
          <a:lstStyle/>
          <a:p>
            <a:pPr algn="l" indent="0" marL="0">
              <a:lnSpc>
                <a:spcPts val="1430"/>
              </a:lnSpc>
              <a:buNone/>
            </a:pPr>
            <a:r>
              <a:rPr lang="en-US" sz="1100" dirty="0">
                <a:solidFill>
                  <a:srgbClr val="3E464C"/>
                </a:solidFill>
                <a:latin typeface="Arial" pitchFamily="34" charset="0"/>
                <a:ea typeface="Arial" pitchFamily="34" charset="-122"/>
                <a:cs typeface="Arial" pitchFamily="34" charset="-120"/>
              </a:rPr>
              <a:t>+10 · ScienceDirect paywall + CAPTCHA</a:t>
            </a:r>
            <a:endParaRPr lang="en-US" sz="1100" dirty="0"/>
          </a:p>
        </p:txBody>
      </p:sp>
      <p:sp>
        <p:nvSpPr>
          <p:cNvPr id="22" name="Text 20"/>
          <p:cNvSpPr/>
          <p:nvPr/>
        </p:nvSpPr>
        <p:spPr>
          <a:xfrm>
            <a:off x="2209800" y="4025702"/>
            <a:ext cx="21170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070C0"/>
                </a:solidFill>
                <a:latin typeface="Arial" pitchFamily="34" charset="0"/>
                <a:ea typeface="Arial" pitchFamily="34" charset="-122"/>
                <a:cs typeface="Arial" pitchFamily="34" charset="-120"/>
              </a:rPr>
              <a:t>■ downloaded by Claude: 39</a:t>
            </a:r>
            <a:endParaRPr lang="en-US" sz="1200" dirty="0"/>
          </a:p>
        </p:txBody>
      </p:sp>
      <p:sp>
        <p:nvSpPr>
          <p:cNvPr id="23" name="Text 21"/>
          <p:cNvSpPr/>
          <p:nvPr/>
        </p:nvSpPr>
        <p:spPr>
          <a:xfrm>
            <a:off x="4326830" y="4025702"/>
            <a:ext cx="200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8720C"/>
                </a:solidFill>
                <a:latin typeface="Arial" pitchFamily="34" charset="0"/>
                <a:ea typeface="Arial" pitchFamily="34" charset="-122"/>
                <a:cs typeface="Arial" pitchFamily="34" charset="-120"/>
              </a:rPr>
              <a:t>■ downloaded by me: 21</a:t>
            </a:r>
            <a:endParaRPr lang="en-US" sz="1200" dirty="0"/>
          </a:p>
        </p:txBody>
      </p:sp>
      <p:sp>
        <p:nvSpPr>
          <p:cNvPr id="24" name="Shape 22"/>
          <p:cNvSpPr/>
          <p:nvPr/>
        </p:nvSpPr>
        <p:spPr>
          <a:xfrm>
            <a:off x="6915845" y="1664295"/>
            <a:ext cx="4460180" cy="2574230"/>
          </a:xfrm>
          <a:prstGeom prst="roundRect">
            <a:avLst>
              <a:gd name="adj" fmla="val 2837"/>
            </a:avLst>
          </a:prstGeom>
          <a:solidFill>
            <a:srgbClr val="F4F8FC"/>
          </a:solidFill>
          <a:ln w="6350">
            <a:solidFill>
              <a:srgbClr val="C9D7E8"/>
            </a:solidFill>
            <a:prstDash val="solid"/>
          </a:ln>
        </p:spPr>
      </p:sp>
      <p:sp>
        <p:nvSpPr>
          <p:cNvPr id="25" name="Text 23"/>
          <p:cNvSpPr/>
          <p:nvPr/>
        </p:nvSpPr>
        <p:spPr>
          <a:xfrm>
            <a:off x="7147620" y="1896070"/>
            <a:ext cx="4116529"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How a paper gets on the list</a:t>
            </a:r>
            <a:endParaRPr lang="en-US" sz="1600" dirty="0"/>
          </a:p>
        </p:txBody>
      </p:sp>
      <p:sp>
        <p:nvSpPr>
          <p:cNvPr id="26" name="Text 24"/>
          <p:cNvSpPr/>
          <p:nvPr/>
        </p:nvSpPr>
        <p:spPr>
          <a:xfrm>
            <a:off x="7252395" y="2228751"/>
            <a:ext cx="4004134" cy="1803400"/>
          </a:xfrm>
          <a:prstGeom prst="rect">
            <a:avLst/>
          </a:prstGeom>
          <a:noFill/>
          <a:ln/>
        </p:spPr>
        <p:txBody>
          <a:bodyPr wrap="square" lIns="0" tIns="0" rIns="0" bIns="0" rtlCol="0" anchor="t">
            <a:normAutofit/>
          </a:bodyPr>
          <a:lstStyle/>
          <a:p>
            <a:pPr algn="l" marL="149225" indent="-149225">
              <a:lnSpc>
                <a:spcPts val="1750"/>
              </a:lnSpc>
              <a:buSzPct val="100000"/>
              <a:buChar char="•"/>
            </a:pPr>
            <a:r>
              <a:rPr lang="en-US" sz="1250" dirty="0">
                <a:solidFill>
                  <a:srgbClr val="3E464C"/>
                </a:solidFill>
                <a:latin typeface="Arial" pitchFamily="34" charset="0"/>
                <a:ea typeface="Arial" pitchFamily="34" charset="-122"/>
                <a:cs typeface="Arial" pitchFamily="34" charset="-120"/>
              </a:rPr>
              <a:t>Search by keyword in J-STAGE, Europe PMC and Crossref</a:t>
            </a:r>
            <a:endParaRPr lang="en-US" sz="1250" dirty="0"/>
          </a:p>
          <a:p>
            <a:pPr algn="l" marL="149225" indent="-149225">
              <a:lnSpc>
                <a:spcPts val="1750"/>
              </a:lnSpc>
              <a:buSzPct val="100000"/>
              <a:buChar char="•"/>
            </a:pPr>
            <a:r>
              <a:rPr lang="en-US" sz="1250" dirty="0">
                <a:solidFill>
                  <a:srgbClr val="3E464C"/>
                </a:solidFill>
                <a:latin typeface="Arial" pitchFamily="34" charset="0"/>
                <a:ea typeface="Arial" pitchFamily="34" charset="-122"/>
                <a:cs typeface="Arial" pitchFamily="34" charset="-120"/>
              </a:rPr>
              <a:t>Check each DOI, author and year against Crossref</a:t>
            </a:r>
            <a:endParaRPr lang="en-US" sz="1250" dirty="0"/>
          </a:p>
          <a:p>
            <a:pPr algn="l" marL="149225" indent="-149225">
              <a:lnSpc>
                <a:spcPts val="1750"/>
              </a:lnSpc>
              <a:buSzPct val="100000"/>
              <a:buChar char="•"/>
            </a:pPr>
            <a:r>
              <a:rPr lang="en-US" sz="1250" dirty="0">
                <a:solidFill>
                  <a:srgbClr val="3E464C"/>
                </a:solidFill>
                <a:latin typeface="Arial" pitchFamily="34" charset="0"/>
                <a:ea typeface="Arial" pitchFamily="34" charset="-122"/>
                <a:cs typeface="Arial" pitchFamily="34" charset="-120"/>
              </a:rPr>
              <a:t>Prefer primary studies and the gaps the wiki already shows</a:t>
            </a:r>
            <a:endParaRPr lang="en-US" sz="1250" dirty="0"/>
          </a:p>
          <a:p>
            <a:pPr algn="l" marL="149225" indent="-149225">
              <a:lnSpc>
                <a:spcPts val="1750"/>
              </a:lnSpc>
              <a:buSzPct val="100000"/>
              <a:buChar char="•"/>
            </a:pPr>
            <a:r>
              <a:rPr lang="en-US" sz="1250" dirty="0">
                <a:solidFill>
                  <a:srgbClr val="3E464C"/>
                </a:solidFill>
                <a:latin typeface="Arial" pitchFamily="34" charset="0"/>
                <a:ea typeface="Arial" pitchFamily="34" charset="-122"/>
                <a:cs typeface="Arial" pitchFamily="34" charset="-120"/>
              </a:rPr>
              <a:t>Rank as core or extended, with a reason and a file name</a:t>
            </a:r>
            <a:endParaRPr lang="en-US" sz="1250" dirty="0"/>
          </a:p>
          <a:p>
            <a:pPr algn="l" marL="149225" indent="-149225">
              <a:lnSpc>
                <a:spcPts val="1750"/>
              </a:lnSpc>
              <a:buSzPct val="100000"/>
              <a:buChar char="•"/>
            </a:pPr>
            <a:r>
              <a:rPr lang="en-US" sz="1250" dirty="0">
                <a:solidFill>
                  <a:srgbClr val="3E464C"/>
                </a:solidFill>
                <a:latin typeface="Arial" pitchFamily="34" charset="0"/>
                <a:ea typeface="Arial" pitchFamily="34" charset="-122"/>
                <a:cs typeface="Arial" pitchFamily="34" charset="-120"/>
              </a:rPr>
              <a:t>I approve the list before anything is downloaded</a:t>
            </a:r>
            <a:endParaRPr lang="en-US" sz="1250" dirty="0"/>
          </a:p>
        </p:txBody>
      </p:sp>
      <p:sp>
        <p:nvSpPr>
          <p:cNvPr id="27" name="Text 25"/>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Sources · reading-list.md; wiki/log.md (rounds 1–5)</a:t>
            </a:r>
            <a:endParaRPr lang="en-US" sz="1200" dirty="0"/>
          </a:p>
        </p:txBody>
      </p:sp>
      <p:sp>
        <p:nvSpPr>
          <p:cNvPr id="28" name="Shape 26"/>
          <p:cNvSpPr/>
          <p:nvPr/>
        </p:nvSpPr>
        <p:spPr>
          <a:xfrm>
            <a:off x="0" y="6350000"/>
            <a:ext cx="12192000" cy="12700"/>
          </a:xfrm>
          <a:prstGeom prst="rect">
            <a:avLst/>
          </a:prstGeom>
          <a:solidFill>
            <a:srgbClr val="A6A6A6"/>
          </a:solidFill>
          <a:ln/>
        </p:spPr>
      </p:sp>
      <p:sp>
        <p:nvSpPr>
          <p:cNvPr id="29" name="Text 27"/>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30" name="Text 28"/>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10</a:t>
            </a:r>
            <a:endParaRPr lang="en-US" sz="1500" dirty="0"/>
          </a:p>
        </p:txBody>
      </p:sp>
      <p:pic>
        <p:nvPicPr>
          <p:cNvPr id="31"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1.8. Step 5: four operations run the wiki</a:t>
            </a:r>
            <a:endParaRPr lang="en-US" sz="2800" dirty="0"/>
          </a:p>
        </p:txBody>
      </p:sp>
      <p:sp>
        <p:nvSpPr>
          <p:cNvPr id="7" name="Shape 5"/>
          <p:cNvSpPr/>
          <p:nvPr/>
        </p:nvSpPr>
        <p:spPr>
          <a:xfrm>
            <a:off x="815975" y="1740495"/>
            <a:ext cx="2540000" cy="1994793"/>
          </a:xfrm>
          <a:prstGeom prst="roundRect">
            <a:avLst>
              <a:gd name="adj" fmla="val 3661"/>
            </a:avLst>
          </a:prstGeom>
          <a:solidFill>
            <a:srgbClr val="F4F8FC"/>
          </a:solidFill>
          <a:ln w="6350">
            <a:solidFill>
              <a:srgbClr val="C9D7E8"/>
            </a:solidFill>
            <a:prstDash val="solid"/>
          </a:ln>
        </p:spPr>
      </p:sp>
      <p:sp>
        <p:nvSpPr>
          <p:cNvPr id="8" name="Text 6"/>
          <p:cNvSpPr/>
          <p:nvPr/>
        </p:nvSpPr>
        <p:spPr>
          <a:xfrm>
            <a:off x="1047750" y="1972270"/>
            <a:ext cx="21387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1 · Ingest</a:t>
            </a:r>
            <a:endParaRPr lang="en-US" sz="1400" dirty="0"/>
          </a:p>
        </p:txBody>
      </p:sp>
      <p:sp>
        <p:nvSpPr>
          <p:cNvPr id="9" name="Text 7"/>
          <p:cNvSpPr/>
          <p:nvPr/>
        </p:nvSpPr>
        <p:spPr>
          <a:xfrm>
            <a:off x="1047750" y="2322711"/>
            <a:ext cx="2076450" cy="332680"/>
          </a:xfrm>
          <a:prstGeom prst="roundRect">
            <a:avLst>
              <a:gd name="adj" fmla="val 11452"/>
            </a:avLst>
          </a:prstGeom>
          <a:solidFill>
            <a:srgbClr val="EEF3F9"/>
          </a:solidFill>
          <a:ln/>
        </p:spPr>
        <p:txBody>
          <a:bodyPr wrap="square" lIns="65041" tIns="39641" rIns="7319" bIns="14241" rtlCol="0" anchor="t">
            <a:normAutofit/>
          </a:bodyPr>
          <a:lstStyle/>
          <a:p>
            <a:pPr algn="l" indent="0" marL="0">
              <a:lnSpc>
                <a:spcPts val="1820"/>
              </a:lnSpc>
              <a:buNone/>
            </a:pPr>
            <a:r>
              <a:rPr lang="en-US" sz="1300" dirty="0">
                <a:solidFill>
                  <a:srgbClr val="22272B"/>
                </a:solidFill>
                <a:latin typeface="Courier New" pitchFamily="49" charset="0"/>
                <a:ea typeface="Courier New" pitchFamily="49" charset="-122"/>
                <a:cs typeface="Courier New" pitchFamily="49" charset="-120"/>
              </a:rPr>
              <a:t>ingest new</a:t>
            </a:r>
            <a:endParaRPr lang="en-US" sz="1300" dirty="0"/>
          </a:p>
        </p:txBody>
      </p:sp>
      <p:sp>
        <p:nvSpPr>
          <p:cNvPr id="10" name="Text 8"/>
          <p:cNvSpPr/>
          <p:nvPr/>
        </p:nvSpPr>
        <p:spPr>
          <a:xfrm>
            <a:off x="1047750" y="2756991"/>
            <a:ext cx="213874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Find unread PDFs, read each in full, write its source note.</a:t>
            </a:r>
            <a:endParaRPr lang="en-US" sz="1400" dirty="0"/>
          </a:p>
        </p:txBody>
      </p:sp>
      <p:sp>
        <p:nvSpPr>
          <p:cNvPr id="11" name="Shape 9"/>
          <p:cNvSpPr/>
          <p:nvPr/>
        </p:nvSpPr>
        <p:spPr>
          <a:xfrm>
            <a:off x="3489325" y="1740495"/>
            <a:ext cx="2540000" cy="1994793"/>
          </a:xfrm>
          <a:prstGeom prst="roundRect">
            <a:avLst>
              <a:gd name="adj" fmla="val 3661"/>
            </a:avLst>
          </a:prstGeom>
          <a:solidFill>
            <a:srgbClr val="F4F8FC"/>
          </a:solidFill>
          <a:ln w="6350">
            <a:solidFill>
              <a:srgbClr val="C9D7E8"/>
            </a:solidFill>
            <a:prstDash val="solid"/>
          </a:ln>
        </p:spPr>
      </p:sp>
      <p:sp>
        <p:nvSpPr>
          <p:cNvPr id="12" name="Text 10"/>
          <p:cNvSpPr/>
          <p:nvPr/>
        </p:nvSpPr>
        <p:spPr>
          <a:xfrm>
            <a:off x="3721100" y="1972270"/>
            <a:ext cx="21387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2 · Integrate</a:t>
            </a:r>
            <a:endParaRPr lang="en-US" sz="1400" dirty="0"/>
          </a:p>
        </p:txBody>
      </p:sp>
      <p:sp>
        <p:nvSpPr>
          <p:cNvPr id="13" name="Text 11"/>
          <p:cNvSpPr/>
          <p:nvPr/>
        </p:nvSpPr>
        <p:spPr>
          <a:xfrm>
            <a:off x="3721100" y="2322711"/>
            <a:ext cx="2076450" cy="332680"/>
          </a:xfrm>
          <a:prstGeom prst="roundRect">
            <a:avLst>
              <a:gd name="adj" fmla="val 11452"/>
            </a:avLst>
          </a:prstGeom>
          <a:solidFill>
            <a:srgbClr val="EEF3F9"/>
          </a:solidFill>
          <a:ln/>
        </p:spPr>
        <p:txBody>
          <a:bodyPr wrap="square" lIns="65041" tIns="39641" rIns="7319" bIns="14241" rtlCol="0" anchor="t">
            <a:normAutofit/>
          </a:bodyPr>
          <a:lstStyle/>
          <a:p>
            <a:pPr algn="l" indent="0" marL="0">
              <a:lnSpc>
                <a:spcPts val="1820"/>
              </a:lnSpc>
              <a:buNone/>
            </a:pPr>
            <a:r>
              <a:rPr lang="en-US" sz="1300" dirty="0">
                <a:solidFill>
                  <a:srgbClr val="22272B"/>
                </a:solidFill>
                <a:latin typeface="Courier New" pitchFamily="49" charset="0"/>
                <a:ea typeface="Courier New" pitchFamily="49" charset="-122"/>
                <a:cs typeface="Courier New" pitchFamily="49" charset="-120"/>
              </a:rPr>
              <a:t>(automatic)</a:t>
            </a:r>
            <a:endParaRPr lang="en-US" sz="1300" dirty="0"/>
          </a:p>
        </p:txBody>
      </p:sp>
      <p:sp>
        <p:nvSpPr>
          <p:cNvPr id="14" name="Text 12"/>
          <p:cNvSpPr/>
          <p:nvPr/>
        </p:nvSpPr>
        <p:spPr>
          <a:xfrm>
            <a:off x="3721100" y="2756991"/>
            <a:ext cx="213874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Update 5–15 topic notes and the data tables; log conflicts.</a:t>
            </a:r>
            <a:endParaRPr lang="en-US" sz="1400" dirty="0"/>
          </a:p>
        </p:txBody>
      </p:sp>
      <p:sp>
        <p:nvSpPr>
          <p:cNvPr id="15" name="Shape 13"/>
          <p:cNvSpPr/>
          <p:nvPr/>
        </p:nvSpPr>
        <p:spPr>
          <a:xfrm>
            <a:off x="6162675" y="1740495"/>
            <a:ext cx="2540000" cy="1994793"/>
          </a:xfrm>
          <a:prstGeom prst="roundRect">
            <a:avLst>
              <a:gd name="adj" fmla="val 3661"/>
            </a:avLst>
          </a:prstGeom>
          <a:solidFill>
            <a:srgbClr val="F4F8FC"/>
          </a:solidFill>
          <a:ln w="6350">
            <a:solidFill>
              <a:srgbClr val="C9D7E8"/>
            </a:solidFill>
            <a:prstDash val="solid"/>
          </a:ln>
        </p:spPr>
      </p:sp>
      <p:sp>
        <p:nvSpPr>
          <p:cNvPr id="16" name="Text 14"/>
          <p:cNvSpPr/>
          <p:nvPr/>
        </p:nvSpPr>
        <p:spPr>
          <a:xfrm>
            <a:off x="6394450" y="1972270"/>
            <a:ext cx="21387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3 · Lint</a:t>
            </a:r>
            <a:endParaRPr lang="en-US" sz="1400" dirty="0"/>
          </a:p>
        </p:txBody>
      </p:sp>
      <p:sp>
        <p:nvSpPr>
          <p:cNvPr id="17" name="Text 15"/>
          <p:cNvSpPr/>
          <p:nvPr/>
        </p:nvSpPr>
        <p:spPr>
          <a:xfrm>
            <a:off x="6394450" y="2322711"/>
            <a:ext cx="2076450" cy="332680"/>
          </a:xfrm>
          <a:prstGeom prst="roundRect">
            <a:avLst>
              <a:gd name="adj" fmla="val 11452"/>
            </a:avLst>
          </a:prstGeom>
          <a:solidFill>
            <a:srgbClr val="EEF3F9"/>
          </a:solidFill>
          <a:ln/>
        </p:spPr>
        <p:txBody>
          <a:bodyPr wrap="square" lIns="65041" tIns="39641" rIns="7319" bIns="14241" rtlCol="0" anchor="t">
            <a:normAutofit/>
          </a:bodyPr>
          <a:lstStyle/>
          <a:p>
            <a:pPr algn="l" indent="0" marL="0">
              <a:lnSpc>
                <a:spcPts val="1820"/>
              </a:lnSpc>
              <a:buNone/>
            </a:pPr>
            <a:r>
              <a:rPr lang="en-US" sz="1300" dirty="0">
                <a:solidFill>
                  <a:srgbClr val="22272B"/>
                </a:solidFill>
                <a:latin typeface="Courier New" pitchFamily="49" charset="0"/>
                <a:ea typeface="Courier New" pitchFamily="49" charset="-122"/>
                <a:cs typeface="Courier New" pitchFamily="49" charset="-120"/>
              </a:rPr>
              <a:t>lint</a:t>
            </a:r>
            <a:endParaRPr lang="en-US" sz="1300" dirty="0"/>
          </a:p>
        </p:txBody>
      </p:sp>
      <p:sp>
        <p:nvSpPr>
          <p:cNvPr id="18" name="Text 16"/>
          <p:cNvSpPr/>
          <p:nvPr/>
        </p:nvSpPr>
        <p:spPr>
          <a:xfrm>
            <a:off x="6394450" y="2756991"/>
            <a:ext cx="213874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Broken links, orphan pages, uncited claims, missing topics.</a:t>
            </a:r>
            <a:endParaRPr lang="en-US" sz="1400" dirty="0"/>
          </a:p>
        </p:txBody>
      </p:sp>
      <p:sp>
        <p:nvSpPr>
          <p:cNvPr id="19" name="Shape 17"/>
          <p:cNvSpPr/>
          <p:nvPr/>
        </p:nvSpPr>
        <p:spPr>
          <a:xfrm>
            <a:off x="8836025" y="1740495"/>
            <a:ext cx="2540000" cy="1994793"/>
          </a:xfrm>
          <a:prstGeom prst="roundRect">
            <a:avLst>
              <a:gd name="adj" fmla="val 3661"/>
            </a:avLst>
          </a:prstGeom>
          <a:solidFill>
            <a:srgbClr val="F4F8FC"/>
          </a:solidFill>
          <a:ln w="6350">
            <a:solidFill>
              <a:srgbClr val="C9D7E8"/>
            </a:solidFill>
            <a:prstDash val="solid"/>
          </a:ln>
        </p:spPr>
      </p:sp>
      <p:sp>
        <p:nvSpPr>
          <p:cNvPr id="20" name="Text 18"/>
          <p:cNvSpPr/>
          <p:nvPr/>
        </p:nvSpPr>
        <p:spPr>
          <a:xfrm>
            <a:off x="9067800" y="1972270"/>
            <a:ext cx="213874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4 · Query and draft</a:t>
            </a:r>
            <a:endParaRPr lang="en-US" sz="1400" dirty="0"/>
          </a:p>
        </p:txBody>
      </p:sp>
      <p:sp>
        <p:nvSpPr>
          <p:cNvPr id="21" name="Text 19"/>
          <p:cNvSpPr/>
          <p:nvPr/>
        </p:nvSpPr>
        <p:spPr>
          <a:xfrm>
            <a:off x="9067800" y="2322711"/>
            <a:ext cx="2076450" cy="332680"/>
          </a:xfrm>
          <a:prstGeom prst="roundRect">
            <a:avLst>
              <a:gd name="adj" fmla="val 11452"/>
            </a:avLst>
          </a:prstGeom>
          <a:solidFill>
            <a:srgbClr val="EEF3F9"/>
          </a:solidFill>
          <a:ln/>
        </p:spPr>
        <p:txBody>
          <a:bodyPr wrap="square" lIns="65041" tIns="39641" rIns="7319" bIns="14241" rtlCol="0" anchor="t">
            <a:normAutofit/>
          </a:bodyPr>
          <a:lstStyle/>
          <a:p>
            <a:pPr algn="l" indent="0" marL="0">
              <a:lnSpc>
                <a:spcPts val="1820"/>
              </a:lnSpc>
              <a:buNone/>
            </a:pPr>
            <a:r>
              <a:rPr lang="en-US" sz="1300" dirty="0">
                <a:solidFill>
                  <a:srgbClr val="22272B"/>
                </a:solidFill>
                <a:latin typeface="Courier New" pitchFamily="49" charset="0"/>
                <a:ea typeface="Courier New" pitchFamily="49" charset="-122"/>
                <a:cs typeface="Courier New" pitchFamily="49" charset="-120"/>
              </a:rPr>
              <a:t>draft chapter 5</a:t>
            </a:r>
            <a:endParaRPr lang="en-US" sz="1300" dirty="0"/>
          </a:p>
        </p:txBody>
      </p:sp>
      <p:sp>
        <p:nvSpPr>
          <p:cNvPr id="22" name="Text 20"/>
          <p:cNvSpPr/>
          <p:nvPr/>
        </p:nvSpPr>
        <p:spPr>
          <a:xfrm>
            <a:off x="9067800" y="2756991"/>
            <a:ext cx="2138744"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Answers and review prose that cite source notes only.</a:t>
            </a:r>
            <a:endParaRPr lang="en-US" sz="1400" dirty="0"/>
          </a:p>
        </p:txBody>
      </p:sp>
      <p:sp>
        <p:nvSpPr>
          <p:cNvPr id="23" name="Shape 21"/>
          <p:cNvSpPr/>
          <p:nvPr/>
        </p:nvSpPr>
        <p:spPr>
          <a:xfrm>
            <a:off x="815975" y="4097238"/>
            <a:ext cx="10560050" cy="1420813"/>
          </a:xfrm>
          <a:prstGeom prst="roundRect">
            <a:avLst>
              <a:gd name="adj" fmla="val 5140"/>
            </a:avLst>
          </a:prstGeom>
          <a:solidFill>
            <a:srgbClr val="F4F8FC"/>
          </a:solidFill>
          <a:ln w="6350">
            <a:solidFill>
              <a:srgbClr val="C9D7E8"/>
            </a:solidFill>
            <a:prstDash val="solid"/>
          </a:ln>
        </p:spPr>
      </p:sp>
      <p:sp>
        <p:nvSpPr>
          <p:cNvPr id="24" name="Text 22"/>
          <p:cNvSpPr/>
          <p:nvPr/>
        </p:nvSpPr>
        <p:spPr>
          <a:xfrm>
            <a:off x="1047750" y="4278213"/>
            <a:ext cx="10399395"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Round 4 · 34 papers in one run</a:t>
            </a:r>
            <a:endParaRPr lang="en-US" sz="1400" dirty="0"/>
          </a:p>
        </p:txBody>
      </p:sp>
      <p:sp>
        <p:nvSpPr>
          <p:cNvPr id="25" name="Text 23"/>
          <p:cNvSpPr/>
          <p:nvPr/>
        </p:nvSpPr>
        <p:spPr>
          <a:xfrm>
            <a:off x="1047750" y="4590554"/>
            <a:ext cx="1039939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12 parallel source agents → 6 integration agents, each owning a separate set of topic pages → one hub merge (index, gaps, log). Sources: J-STAGE PDFs, Europe PMC full-text XML, Wiley through my browser. A CAPTCHA is a human step, never bypassed.</a:t>
            </a:r>
            <a:endParaRPr lang="en-US" sz="1400" dirty="0"/>
          </a:p>
        </p:txBody>
      </p:sp>
      <p:sp>
        <p:nvSpPr>
          <p:cNvPr id="26" name="Text 24"/>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Workflow</a:t>
            </a:r>
            <a:endParaRPr lang="en-US" sz="1200" dirty="0"/>
          </a:p>
        </p:txBody>
      </p:sp>
      <p:sp>
        <p:nvSpPr>
          <p:cNvPr id="27" name="Shape 25"/>
          <p:cNvSpPr/>
          <p:nvPr/>
        </p:nvSpPr>
        <p:spPr>
          <a:xfrm>
            <a:off x="0" y="6350000"/>
            <a:ext cx="12192000" cy="12700"/>
          </a:xfrm>
          <a:prstGeom prst="rect">
            <a:avLst/>
          </a:prstGeom>
          <a:solidFill>
            <a:srgbClr val="A6A6A6"/>
          </a:solidFill>
          <a:ln/>
        </p:spPr>
      </p:sp>
      <p:sp>
        <p:nvSpPr>
          <p:cNvPr id="28" name="Text 26"/>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9" name="Text 27"/>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11</a:t>
            </a:r>
            <a:endParaRPr lang="en-US" sz="1500" dirty="0"/>
          </a:p>
        </p:txBody>
      </p:sp>
      <p:pic>
        <p:nvPicPr>
          <p:cNvPr id="30"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1.9. Step 5: what one paper turns into</a:t>
            </a:r>
            <a:endParaRPr lang="en-US" sz="2800" dirty="0"/>
          </a:p>
        </p:txBody>
      </p:sp>
      <p:sp>
        <p:nvSpPr>
          <p:cNvPr id="7" name="Shape 5"/>
          <p:cNvSpPr/>
          <p:nvPr/>
        </p:nvSpPr>
        <p:spPr>
          <a:xfrm>
            <a:off x="815975" y="1689695"/>
            <a:ext cx="5616773" cy="3188891"/>
          </a:xfrm>
          <a:prstGeom prst="roundRect">
            <a:avLst>
              <a:gd name="adj" fmla="val 2290"/>
            </a:avLst>
          </a:prstGeom>
          <a:solidFill>
            <a:srgbClr val="F4F8FC"/>
          </a:solidFill>
          <a:ln w="6350">
            <a:solidFill>
              <a:srgbClr val="C9D7E8"/>
            </a:solidFill>
            <a:prstDash val="solid"/>
          </a:ln>
        </p:spPr>
      </p:sp>
      <p:sp>
        <p:nvSpPr>
          <p:cNvPr id="8" name="Text 6"/>
          <p:cNvSpPr/>
          <p:nvPr/>
        </p:nvSpPr>
        <p:spPr>
          <a:xfrm>
            <a:off x="1073150" y="1946870"/>
            <a:ext cx="5255496"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6B7378"/>
                </a:solidFill>
                <a:latin typeface="Arial" pitchFamily="34" charset="0"/>
                <a:ea typeface="Arial" pitchFamily="34" charset="-122"/>
                <a:cs typeface="Arial" pitchFamily="34" charset="-120"/>
              </a:rPr>
              <a:t>Example: Li et al. 2002, PVA-ECC interface tailoring</a:t>
            </a:r>
            <a:endParaRPr lang="en-US" sz="1400" dirty="0"/>
          </a:p>
        </p:txBody>
      </p:sp>
      <p:sp>
        <p:nvSpPr>
          <p:cNvPr id="9" name="Text 7"/>
          <p:cNvSpPr/>
          <p:nvPr/>
        </p:nvSpPr>
        <p:spPr>
          <a:xfrm>
            <a:off x="1073150" y="2322711"/>
            <a:ext cx="525549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The source note holds</a:t>
            </a:r>
            <a:endParaRPr lang="en-US" sz="1800" dirty="0"/>
          </a:p>
        </p:txBody>
      </p:sp>
      <p:sp>
        <p:nvSpPr>
          <p:cNvPr id="10" name="Text 8"/>
          <p:cNvSpPr/>
          <p:nvPr/>
        </p:nvSpPr>
        <p:spPr>
          <a:xfrm>
            <a:off x="1156970" y="2723952"/>
            <a:ext cx="5164056" cy="1682750"/>
          </a:xfrm>
          <a:prstGeom prst="rect">
            <a:avLst/>
          </a:prstGeom>
          <a:noFill/>
          <a:ln/>
        </p:spPr>
        <p:txBody>
          <a:bodyPr wrap="square" lIns="0" tIns="0" rIns="0" bIns="0" rtlCol="0" anchor="t">
            <a:normAutofit/>
          </a:bodyPr>
          <a:lstStyle/>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Bibliography, material term used by the authors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Mix design and fiber properties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Test methods, curing and age</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Results with table and figure numbers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Mechanisms, limitations, relation to other papers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A checklist of items to verify</a:t>
            </a:r>
            <a:endParaRPr lang="en-US" sz="1500" dirty="0"/>
          </a:p>
        </p:txBody>
      </p:sp>
      <p:sp>
        <p:nvSpPr>
          <p:cNvPr id="11" name="Shape 9"/>
          <p:cNvSpPr/>
          <p:nvPr/>
        </p:nvSpPr>
        <p:spPr>
          <a:xfrm>
            <a:off x="6740723" y="1686520"/>
            <a:ext cx="2243038" cy="1521420"/>
          </a:xfrm>
          <a:prstGeom prst="roundRect">
            <a:avLst>
              <a:gd name="adj" fmla="val 5008"/>
            </a:avLst>
          </a:prstGeom>
          <a:solidFill>
            <a:srgbClr val="EEF3F9"/>
          </a:solidFill>
          <a:ln/>
        </p:spPr>
      </p:sp>
      <p:sp>
        <p:nvSpPr>
          <p:cNvPr id="12" name="Text 10"/>
          <p:cNvSpPr/>
          <p:nvPr/>
        </p:nvSpPr>
        <p:spPr>
          <a:xfrm>
            <a:off x="6943923" y="1889720"/>
            <a:ext cx="189173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12</a:t>
            </a:r>
            <a:endParaRPr lang="en-US" sz="4800" dirty="0"/>
          </a:p>
        </p:txBody>
      </p:sp>
      <p:sp>
        <p:nvSpPr>
          <p:cNvPr id="13" name="Text 11"/>
          <p:cNvSpPr/>
          <p:nvPr/>
        </p:nvSpPr>
        <p:spPr>
          <a:xfrm>
            <a:off x="6943923" y="2524720"/>
            <a:ext cx="189173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64C"/>
                </a:solidFill>
                <a:latin typeface="Arial" pitchFamily="34" charset="0"/>
                <a:ea typeface="Arial" pitchFamily="34" charset="-122"/>
                <a:cs typeface="Arial" pitchFamily="34" charset="-120"/>
              </a:rPr>
              <a:t>topic notes updated or created</a:t>
            </a:r>
            <a:endParaRPr lang="en-US" sz="1400" dirty="0"/>
          </a:p>
        </p:txBody>
      </p:sp>
      <p:sp>
        <p:nvSpPr>
          <p:cNvPr id="14" name="Shape 12"/>
          <p:cNvSpPr/>
          <p:nvPr/>
        </p:nvSpPr>
        <p:spPr>
          <a:xfrm>
            <a:off x="9136162" y="1686520"/>
            <a:ext cx="2243038" cy="1521420"/>
          </a:xfrm>
          <a:prstGeom prst="roundRect">
            <a:avLst>
              <a:gd name="adj" fmla="val 5008"/>
            </a:avLst>
          </a:prstGeom>
          <a:solidFill>
            <a:srgbClr val="EEF3F9"/>
          </a:solidFill>
          <a:ln/>
        </p:spPr>
      </p:sp>
      <p:sp>
        <p:nvSpPr>
          <p:cNvPr id="15" name="Text 13"/>
          <p:cNvSpPr/>
          <p:nvPr/>
        </p:nvSpPr>
        <p:spPr>
          <a:xfrm>
            <a:off x="9339362" y="1889720"/>
            <a:ext cx="189173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11</a:t>
            </a:r>
            <a:endParaRPr lang="en-US" sz="4800" dirty="0"/>
          </a:p>
        </p:txBody>
      </p:sp>
      <p:sp>
        <p:nvSpPr>
          <p:cNvPr id="16" name="Text 14"/>
          <p:cNvSpPr/>
          <p:nvPr/>
        </p:nvSpPr>
        <p:spPr>
          <a:xfrm>
            <a:off x="9339362" y="2524720"/>
            <a:ext cx="189173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64C"/>
                </a:solidFill>
                <a:latin typeface="Arial" pitchFamily="34" charset="0"/>
                <a:ea typeface="Arial" pitchFamily="34" charset="-122"/>
                <a:cs typeface="Arial" pitchFamily="34" charset="-120"/>
              </a:rPr>
              <a:t>rows added to the data tables</a:t>
            </a:r>
            <a:endParaRPr lang="en-US" sz="1400" dirty="0"/>
          </a:p>
        </p:txBody>
      </p:sp>
      <p:sp>
        <p:nvSpPr>
          <p:cNvPr id="17" name="Shape 15"/>
          <p:cNvSpPr/>
          <p:nvPr/>
        </p:nvSpPr>
        <p:spPr>
          <a:xfrm>
            <a:off x="6740723" y="3360341"/>
            <a:ext cx="2243038" cy="1521420"/>
          </a:xfrm>
          <a:prstGeom prst="roundRect">
            <a:avLst>
              <a:gd name="adj" fmla="val 5008"/>
            </a:avLst>
          </a:prstGeom>
          <a:solidFill>
            <a:srgbClr val="EEF3F9"/>
          </a:solidFill>
          <a:ln/>
        </p:spPr>
      </p:sp>
      <p:sp>
        <p:nvSpPr>
          <p:cNvPr id="18" name="Text 16"/>
          <p:cNvSpPr/>
          <p:nvPr/>
        </p:nvSpPr>
        <p:spPr>
          <a:xfrm>
            <a:off x="6943923" y="3563541"/>
            <a:ext cx="189173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2</a:t>
            </a:r>
            <a:endParaRPr lang="en-US" sz="4800" dirty="0"/>
          </a:p>
        </p:txBody>
      </p:sp>
      <p:sp>
        <p:nvSpPr>
          <p:cNvPr id="19" name="Text 17"/>
          <p:cNvSpPr/>
          <p:nvPr/>
        </p:nvSpPr>
        <p:spPr>
          <a:xfrm>
            <a:off x="6943923" y="4198541"/>
            <a:ext cx="189173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64C"/>
                </a:solidFill>
                <a:latin typeface="Arial" pitchFamily="34" charset="0"/>
                <a:ea typeface="Arial" pitchFamily="34" charset="-122"/>
                <a:cs typeface="Arial" pitchFamily="34" charset="-120"/>
              </a:rPr>
              <a:t>conflicts or refinements logged</a:t>
            </a:r>
            <a:endParaRPr lang="en-US" sz="1400" dirty="0"/>
          </a:p>
        </p:txBody>
      </p:sp>
      <p:sp>
        <p:nvSpPr>
          <p:cNvPr id="20" name="Shape 18"/>
          <p:cNvSpPr/>
          <p:nvPr/>
        </p:nvSpPr>
        <p:spPr>
          <a:xfrm>
            <a:off x="9136162" y="3360341"/>
            <a:ext cx="2243038" cy="1521420"/>
          </a:xfrm>
          <a:prstGeom prst="roundRect">
            <a:avLst>
              <a:gd name="adj" fmla="val 5008"/>
            </a:avLst>
          </a:prstGeom>
          <a:solidFill>
            <a:srgbClr val="EEF3F9"/>
          </a:solidFill>
          <a:ln/>
        </p:spPr>
      </p:sp>
      <p:sp>
        <p:nvSpPr>
          <p:cNvPr id="21" name="Text 19"/>
          <p:cNvSpPr/>
          <p:nvPr/>
        </p:nvSpPr>
        <p:spPr>
          <a:xfrm>
            <a:off x="9339362" y="3563541"/>
            <a:ext cx="1891737"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8</a:t>
            </a:r>
            <a:endParaRPr lang="en-US" sz="4800" dirty="0"/>
          </a:p>
        </p:txBody>
      </p:sp>
      <p:sp>
        <p:nvSpPr>
          <p:cNvPr id="22" name="Text 20"/>
          <p:cNvSpPr/>
          <p:nvPr/>
        </p:nvSpPr>
        <p:spPr>
          <a:xfrm>
            <a:off x="9339362" y="4198541"/>
            <a:ext cx="189173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64C"/>
                </a:solidFill>
                <a:latin typeface="Arial" pitchFamily="34" charset="0"/>
                <a:ea typeface="Arial" pitchFamily="34" charset="-122"/>
                <a:cs typeface="Arial" pitchFamily="34" charset="-120"/>
              </a:rPr>
              <a:t>items flagged for me to verify</a:t>
            </a:r>
            <a:endParaRPr lang="en-US" sz="1400" dirty="0"/>
          </a:p>
        </p:txBody>
      </p:sp>
      <p:sp>
        <p:nvSpPr>
          <p:cNvPr id="23" name="Text 21"/>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One ingest · source: wiki/log.md</a:t>
            </a:r>
            <a:endParaRPr lang="en-US" sz="1200" dirty="0"/>
          </a:p>
        </p:txBody>
      </p:sp>
      <p:sp>
        <p:nvSpPr>
          <p:cNvPr id="24" name="Shape 22"/>
          <p:cNvSpPr/>
          <p:nvPr/>
        </p:nvSpPr>
        <p:spPr>
          <a:xfrm>
            <a:off x="0" y="6350000"/>
            <a:ext cx="12192000" cy="12700"/>
          </a:xfrm>
          <a:prstGeom prst="rect">
            <a:avLst/>
          </a:prstGeom>
          <a:solidFill>
            <a:srgbClr val="A6A6A6"/>
          </a:solidFill>
          <a:ln/>
        </p:spPr>
      </p:sp>
      <p:sp>
        <p:nvSpPr>
          <p:cNvPr id="25" name="Text 23"/>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6" name="Text 24"/>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12</a:t>
            </a:r>
            <a:endParaRPr lang="en-US" sz="1500" dirty="0"/>
          </a:p>
        </p:txBody>
      </p:sp>
      <p:pic>
        <p:nvPicPr>
          <p:cNvPr id="27"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2265065"/>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1.10. Step 5: from 60 papers to a connected knowledge base</a:t>
            </a:r>
            <a:endParaRPr lang="en-US" sz="2800" dirty="0"/>
          </a:p>
        </p:txBody>
      </p:sp>
      <p:sp>
        <p:nvSpPr>
          <p:cNvPr id="7" name="Shape 5"/>
          <p:cNvSpPr/>
          <p:nvPr/>
        </p:nvSpPr>
        <p:spPr>
          <a:xfrm>
            <a:off x="812800" y="3126085"/>
            <a:ext cx="1991320" cy="0"/>
          </a:xfrm>
          <a:prstGeom prst="line">
            <a:avLst/>
          </a:prstGeom>
          <a:noFill/>
          <a:ln w="25400">
            <a:solidFill>
              <a:srgbClr val="0070C0"/>
            </a:solidFill>
            <a:prstDash val="solid"/>
          </a:ln>
        </p:spPr>
      </p:sp>
      <p:sp>
        <p:nvSpPr>
          <p:cNvPr id="8" name="Text 6"/>
          <p:cNvSpPr/>
          <p:nvPr/>
        </p:nvSpPr>
        <p:spPr>
          <a:xfrm>
            <a:off x="812800" y="3291185"/>
            <a:ext cx="205106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60</a:t>
            </a:r>
            <a:endParaRPr lang="en-US" sz="4800" dirty="0"/>
          </a:p>
        </p:txBody>
      </p:sp>
      <p:sp>
        <p:nvSpPr>
          <p:cNvPr id="9" name="Text 7"/>
          <p:cNvSpPr/>
          <p:nvPr/>
        </p:nvSpPr>
        <p:spPr>
          <a:xfrm>
            <a:off x="812800" y="3951585"/>
            <a:ext cx="205106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E464C"/>
                </a:solidFill>
                <a:latin typeface="Arial" pitchFamily="34" charset="0"/>
                <a:ea typeface="Arial" pitchFamily="34" charset="-122"/>
                <a:cs typeface="Arial" pitchFamily="34" charset="-120"/>
              </a:rPr>
              <a:t>papers read in full</a:t>
            </a:r>
            <a:endParaRPr lang="en-US" sz="1500" dirty="0"/>
          </a:p>
        </p:txBody>
      </p:sp>
      <p:sp>
        <p:nvSpPr>
          <p:cNvPr id="10" name="Shape 8"/>
          <p:cNvSpPr/>
          <p:nvPr/>
        </p:nvSpPr>
        <p:spPr>
          <a:xfrm>
            <a:off x="2956520" y="3126085"/>
            <a:ext cx="1991420" cy="0"/>
          </a:xfrm>
          <a:prstGeom prst="line">
            <a:avLst/>
          </a:prstGeom>
          <a:noFill/>
          <a:ln w="25400">
            <a:solidFill>
              <a:srgbClr val="0070C0"/>
            </a:solidFill>
            <a:prstDash val="solid"/>
          </a:ln>
        </p:spPr>
      </p:sp>
      <p:sp>
        <p:nvSpPr>
          <p:cNvPr id="11" name="Text 9"/>
          <p:cNvSpPr/>
          <p:nvPr/>
        </p:nvSpPr>
        <p:spPr>
          <a:xfrm>
            <a:off x="2956520" y="3291185"/>
            <a:ext cx="205116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129</a:t>
            </a:r>
            <a:endParaRPr lang="en-US" sz="4800" dirty="0"/>
          </a:p>
        </p:txBody>
      </p:sp>
      <p:sp>
        <p:nvSpPr>
          <p:cNvPr id="12" name="Text 10"/>
          <p:cNvSpPr/>
          <p:nvPr/>
        </p:nvSpPr>
        <p:spPr>
          <a:xfrm>
            <a:off x="2956520" y="3951585"/>
            <a:ext cx="2051162"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E464C"/>
                </a:solidFill>
                <a:latin typeface="Arial" pitchFamily="34" charset="0"/>
                <a:ea typeface="Arial" pitchFamily="34" charset="-122"/>
                <a:cs typeface="Arial" pitchFamily="34" charset="-120"/>
              </a:rPr>
              <a:t>wiki notes</a:t>
            </a:r>
            <a:endParaRPr lang="en-US" sz="1500" dirty="0"/>
          </a:p>
        </p:txBody>
      </p:sp>
      <p:sp>
        <p:nvSpPr>
          <p:cNvPr id="13" name="Shape 11"/>
          <p:cNvSpPr/>
          <p:nvPr/>
        </p:nvSpPr>
        <p:spPr>
          <a:xfrm>
            <a:off x="5100340" y="3126085"/>
            <a:ext cx="1991320" cy="0"/>
          </a:xfrm>
          <a:prstGeom prst="line">
            <a:avLst/>
          </a:prstGeom>
          <a:noFill/>
          <a:ln w="25400">
            <a:solidFill>
              <a:srgbClr val="0070C0"/>
            </a:solidFill>
            <a:prstDash val="solid"/>
          </a:ln>
        </p:spPr>
      </p:sp>
      <p:sp>
        <p:nvSpPr>
          <p:cNvPr id="14" name="Text 12"/>
          <p:cNvSpPr/>
          <p:nvPr/>
        </p:nvSpPr>
        <p:spPr>
          <a:xfrm>
            <a:off x="5100340" y="3291185"/>
            <a:ext cx="205106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2955</a:t>
            </a:r>
            <a:endParaRPr lang="en-US" sz="4800" dirty="0"/>
          </a:p>
        </p:txBody>
      </p:sp>
      <p:sp>
        <p:nvSpPr>
          <p:cNvPr id="15" name="Text 13"/>
          <p:cNvSpPr/>
          <p:nvPr/>
        </p:nvSpPr>
        <p:spPr>
          <a:xfrm>
            <a:off x="5100340" y="3951585"/>
            <a:ext cx="205106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E464C"/>
                </a:solidFill>
                <a:latin typeface="Arial" pitchFamily="34" charset="0"/>
                <a:ea typeface="Arial" pitchFamily="34" charset="-122"/>
                <a:cs typeface="Arial" pitchFamily="34" charset="-120"/>
              </a:rPr>
              <a:t>links between notes</a:t>
            </a:r>
            <a:endParaRPr lang="en-US" sz="1500" dirty="0"/>
          </a:p>
        </p:txBody>
      </p:sp>
      <p:sp>
        <p:nvSpPr>
          <p:cNvPr id="16" name="Shape 14"/>
          <p:cNvSpPr/>
          <p:nvPr/>
        </p:nvSpPr>
        <p:spPr>
          <a:xfrm>
            <a:off x="7244060" y="3126085"/>
            <a:ext cx="1991420" cy="0"/>
          </a:xfrm>
          <a:prstGeom prst="line">
            <a:avLst/>
          </a:prstGeom>
          <a:noFill/>
          <a:ln w="25400">
            <a:solidFill>
              <a:srgbClr val="0070C0"/>
            </a:solidFill>
            <a:prstDash val="solid"/>
          </a:ln>
        </p:spPr>
      </p:sp>
      <p:sp>
        <p:nvSpPr>
          <p:cNvPr id="17" name="Text 15"/>
          <p:cNvSpPr/>
          <p:nvPr/>
        </p:nvSpPr>
        <p:spPr>
          <a:xfrm>
            <a:off x="7244060" y="3291185"/>
            <a:ext cx="205116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216</a:t>
            </a:r>
            <a:endParaRPr lang="en-US" sz="4800" dirty="0"/>
          </a:p>
        </p:txBody>
      </p:sp>
      <p:sp>
        <p:nvSpPr>
          <p:cNvPr id="18" name="Text 16"/>
          <p:cNvSpPr/>
          <p:nvPr/>
        </p:nvSpPr>
        <p:spPr>
          <a:xfrm>
            <a:off x="7244060" y="3951585"/>
            <a:ext cx="205116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E464C"/>
                </a:solidFill>
                <a:latin typeface="Arial" pitchFamily="34" charset="0"/>
                <a:ea typeface="Arial" pitchFamily="34" charset="-122"/>
                <a:cs typeface="Arial" pitchFamily="34" charset="-120"/>
              </a:rPr>
              <a:t>rows of mechanical results</a:t>
            </a:r>
            <a:endParaRPr lang="en-US" sz="1500" dirty="0"/>
          </a:p>
        </p:txBody>
      </p:sp>
      <p:sp>
        <p:nvSpPr>
          <p:cNvPr id="19" name="Shape 17"/>
          <p:cNvSpPr/>
          <p:nvPr/>
        </p:nvSpPr>
        <p:spPr>
          <a:xfrm>
            <a:off x="9387880" y="3126085"/>
            <a:ext cx="1991320" cy="0"/>
          </a:xfrm>
          <a:prstGeom prst="line">
            <a:avLst/>
          </a:prstGeom>
          <a:noFill/>
          <a:ln w="25400">
            <a:solidFill>
              <a:srgbClr val="B8720C"/>
            </a:solidFill>
            <a:prstDash val="solid"/>
          </a:ln>
        </p:spPr>
      </p:sp>
      <p:sp>
        <p:nvSpPr>
          <p:cNvPr id="20" name="Text 18"/>
          <p:cNvSpPr/>
          <p:nvPr/>
        </p:nvSpPr>
        <p:spPr>
          <a:xfrm>
            <a:off x="9387880" y="3291185"/>
            <a:ext cx="205106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F4E79"/>
                </a:solidFill>
                <a:latin typeface="Arial" pitchFamily="34" charset="0"/>
                <a:ea typeface="Arial" pitchFamily="34" charset="-122"/>
                <a:cs typeface="Arial" pitchFamily="34" charset="-120"/>
              </a:rPr>
              <a:t>64</a:t>
            </a:r>
            <a:endParaRPr lang="en-US" sz="4800" dirty="0"/>
          </a:p>
        </p:txBody>
      </p:sp>
      <p:sp>
        <p:nvSpPr>
          <p:cNvPr id="21" name="Text 19"/>
          <p:cNvSpPr/>
          <p:nvPr/>
        </p:nvSpPr>
        <p:spPr>
          <a:xfrm>
            <a:off x="9387880" y="3951585"/>
            <a:ext cx="205106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E464C"/>
                </a:solidFill>
                <a:latin typeface="Arial" pitchFamily="34" charset="0"/>
                <a:ea typeface="Arial" pitchFamily="34" charset="-122"/>
                <a:cs typeface="Arial" pitchFamily="34" charset="-120"/>
              </a:rPr>
              <a:t>conflicts between papers logged</a:t>
            </a:r>
            <a:endParaRPr lang="en-US" sz="1500" dirty="0"/>
          </a:p>
        </p:txBody>
      </p:sp>
      <p:sp>
        <p:nvSpPr>
          <p:cNvPr id="22" name="Text 20"/>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95959"/>
                </a:solidFill>
                <a:latin typeface="Arial" pitchFamily="34" charset="0"/>
                <a:ea typeface="Arial" pitchFamily="34" charset="-122"/>
                <a:cs typeface="Arial" pitchFamily="34" charset="-120"/>
              </a:rPr>
              <a:t>Part A · Scale · counts from the site build, 21 Oct 2026</a:t>
            </a:r>
            <a:endParaRPr lang="en-US" sz="1200" dirty="0"/>
          </a:p>
        </p:txBody>
      </p:sp>
      <p:sp>
        <p:nvSpPr>
          <p:cNvPr id="23" name="Shape 21"/>
          <p:cNvSpPr/>
          <p:nvPr/>
        </p:nvSpPr>
        <p:spPr>
          <a:xfrm>
            <a:off x="0" y="6350000"/>
            <a:ext cx="12192000" cy="12700"/>
          </a:xfrm>
          <a:prstGeom prst="rect">
            <a:avLst/>
          </a:prstGeom>
          <a:solidFill>
            <a:srgbClr val="A6A6A6"/>
          </a:solidFill>
          <a:ln/>
        </p:spPr>
      </p:sp>
      <p:sp>
        <p:nvSpPr>
          <p:cNvPr id="24" name="Text 22"/>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5" name="Text 23"/>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13</a:t>
            </a:r>
            <a:endParaRPr lang="en-US" sz="1500" dirty="0"/>
          </a:p>
        </p:txBody>
      </p:sp>
      <p:pic>
        <p:nvPicPr>
          <p:cNvPr id="26"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1.11. Step 6: what the checks actually caught</a:t>
            </a:r>
            <a:endParaRPr lang="en-US" sz="2800" dirty="0"/>
          </a:p>
        </p:txBody>
      </p:sp>
      <p:sp>
        <p:nvSpPr>
          <p:cNvPr id="7" name="Shape 5"/>
          <p:cNvSpPr/>
          <p:nvPr/>
        </p:nvSpPr>
        <p:spPr>
          <a:xfrm>
            <a:off x="815975" y="1689695"/>
            <a:ext cx="3397250" cy="3107531"/>
          </a:xfrm>
          <a:prstGeom prst="roundRect">
            <a:avLst>
              <a:gd name="adj" fmla="val 2350"/>
            </a:avLst>
          </a:prstGeom>
          <a:solidFill>
            <a:srgbClr val="F4F8FC"/>
          </a:solidFill>
          <a:ln w="6350">
            <a:solidFill>
              <a:srgbClr val="C9D7E8"/>
            </a:solidFill>
            <a:prstDash val="solid"/>
          </a:ln>
        </p:spPr>
      </p:sp>
      <p:sp>
        <p:nvSpPr>
          <p:cNvPr id="8" name="Text 6"/>
          <p:cNvSpPr/>
          <p:nvPr/>
        </p:nvSpPr>
        <p:spPr>
          <a:xfrm>
            <a:off x="1073150" y="1946870"/>
            <a:ext cx="2969387"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720C"/>
                </a:solidFill>
                <a:latin typeface="Arial" pitchFamily="34" charset="0"/>
                <a:ea typeface="Arial" pitchFamily="34" charset="-122"/>
                <a:cs typeface="Arial" pitchFamily="34" charset="-120"/>
              </a:rPr>
              <a:t>Errors inside a paper</a:t>
            </a:r>
            <a:endParaRPr lang="en-US" sz="1400" dirty="0"/>
          </a:p>
        </p:txBody>
      </p:sp>
      <p:sp>
        <p:nvSpPr>
          <p:cNvPr id="9" name="Text 7"/>
          <p:cNvSpPr/>
          <p:nvPr/>
        </p:nvSpPr>
        <p:spPr>
          <a:xfrm>
            <a:off x="1073150" y="2297311"/>
            <a:ext cx="296938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Tables that disagree</a:t>
            </a:r>
            <a:endParaRPr lang="en-US" sz="1800" dirty="0"/>
          </a:p>
        </p:txBody>
      </p:sp>
      <p:sp>
        <p:nvSpPr>
          <p:cNvPr id="10" name="Text 8"/>
          <p:cNvSpPr/>
          <p:nvPr/>
        </p:nvSpPr>
        <p:spPr>
          <a:xfrm>
            <a:off x="1073150" y="2673152"/>
            <a:ext cx="2969387"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Ye et al. 2021 list beam depths 40/70/100 mm in one table and 40/100/150 mm in another. Back-calculating strength from peak load supports 40/100/150.</a:t>
            </a:r>
            <a:endParaRPr lang="en-US" sz="1500" dirty="0"/>
          </a:p>
        </p:txBody>
      </p:sp>
      <p:sp>
        <p:nvSpPr>
          <p:cNvPr id="11" name="Shape 9"/>
          <p:cNvSpPr/>
          <p:nvPr/>
        </p:nvSpPr>
        <p:spPr>
          <a:xfrm>
            <a:off x="4397375" y="1689695"/>
            <a:ext cx="3397250" cy="3107531"/>
          </a:xfrm>
          <a:prstGeom prst="roundRect">
            <a:avLst>
              <a:gd name="adj" fmla="val 2350"/>
            </a:avLst>
          </a:prstGeom>
          <a:solidFill>
            <a:srgbClr val="F4F8FC"/>
          </a:solidFill>
          <a:ln w="6350">
            <a:solidFill>
              <a:srgbClr val="C9D7E8"/>
            </a:solidFill>
            <a:prstDash val="solid"/>
          </a:ln>
        </p:spPr>
      </p:sp>
      <p:sp>
        <p:nvSpPr>
          <p:cNvPr id="12" name="Text 10"/>
          <p:cNvSpPr/>
          <p:nvPr/>
        </p:nvSpPr>
        <p:spPr>
          <a:xfrm>
            <a:off x="4654550" y="1946870"/>
            <a:ext cx="2969387"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720C"/>
                </a:solidFill>
                <a:latin typeface="Arial" pitchFamily="34" charset="0"/>
                <a:ea typeface="Arial" pitchFamily="34" charset="-122"/>
                <a:cs typeface="Arial" pitchFamily="34" charset="-120"/>
              </a:rPr>
              <a:t>Review vs primary paper</a:t>
            </a:r>
            <a:endParaRPr lang="en-US" sz="1400" dirty="0"/>
          </a:p>
        </p:txBody>
      </p:sp>
      <p:sp>
        <p:nvSpPr>
          <p:cNvPr id="13" name="Text 11"/>
          <p:cNvSpPr/>
          <p:nvPr/>
        </p:nvSpPr>
        <p:spPr>
          <a:xfrm>
            <a:off x="4654550" y="2297311"/>
            <a:ext cx="2969387"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Second-hand numbers drift</a:t>
            </a:r>
            <a:endParaRPr lang="en-US" sz="1800" dirty="0"/>
          </a:p>
        </p:txBody>
      </p:sp>
      <p:sp>
        <p:nvSpPr>
          <p:cNvPr id="14" name="Text 12"/>
          <p:cNvSpPr/>
          <p:nvPr/>
        </p:nvSpPr>
        <p:spPr>
          <a:xfrm>
            <a:off x="4654550" y="2947392"/>
            <a:ext cx="2969387"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A review quotes about 10⁻⁵ m/s for cracked reinforced mortar. The primary paper (Lepech &amp; Li 2009) shows that is at 300 µm; at about 500 µm it is 4.46 × 10⁻⁴ m/s.</a:t>
            </a:r>
            <a:endParaRPr lang="en-US" sz="1500" dirty="0"/>
          </a:p>
        </p:txBody>
      </p:sp>
      <p:sp>
        <p:nvSpPr>
          <p:cNvPr id="15" name="Shape 13"/>
          <p:cNvSpPr/>
          <p:nvPr/>
        </p:nvSpPr>
        <p:spPr>
          <a:xfrm>
            <a:off x="7978775" y="1689695"/>
            <a:ext cx="3397250" cy="3107531"/>
          </a:xfrm>
          <a:prstGeom prst="roundRect">
            <a:avLst>
              <a:gd name="adj" fmla="val 2350"/>
            </a:avLst>
          </a:prstGeom>
          <a:solidFill>
            <a:srgbClr val="F4F8FC"/>
          </a:solidFill>
          <a:ln w="6350">
            <a:solidFill>
              <a:srgbClr val="C9D7E8"/>
            </a:solidFill>
            <a:prstDash val="solid"/>
          </a:ln>
        </p:spPr>
      </p:sp>
      <p:sp>
        <p:nvSpPr>
          <p:cNvPr id="16" name="Text 14"/>
          <p:cNvSpPr/>
          <p:nvPr/>
        </p:nvSpPr>
        <p:spPr>
          <a:xfrm>
            <a:off x="8235950" y="1946870"/>
            <a:ext cx="2969387"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720C"/>
                </a:solidFill>
                <a:latin typeface="Arial" pitchFamily="34" charset="0"/>
                <a:ea typeface="Arial" pitchFamily="34" charset="-122"/>
                <a:cs typeface="Arial" pitchFamily="34" charset="-120"/>
              </a:rPr>
              <a:t>Terminology traps</a:t>
            </a:r>
            <a:endParaRPr lang="en-US" sz="1400" dirty="0"/>
          </a:p>
        </p:txBody>
      </p:sp>
      <p:sp>
        <p:nvSpPr>
          <p:cNvPr id="17" name="Text 15"/>
          <p:cNvSpPr/>
          <p:nvPr/>
        </p:nvSpPr>
        <p:spPr>
          <a:xfrm>
            <a:off x="8235950" y="2297311"/>
            <a:ext cx="296938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One name, four materials</a:t>
            </a:r>
            <a:endParaRPr lang="en-US" sz="1800" dirty="0"/>
          </a:p>
        </p:txBody>
      </p:sp>
      <p:sp>
        <p:nvSpPr>
          <p:cNvPr id="18" name="Text 16"/>
          <p:cNvSpPr/>
          <p:nvPr/>
        </p:nvSpPr>
        <p:spPr>
          <a:xfrm>
            <a:off x="8235950" y="2673152"/>
            <a:ext cx="2969387" cy="18923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“HSHDC” means a 166 MPa heat-cured composite in Michigan, roughly 100 MPa ambient-cured ones in Xi’an and Guangzhou, and a ≈122–123 MPa steel + PE hybrid at Korea Univ.</a:t>
            </a:r>
            <a:endParaRPr lang="en-US" sz="1500" dirty="0"/>
          </a:p>
        </p:txBody>
      </p:sp>
      <p:sp>
        <p:nvSpPr>
          <p:cNvPr id="19" name="Text 17"/>
          <p:cNvSpPr/>
          <p:nvPr/>
        </p:nvSpPr>
        <p:spPr>
          <a:xfrm>
            <a:off x="812800" y="5105202"/>
            <a:ext cx="11379200" cy="319980"/>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Every flagged item lands on the gaps page or in a source note’s “to verify” list, for me to check against the PDF.</a:t>
            </a:r>
            <a:endParaRPr lang="en-US" sz="1600" dirty="0"/>
          </a:p>
        </p:txBody>
      </p:sp>
      <p:sp>
        <p:nvSpPr>
          <p:cNvPr id="20" name="Text 18"/>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Quality control · sources: ye2021, ma2021, lepech2009, ranade2017, yang2024, su2023, yuan2020</a:t>
            </a:r>
            <a:endParaRPr lang="en-US" sz="1200" dirty="0"/>
          </a:p>
        </p:txBody>
      </p:sp>
      <p:sp>
        <p:nvSpPr>
          <p:cNvPr id="21" name="Shape 19"/>
          <p:cNvSpPr/>
          <p:nvPr/>
        </p:nvSpPr>
        <p:spPr>
          <a:xfrm>
            <a:off x="0" y="6350000"/>
            <a:ext cx="12192000" cy="12700"/>
          </a:xfrm>
          <a:prstGeom prst="rect">
            <a:avLst/>
          </a:prstGeom>
          <a:solidFill>
            <a:srgbClr val="A6A6A6"/>
          </a:solidFill>
          <a:ln/>
        </p:spPr>
      </p:sp>
      <p:sp>
        <p:nvSpPr>
          <p:cNvPr id="22" name="Text 20"/>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3" name="Text 21"/>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14</a:t>
            </a:r>
            <a:endParaRPr lang="en-US" sz="1500" dirty="0"/>
          </a:p>
        </p:txBody>
      </p:sp>
      <p:pic>
        <p:nvPicPr>
          <p:cNvPr id="24"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1.12. Step 7: publish with one script and one push</a:t>
            </a:r>
            <a:endParaRPr lang="en-US" sz="2800" dirty="0"/>
          </a:p>
        </p:txBody>
      </p:sp>
      <p:sp>
        <p:nvSpPr>
          <p:cNvPr id="7" name="Text 5"/>
          <p:cNvSpPr/>
          <p:nvPr/>
        </p:nvSpPr>
        <p:spPr>
          <a:xfrm>
            <a:off x="812800" y="1635720"/>
            <a:ext cx="1163538" cy="375841"/>
          </a:xfrm>
          <a:prstGeom prst="roundRect">
            <a:avLst>
              <a:gd name="adj" fmla="val 10137"/>
            </a:avLst>
          </a:prstGeom>
          <a:solidFill>
            <a:srgbClr val="EEF3F9"/>
          </a:solidFill>
          <a:ln/>
        </p:spPr>
        <p:txBody>
          <a:bodyPr wrap="none" lIns="0" tIns="0" rIns="0" bIns="0" rtlCol="0" anchor="ctr">
            <a:normAutofit/>
          </a:bodyPr>
          <a:lstStyle/>
          <a:p>
            <a:pPr algn="ctr" indent="0" marL="0">
              <a:lnSpc>
                <a:spcPts val="1960"/>
              </a:lnSpc>
              <a:buNone/>
            </a:pPr>
            <a:r>
              <a:rPr lang="en-US" sz="1400" dirty="0">
                <a:solidFill>
                  <a:srgbClr val="22272B"/>
                </a:solidFill>
                <a:latin typeface="Courier New" pitchFamily="49" charset="0"/>
                <a:ea typeface="Courier New" pitchFamily="49" charset="-122"/>
                <a:cs typeface="Courier New" pitchFamily="49" charset="-120"/>
              </a:rPr>
              <a:t>wiki/*.md</a:t>
            </a:r>
            <a:endParaRPr lang="en-US" sz="1400" dirty="0"/>
          </a:p>
        </p:txBody>
      </p:sp>
      <p:pic>
        <p:nvPicPr>
          <p:cNvPr id="8" name="Image 0" descr="arrow-right">    </p:cNvPr>
          <p:cNvPicPr>
            <a:picLocks noChangeAspect="1"/>
          </p:cNvPicPr>
          <p:nvPr/>
        </p:nvPicPr>
        <p:blipFill>
          <a:blip r:embed="rId1"/>
          <a:srcRect l="0" r="0" t="0" b="0"/>
          <a:stretch/>
        </p:blipFill>
        <p:spPr>
          <a:xfrm>
            <a:off x="2077938" y="1734741"/>
            <a:ext cx="355600" cy="177800"/>
          </a:xfrm>
          <a:prstGeom prst="rect">
            <a:avLst/>
          </a:prstGeom>
        </p:spPr>
      </p:pic>
      <p:sp>
        <p:nvSpPr>
          <p:cNvPr id="9" name="Text 6"/>
          <p:cNvSpPr/>
          <p:nvPr/>
        </p:nvSpPr>
        <p:spPr>
          <a:xfrm>
            <a:off x="2535138" y="1635720"/>
            <a:ext cx="1590278" cy="375841"/>
          </a:xfrm>
          <a:prstGeom prst="roundRect">
            <a:avLst>
              <a:gd name="adj" fmla="val 10137"/>
            </a:avLst>
          </a:prstGeom>
          <a:solidFill>
            <a:srgbClr val="EEF3F9"/>
          </a:solidFill>
          <a:ln/>
        </p:spPr>
        <p:txBody>
          <a:bodyPr wrap="none" lIns="0" tIns="0" rIns="0" bIns="0" rtlCol="0" anchor="ctr">
            <a:normAutofit/>
          </a:bodyPr>
          <a:lstStyle/>
          <a:p>
            <a:pPr algn="ctr" indent="0" marL="0">
              <a:lnSpc>
                <a:spcPts val="1960"/>
              </a:lnSpc>
              <a:buNone/>
            </a:pPr>
            <a:r>
              <a:rPr lang="en-US" sz="1400" dirty="0">
                <a:solidFill>
                  <a:srgbClr val="22272B"/>
                </a:solidFill>
                <a:latin typeface="Courier New" pitchFamily="49" charset="0"/>
                <a:ea typeface="Courier New" pitchFamily="49" charset="-122"/>
                <a:cs typeface="Courier New" pitchFamily="49" charset="-120"/>
              </a:rPr>
              <a:t>build_site.py</a:t>
            </a:r>
            <a:endParaRPr lang="en-US" sz="1400" dirty="0"/>
          </a:p>
        </p:txBody>
      </p:sp>
      <p:pic>
        <p:nvPicPr>
          <p:cNvPr id="10" name="Image 1" descr="arrow-right">    </p:cNvPr>
          <p:cNvPicPr>
            <a:picLocks noChangeAspect="1"/>
          </p:cNvPicPr>
          <p:nvPr/>
        </p:nvPicPr>
        <p:blipFill>
          <a:blip r:embed="rId2"/>
          <a:srcRect l="0" r="0" t="0" b="0"/>
          <a:stretch/>
        </p:blipFill>
        <p:spPr>
          <a:xfrm>
            <a:off x="812800" y="2262981"/>
            <a:ext cx="355600" cy="177800"/>
          </a:xfrm>
          <a:prstGeom prst="rect">
            <a:avLst/>
          </a:prstGeom>
        </p:spPr>
      </p:pic>
      <p:sp>
        <p:nvSpPr>
          <p:cNvPr id="11" name="Text 7"/>
          <p:cNvSpPr/>
          <p:nvPr/>
        </p:nvSpPr>
        <p:spPr>
          <a:xfrm>
            <a:off x="1270000" y="2163961"/>
            <a:ext cx="1803698" cy="375841"/>
          </a:xfrm>
          <a:prstGeom prst="roundRect">
            <a:avLst>
              <a:gd name="adj" fmla="val 10137"/>
            </a:avLst>
          </a:prstGeom>
          <a:solidFill>
            <a:srgbClr val="EEF3F9"/>
          </a:solidFill>
          <a:ln/>
        </p:spPr>
        <p:txBody>
          <a:bodyPr wrap="none" lIns="0" tIns="0" rIns="0" bIns="0" rtlCol="0" anchor="ctr">
            <a:normAutofit/>
          </a:bodyPr>
          <a:lstStyle/>
          <a:p>
            <a:pPr algn="ctr" indent="0" marL="0">
              <a:lnSpc>
                <a:spcPts val="1960"/>
              </a:lnSpc>
              <a:buNone/>
            </a:pPr>
            <a:r>
              <a:rPr lang="en-US" sz="1400" dirty="0">
                <a:solidFill>
                  <a:srgbClr val="22272B"/>
                </a:solidFill>
                <a:latin typeface="Courier New" pitchFamily="49" charset="0"/>
                <a:ea typeface="Courier New" pitchFamily="49" charset="-122"/>
                <a:cs typeface="Courier New" pitchFamily="49" charset="-120"/>
              </a:rPr>
              <a:t>docs/index.html</a:t>
            </a:r>
            <a:endParaRPr lang="en-US" sz="1400" dirty="0"/>
          </a:p>
        </p:txBody>
      </p:sp>
      <p:pic>
        <p:nvPicPr>
          <p:cNvPr id="12" name="Image 2" descr="arrow-right">    </p:cNvPr>
          <p:cNvPicPr>
            <a:picLocks noChangeAspect="1"/>
          </p:cNvPicPr>
          <p:nvPr/>
        </p:nvPicPr>
        <p:blipFill>
          <a:blip r:embed="rId3"/>
          <a:srcRect l="0" r="0" t="0" b="0"/>
          <a:stretch/>
        </p:blipFill>
        <p:spPr>
          <a:xfrm>
            <a:off x="3175298" y="2262981"/>
            <a:ext cx="355600" cy="177800"/>
          </a:xfrm>
          <a:prstGeom prst="rect">
            <a:avLst/>
          </a:prstGeom>
        </p:spPr>
      </p:pic>
      <p:sp>
        <p:nvSpPr>
          <p:cNvPr id="13" name="Text 8"/>
          <p:cNvSpPr/>
          <p:nvPr/>
        </p:nvSpPr>
        <p:spPr>
          <a:xfrm>
            <a:off x="3632498" y="2163961"/>
            <a:ext cx="1483618" cy="375841"/>
          </a:xfrm>
          <a:prstGeom prst="roundRect">
            <a:avLst>
              <a:gd name="adj" fmla="val 10137"/>
            </a:avLst>
          </a:prstGeom>
          <a:solidFill>
            <a:srgbClr val="EEF3F9"/>
          </a:solidFill>
          <a:ln/>
        </p:spPr>
        <p:txBody>
          <a:bodyPr wrap="none" lIns="0" tIns="0" rIns="0" bIns="0" rtlCol="0" anchor="ctr">
            <a:normAutofit/>
          </a:bodyPr>
          <a:lstStyle/>
          <a:p>
            <a:pPr algn="ctr" indent="0" marL="0">
              <a:lnSpc>
                <a:spcPts val="1960"/>
              </a:lnSpc>
              <a:buNone/>
            </a:pPr>
            <a:r>
              <a:rPr lang="en-US" sz="1400" dirty="0">
                <a:solidFill>
                  <a:srgbClr val="22272B"/>
                </a:solidFill>
                <a:latin typeface="Courier New" pitchFamily="49" charset="0"/>
                <a:ea typeface="Courier New" pitchFamily="49" charset="-122"/>
                <a:cs typeface="Courier New" pitchFamily="49" charset="-120"/>
              </a:rPr>
              <a:t>GitHub Pages</a:t>
            </a:r>
            <a:endParaRPr lang="en-US" sz="1400" dirty="0"/>
          </a:p>
        </p:txBody>
      </p:sp>
      <p:sp>
        <p:nvSpPr>
          <p:cNvPr id="14" name="Text 9"/>
          <p:cNvSpPr/>
          <p:nvPr/>
        </p:nvSpPr>
        <p:spPr>
          <a:xfrm>
            <a:off x="896620" y="2692202"/>
            <a:ext cx="4591558" cy="1130300"/>
          </a:xfrm>
          <a:prstGeom prst="rect">
            <a:avLst/>
          </a:prstGeom>
          <a:noFill/>
          <a:ln/>
        </p:spPr>
        <p:txBody>
          <a:bodyPr wrap="square" lIns="0" tIns="0" rIns="0" bIns="0" rtlCol="0" anchor="t">
            <a:normAutofit/>
          </a:bodyPr>
          <a:lstStyle/>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Graph, Catalog, Concepts and About views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Every note readable, links clickable</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Rebuilt after each ingest</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PDFs never uploaded (copyright)</a:t>
            </a:r>
            <a:endParaRPr lang="en-US" sz="1500" dirty="0"/>
          </a:p>
        </p:txBody>
      </p:sp>
      <p:sp>
        <p:nvSpPr>
          <p:cNvPr id="15" name="Text 10"/>
          <p:cNvSpPr/>
          <p:nvPr/>
        </p:nvSpPr>
        <p:spPr>
          <a:xfrm>
            <a:off x="812800" y="3949502"/>
            <a:ext cx="46829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4E79"/>
                </a:solidFill>
                <a:latin typeface="Arial" pitchFamily="34" charset="0"/>
                <a:ea typeface="Arial" pitchFamily="34" charset="-122"/>
                <a:cs typeface="Arial" pitchFamily="34" charset="-120"/>
              </a:rPr>
              <a:t>conslmhoang.github.io/HDC-wiki</a:t>
            </a:r>
            <a:endParaRPr lang="en-US" sz="1500" dirty="0"/>
          </a:p>
        </p:txBody>
      </p:sp>
      <p:sp>
        <p:nvSpPr>
          <p:cNvPr id="16" name="Shape 11"/>
          <p:cNvSpPr/>
          <p:nvPr/>
        </p:nvSpPr>
        <p:spPr>
          <a:xfrm>
            <a:off x="5664200" y="1635720"/>
            <a:ext cx="5715000" cy="3213100"/>
          </a:xfrm>
          <a:prstGeom prst="roundRect">
            <a:avLst>
              <a:gd name="adj" fmla="val 2372"/>
            </a:avLst>
          </a:prstGeom>
          <a:solidFill>
            <a:srgbClr val="EEF3F9"/>
          </a:solidFill>
          <a:ln/>
        </p:spPr>
      </p:sp>
      <p:pic>
        <p:nvPicPr>
          <p:cNvPr id="17" name="Image 3" descr="Website screenshot: the HSHDC note with a table comparing three lineages">    </p:cNvPr>
          <p:cNvPicPr>
            <a:picLocks noChangeAspect="1"/>
          </p:cNvPicPr>
          <p:nvPr/>
        </p:nvPicPr>
        <p:blipFill>
          <a:blip r:embed="rId4"/>
          <a:srcRect l="-112" r="-112" t="0" b="0"/>
          <a:stretch/>
        </p:blipFill>
        <p:spPr>
          <a:xfrm>
            <a:off x="5670550" y="1642070"/>
            <a:ext cx="5702300" cy="3200400"/>
          </a:xfrm>
          <a:prstGeom prst="roundRect">
            <a:avLst>
              <a:gd name="adj" fmla="val 2183"/>
            </a:avLst>
          </a:prstGeom>
        </p:spPr>
      </p:pic>
      <p:sp>
        <p:nvSpPr>
          <p:cNvPr id="18" name="Shape 12"/>
          <p:cNvSpPr/>
          <p:nvPr/>
        </p:nvSpPr>
        <p:spPr>
          <a:xfrm>
            <a:off x="5667375" y="1638895"/>
            <a:ext cx="5708650" cy="3206750"/>
          </a:xfrm>
          <a:prstGeom prst="roundRect">
            <a:avLst>
              <a:gd name="adj" fmla="val 2277"/>
            </a:avLst>
          </a:prstGeom>
          <a:noFill/>
          <a:ln w="6350">
            <a:solidFill>
              <a:srgbClr val="C9D7E8"/>
            </a:solidFill>
            <a:prstDash val="solid"/>
          </a:ln>
        </p:spPr>
      </p:sp>
      <p:sp>
        <p:nvSpPr>
          <p:cNvPr id="19" name="Text 13"/>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Publishing · github.com/conslmhoang/HDC-wiki</a:t>
            </a:r>
            <a:endParaRPr lang="en-US" sz="1200" dirty="0"/>
          </a:p>
        </p:txBody>
      </p:sp>
      <p:sp>
        <p:nvSpPr>
          <p:cNvPr id="20" name="Shape 14"/>
          <p:cNvSpPr/>
          <p:nvPr/>
        </p:nvSpPr>
        <p:spPr>
          <a:xfrm>
            <a:off x="0" y="6350000"/>
            <a:ext cx="12192000" cy="12700"/>
          </a:xfrm>
          <a:prstGeom prst="rect">
            <a:avLst/>
          </a:prstGeom>
          <a:solidFill>
            <a:srgbClr val="A6A6A6"/>
          </a:solidFill>
          <a:ln/>
        </p:spPr>
      </p:sp>
      <p:sp>
        <p:nvSpPr>
          <p:cNvPr id="21" name="Text 15"/>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2" name="Text 16"/>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15</a:t>
            </a:r>
            <a:endParaRPr lang="en-US" sz="1500" dirty="0"/>
          </a:p>
        </p:txBody>
      </p:sp>
      <p:pic>
        <p:nvPicPr>
          <p:cNvPr id="23" name="Image 4" descr="">    </p:cNvPr>
          <p:cNvPicPr>
            <a:picLocks noChangeAspect="1"/>
          </p:cNvPicPr>
          <p:nvPr/>
        </p:nvPicPr>
        <p:blipFill>
          <a:blip r:embed="rId5">
            <a:alphaModFix amt="60000"/>
          </a:blip>
          <a:srcRect l="0" r="0" t="0" b="0"/>
          <a:stretch/>
        </p:blipFill>
        <p:spPr>
          <a:xfrm>
            <a:off x="11468100" y="6400800"/>
            <a:ext cx="431800" cy="4318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1.13. Step 7: live demo 1 — exploring the graph</a:t>
            </a:r>
            <a:endParaRPr lang="en-US" sz="2800" dirty="0"/>
          </a:p>
        </p:txBody>
      </p:sp>
      <p:sp>
        <p:nvSpPr>
          <p:cNvPr id="7" name="Shape 5"/>
          <p:cNvSpPr/>
          <p:nvPr/>
        </p:nvSpPr>
        <p:spPr>
          <a:xfrm>
            <a:off x="812800" y="1635720"/>
            <a:ext cx="6350000" cy="3575050"/>
          </a:xfrm>
          <a:prstGeom prst="roundRect">
            <a:avLst>
              <a:gd name="adj" fmla="val 2131"/>
            </a:avLst>
          </a:prstGeom>
          <a:solidFill>
            <a:srgbClr val="F4F5F2"/>
          </a:solidFill>
          <a:ln/>
        </p:spPr>
      </p:sp>
      <p:pic>
        <p:nvPicPr>
          <p:cNvPr id="8" name="Image 0" descr="Website graph view: 67 notes coloured by type, papers labelled">    </p:cNvPr>
          <p:cNvPicPr>
            <a:picLocks noChangeAspect="1"/>
          </p:cNvPicPr>
          <p:nvPr/>
        </p:nvPicPr>
        <p:blipFill>
          <a:blip r:embed="rId1"/>
          <a:srcRect l="-33" r="-33" t="0" b="0"/>
          <a:stretch/>
        </p:blipFill>
        <p:spPr>
          <a:xfrm>
            <a:off x="819150" y="1642070"/>
            <a:ext cx="6337300" cy="3562350"/>
          </a:xfrm>
          <a:prstGeom prst="roundRect">
            <a:avLst>
              <a:gd name="adj" fmla="val 1961"/>
            </a:avLst>
          </a:prstGeom>
        </p:spPr>
      </p:pic>
      <p:sp>
        <p:nvSpPr>
          <p:cNvPr id="9" name="Shape 6"/>
          <p:cNvSpPr/>
          <p:nvPr/>
        </p:nvSpPr>
        <p:spPr>
          <a:xfrm>
            <a:off x="815975" y="1638895"/>
            <a:ext cx="6343650" cy="3568700"/>
          </a:xfrm>
          <a:prstGeom prst="roundRect">
            <a:avLst>
              <a:gd name="adj" fmla="val 2046"/>
            </a:avLst>
          </a:prstGeom>
          <a:noFill/>
          <a:ln w="6350">
            <a:solidFill>
              <a:srgbClr val="C9D7E8"/>
            </a:solidFill>
            <a:prstDash val="solid"/>
          </a:ln>
        </p:spPr>
      </p:sp>
      <p:sp>
        <p:nvSpPr>
          <p:cNvPr id="10" name="Text 7"/>
          <p:cNvSpPr/>
          <p:nvPr/>
        </p:nvSpPr>
        <p:spPr>
          <a:xfrm>
            <a:off x="7518400" y="1635720"/>
            <a:ext cx="397662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What I will show</a:t>
            </a:r>
            <a:endParaRPr lang="en-US" sz="1800" dirty="0"/>
          </a:p>
        </p:txBody>
      </p:sp>
      <p:sp>
        <p:nvSpPr>
          <p:cNvPr id="11" name="Text 8"/>
          <p:cNvSpPr/>
          <p:nvPr/>
        </p:nvSpPr>
        <p:spPr>
          <a:xfrm>
            <a:off x="7560568" y="2036961"/>
            <a:ext cx="3926836" cy="1130300"/>
          </a:xfrm>
          <a:prstGeom prst="rect">
            <a:avLst/>
          </a:prstGeom>
          <a:noFill/>
          <a:ln/>
        </p:spPr>
        <p:txBody>
          <a:bodyPr wrap="square" lIns="0" tIns="0" rIns="0" bIns="0" rtlCol="0" anchor="t">
            <a:normAutofit/>
          </a:bodyPr>
          <a:lstStyle/>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Filter to papers only</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Select Li 2002: its 12 linked notes light up</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Open the PVA fiber note</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Catalog view with DOIs</a:t>
            </a:r>
            <a:endParaRPr lang="en-US" sz="1500" dirty="0"/>
          </a:p>
        </p:txBody>
      </p:sp>
      <p:sp>
        <p:nvSpPr>
          <p:cNvPr id="12" name="Text 9"/>
          <p:cNvSpPr/>
          <p:nvPr/>
        </p:nvSpPr>
        <p:spPr>
          <a:xfrm>
            <a:off x="7518400" y="3268861"/>
            <a:ext cx="397662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B7378"/>
                </a:solidFill>
                <a:latin typeface="Arial" pitchFamily="34" charset="0"/>
                <a:ea typeface="Arial" pitchFamily="34" charset="-122"/>
                <a:cs typeface="Arial" pitchFamily="34" charset="-120"/>
              </a:rPr>
              <a:t>Backup: this screenshot, if the network fails.</a:t>
            </a:r>
            <a:endParaRPr lang="en-US" sz="1300" dirty="0"/>
          </a:p>
        </p:txBody>
      </p:sp>
      <p:sp>
        <p:nvSpPr>
          <p:cNvPr id="13" name="Text 10"/>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Demo · conslmhoang.github.io/HDC-wiki</a:t>
            </a:r>
            <a:endParaRPr lang="en-US" sz="1200" dirty="0"/>
          </a:p>
        </p:txBody>
      </p:sp>
      <p:sp>
        <p:nvSpPr>
          <p:cNvPr id="14" name="Shape 11"/>
          <p:cNvSpPr/>
          <p:nvPr/>
        </p:nvSpPr>
        <p:spPr>
          <a:xfrm>
            <a:off x="0" y="6350000"/>
            <a:ext cx="12192000" cy="12700"/>
          </a:xfrm>
          <a:prstGeom prst="rect">
            <a:avLst/>
          </a:prstGeom>
          <a:solidFill>
            <a:srgbClr val="A6A6A6"/>
          </a:solidFill>
          <a:ln/>
        </p:spPr>
      </p:sp>
      <p:sp>
        <p:nvSpPr>
          <p:cNvPr id="15" name="Text 12"/>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6" name="Text 13"/>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16</a:t>
            </a:r>
            <a:endParaRPr lang="en-US" sz="1500" dirty="0"/>
          </a:p>
        </p:txBody>
      </p:sp>
      <p:pic>
        <p:nvPicPr>
          <p:cNvPr id="17" name="Image 1" descr="">    </p:cNvPr>
          <p:cNvPicPr>
            <a:picLocks noChangeAspect="1"/>
          </p:cNvPicPr>
          <p:nvPr/>
        </p:nvPicPr>
        <p:blipFill>
          <a:blip r:embed="rId2">
            <a:alphaModFix amt="60000"/>
          </a:blip>
          <a:srcRect l="0" r="0" t="0" b="0"/>
          <a:stretch/>
        </p:blipFill>
        <p:spPr>
          <a:xfrm>
            <a:off x="11468100" y="6400800"/>
            <a:ext cx="431800" cy="431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1.14. Step 7: live demo 2 — asking the wiki a question</a:t>
            </a:r>
            <a:endParaRPr lang="en-US" sz="2800" dirty="0"/>
          </a:p>
        </p:txBody>
      </p:sp>
      <p:sp>
        <p:nvSpPr>
          <p:cNvPr id="7" name="Text 5"/>
          <p:cNvSpPr/>
          <p:nvPr/>
        </p:nvSpPr>
        <p:spPr>
          <a:xfrm>
            <a:off x="812800" y="1610320"/>
            <a:ext cx="8255000" cy="538460"/>
          </a:xfrm>
          <a:prstGeom prst="roundRect">
            <a:avLst>
              <a:gd name="adj" fmla="val 14151"/>
            </a:avLst>
          </a:prstGeom>
          <a:solidFill>
            <a:srgbClr val="1F4E79"/>
          </a:solidFill>
          <a:ln/>
        </p:spPr>
        <p:txBody>
          <a:bodyPr wrap="square" lIns="155482" tIns="104682" rIns="0" bIns="79282" rtlCol="0" anchor="t">
            <a:normAutofit/>
          </a:bodyPr>
          <a:lstStyle/>
          <a:p>
            <a:pPr algn="l" indent="0" marL="0">
              <a:lnSpc>
                <a:spcPts val="2240"/>
              </a:lnSpc>
              <a:buNone/>
            </a:pPr>
            <a:r>
              <a:rPr lang="en-US" sz="1600" b="1" dirty="0">
                <a:solidFill>
                  <a:srgbClr val="F4F5F2"/>
                </a:solidFill>
                <a:latin typeface="Arial" pitchFamily="34" charset="0"/>
                <a:ea typeface="Arial" pitchFamily="34" charset="-122"/>
                <a:cs typeface="Arial" pitchFamily="34" charset="-120"/>
              </a:rPr>
              <a:t>Why does PVA fiber work in ECC but fail in high-strength HDC?</a:t>
            </a:r>
            <a:endParaRPr lang="en-US" sz="1600" dirty="0"/>
          </a:p>
        </p:txBody>
      </p:sp>
      <p:sp>
        <p:nvSpPr>
          <p:cNvPr id="8" name="Shape 6"/>
          <p:cNvSpPr/>
          <p:nvPr/>
        </p:nvSpPr>
        <p:spPr>
          <a:xfrm>
            <a:off x="815975" y="2380555"/>
            <a:ext cx="10560050" cy="2120900"/>
          </a:xfrm>
          <a:prstGeom prst="roundRect">
            <a:avLst>
              <a:gd name="adj" fmla="val 3443"/>
            </a:avLst>
          </a:prstGeom>
          <a:solidFill>
            <a:srgbClr val="F4F8FC"/>
          </a:solidFill>
          <a:ln w="6350">
            <a:solidFill>
              <a:srgbClr val="C9D7E8"/>
            </a:solidFill>
            <a:prstDash val="solid"/>
          </a:ln>
        </p:spPr>
      </p:sp>
      <p:sp>
        <p:nvSpPr>
          <p:cNvPr id="9" name="Text 7"/>
          <p:cNvSpPr/>
          <p:nvPr/>
        </p:nvSpPr>
        <p:spPr>
          <a:xfrm>
            <a:off x="1156970" y="2612330"/>
            <a:ext cx="10255631" cy="1682750"/>
          </a:xfrm>
          <a:prstGeom prst="rect">
            <a:avLst/>
          </a:prstGeom>
          <a:noFill/>
          <a:ln/>
        </p:spPr>
        <p:txBody>
          <a:bodyPr wrap="square" lIns="0" tIns="0" rIns="0" bIns="0" rtlCol="0" anchor="t">
            <a:normAutofit/>
          </a:bodyPr>
          <a:lstStyle/>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PVA is hydrophilic and bonds chemically, so untreated fibers rupture. Oil coating lowers the bond and raises strain capacity from 0.99% to 4.88%. </a:t>
            </a:r>
            <a:r>
              <a:rPr lang="en-US" sz="1500" dirty="0">
                <a:solidFill>
                  <a:srgbClr val="1F4E79"/>
                </a:solidFill>
                <a:latin typeface="Arial" pitchFamily="34" charset="0"/>
                <a:ea typeface="Arial" pitchFamily="34" charset="-122"/>
                <a:cs typeface="Arial" pitchFamily="34" charset="-120"/>
              </a:rPr>
              <a:t>[li2002, Table 4]</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In a dense W/B 0.16 matrix, PVA-HSHDC reaches only 0.23–0.30%, while PE reaches up to 6.48%. </a:t>
            </a:r>
            <a:r>
              <a:rPr lang="en-US" sz="1500" dirty="0">
                <a:solidFill>
                  <a:srgbClr val="1F4E79"/>
                </a:solidFill>
                <a:latin typeface="Arial" pitchFamily="34" charset="0"/>
                <a:ea typeface="Arial" pitchFamily="34" charset="-122"/>
                <a:cs typeface="Arial" pitchFamily="34" charset="-120"/>
              </a:rPr>
              <a:t>[yang2024, Table 6]</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Reviews of high-strength composites call PE fiber “mandatory” because PVA bonds too strongly. </a:t>
            </a:r>
            <a:r>
              <a:rPr lang="en-US" sz="1500" dirty="0">
                <a:solidFill>
                  <a:srgbClr val="1F4E79"/>
                </a:solidFill>
                <a:latin typeface="Arial" pitchFamily="34" charset="0"/>
                <a:ea typeface="Arial" pitchFamily="34" charset="-122"/>
                <a:cs typeface="Arial" pitchFamily="34" charset="-120"/>
              </a:rPr>
              <a:t>[zhang2022, p. 4, 16]</a:t>
            </a:r>
            <a:endParaRPr lang="en-US" sz="1500" dirty="0"/>
          </a:p>
        </p:txBody>
      </p:sp>
      <p:sp>
        <p:nvSpPr>
          <p:cNvPr id="10" name="Text 8"/>
          <p:cNvSpPr/>
          <p:nvPr/>
        </p:nvSpPr>
        <p:spPr>
          <a:xfrm>
            <a:off x="812800" y="473323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B7378"/>
                </a:solidFill>
                <a:latin typeface="Arial" pitchFamily="34" charset="0"/>
                <a:ea typeface="Arial" pitchFamily="34" charset="-122"/>
                <a:cs typeface="Arial" pitchFamily="34" charset="-120"/>
              </a:rPr>
              <a:t>Backup answer above. Live: the same question typed into Claude Code; it reads index.md, then the PVA, interface and HSHDC notes.</a:t>
            </a:r>
            <a:endParaRPr lang="en-US" sz="1300" dirty="0"/>
          </a:p>
        </p:txBody>
      </p:sp>
      <p:sp>
        <p:nvSpPr>
          <p:cNvPr id="11" name="Text 9"/>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Demo · query operation (CLAUDE.md §5.2)</a:t>
            </a:r>
            <a:endParaRPr lang="en-US" sz="1200" dirty="0"/>
          </a:p>
        </p:txBody>
      </p:sp>
      <p:sp>
        <p:nvSpPr>
          <p:cNvPr id="12" name="Shape 10"/>
          <p:cNvSpPr/>
          <p:nvPr/>
        </p:nvSpPr>
        <p:spPr>
          <a:xfrm>
            <a:off x="0" y="6350000"/>
            <a:ext cx="12192000" cy="12700"/>
          </a:xfrm>
          <a:prstGeom prst="rect">
            <a:avLst/>
          </a:prstGeom>
          <a:solidFill>
            <a:srgbClr val="A6A6A6"/>
          </a:solidFill>
          <a:ln/>
        </p:spPr>
      </p:sp>
      <p:sp>
        <p:nvSpPr>
          <p:cNvPr id="13" name="Text 11"/>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4" name="Text 12"/>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17</a:t>
            </a:r>
            <a:endParaRPr lang="en-US" sz="1500" dirty="0"/>
          </a:p>
        </p:txBody>
      </p:sp>
      <p:pic>
        <p:nvPicPr>
          <p:cNvPr id="15"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A: LLM wiki setup</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1.15. What worked, and what still needs a human</a:t>
            </a:r>
            <a:endParaRPr lang="en-US" sz="2800" dirty="0"/>
          </a:p>
        </p:txBody>
      </p:sp>
      <p:sp>
        <p:nvSpPr>
          <p:cNvPr id="7" name="Shape 5"/>
          <p:cNvSpPr/>
          <p:nvPr/>
        </p:nvSpPr>
        <p:spPr>
          <a:xfrm>
            <a:off x="819150" y="1591270"/>
            <a:ext cx="5168900" cy="2660650"/>
          </a:xfrm>
          <a:prstGeom prst="roundRect">
            <a:avLst>
              <a:gd name="adj" fmla="val 2625"/>
            </a:avLst>
          </a:prstGeom>
          <a:solidFill>
            <a:srgbClr val="F4F8FC"/>
          </a:solidFill>
          <a:ln w="12700">
            <a:solidFill>
              <a:srgbClr val="0070C0"/>
            </a:solidFill>
            <a:prstDash val="solid"/>
          </a:ln>
        </p:spPr>
      </p:sp>
      <p:sp>
        <p:nvSpPr>
          <p:cNvPr id="8" name="Text 6"/>
          <p:cNvSpPr/>
          <p:nvPr/>
        </p:nvSpPr>
        <p:spPr>
          <a:xfrm>
            <a:off x="1104900" y="1877020"/>
            <a:ext cx="473532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F4E79"/>
                </a:solidFill>
                <a:latin typeface="Arial" pitchFamily="34" charset="0"/>
                <a:ea typeface="Arial" pitchFamily="34" charset="-122"/>
                <a:cs typeface="Arial" pitchFamily="34" charset="-120"/>
              </a:rPr>
              <a:t>Worked well</a:t>
            </a:r>
            <a:endParaRPr lang="en-US" sz="2000" dirty="0"/>
          </a:p>
        </p:txBody>
      </p:sp>
      <p:sp>
        <p:nvSpPr>
          <p:cNvPr id="9" name="Text 7"/>
          <p:cNvSpPr/>
          <p:nvPr/>
        </p:nvSpPr>
        <p:spPr>
          <a:xfrm>
            <a:off x="1188720" y="2308820"/>
            <a:ext cx="4643882" cy="1682750"/>
          </a:xfrm>
          <a:prstGeom prst="rect">
            <a:avLst/>
          </a:prstGeom>
          <a:noFill/>
          <a:ln/>
        </p:spPr>
        <p:txBody>
          <a:bodyPr wrap="square" lIns="0" tIns="0" rIns="0" bIns="0" rtlCol="0" anchor="t">
            <a:normAutofit/>
          </a:bodyPr>
          <a:lstStyle/>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Knowledge compounds: each paper improves old notes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Conflicts surface automatically</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Uniform structure across every paper</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Batch ingest with parallel agents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Git history makes every change auditable</a:t>
            </a:r>
            <a:endParaRPr lang="en-US" sz="1500" dirty="0"/>
          </a:p>
        </p:txBody>
      </p:sp>
      <p:sp>
        <p:nvSpPr>
          <p:cNvPr id="10" name="Shape 8"/>
          <p:cNvSpPr/>
          <p:nvPr/>
        </p:nvSpPr>
        <p:spPr>
          <a:xfrm>
            <a:off x="6203950" y="1591270"/>
            <a:ext cx="5168900" cy="2660650"/>
          </a:xfrm>
          <a:prstGeom prst="roundRect">
            <a:avLst>
              <a:gd name="adj" fmla="val 2625"/>
            </a:avLst>
          </a:prstGeom>
          <a:solidFill>
            <a:srgbClr val="F4F8FC"/>
          </a:solidFill>
          <a:ln w="12700">
            <a:solidFill>
              <a:srgbClr val="B8720C"/>
            </a:solidFill>
            <a:prstDash val="solid"/>
          </a:ln>
        </p:spPr>
      </p:sp>
      <p:sp>
        <p:nvSpPr>
          <p:cNvPr id="11" name="Text 9"/>
          <p:cNvSpPr/>
          <p:nvPr/>
        </p:nvSpPr>
        <p:spPr>
          <a:xfrm>
            <a:off x="6489700" y="1877020"/>
            <a:ext cx="473532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8A5509"/>
                </a:solidFill>
                <a:latin typeface="Arial" pitchFamily="34" charset="0"/>
                <a:ea typeface="Arial" pitchFamily="34" charset="-122"/>
                <a:cs typeface="Arial" pitchFamily="34" charset="-120"/>
              </a:rPr>
              <a:t>Needs a human</a:t>
            </a:r>
            <a:endParaRPr lang="en-US" sz="2000" dirty="0"/>
          </a:p>
        </p:txBody>
      </p:sp>
      <p:sp>
        <p:nvSpPr>
          <p:cNvPr id="12" name="Text 10"/>
          <p:cNvSpPr/>
          <p:nvPr/>
        </p:nvSpPr>
        <p:spPr>
          <a:xfrm>
            <a:off x="6573520" y="2308820"/>
            <a:ext cx="4643882" cy="1682750"/>
          </a:xfrm>
          <a:prstGeom prst="rect">
            <a:avLst/>
          </a:prstGeom>
          <a:noFill/>
          <a:ln/>
        </p:spPr>
        <p:txBody>
          <a:bodyPr wrap="square" lIns="0" tIns="0" rIns="0" bIns="0" rtlCol="0" anchor="t">
            <a:normAutofit/>
          </a:bodyPr>
          <a:lstStyle/>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Values read off figures are approximate</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Review papers give second-hand data, marked “as cited”</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Choosing and scoping the sources</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Checking every number that goes on a slide</a:t>
            </a:r>
            <a:endParaRPr lang="en-US" sz="1500" dirty="0"/>
          </a:p>
          <a:p>
            <a:pPr algn="l" marL="170180" indent="-170180">
              <a:lnSpc>
                <a:spcPts val="2175"/>
              </a:lnSpc>
              <a:buSzPct val="100000"/>
              <a:buChar char="•"/>
            </a:pPr>
            <a:r>
              <a:rPr lang="en-US" sz="1500" dirty="0">
                <a:solidFill>
                  <a:srgbClr val="3E464C"/>
                </a:solidFill>
                <a:latin typeface="Arial" pitchFamily="34" charset="0"/>
                <a:ea typeface="Arial" pitchFamily="34" charset="-122"/>
                <a:cs typeface="Arial" pitchFamily="34" charset="-120"/>
              </a:rPr>
              <a:t>Copyright: summaries public, PDFs private</a:t>
            </a:r>
            <a:endParaRPr lang="en-US" sz="1500" dirty="0"/>
          </a:p>
        </p:txBody>
      </p:sp>
      <p:sp>
        <p:nvSpPr>
          <p:cNvPr id="13" name="Shape 11"/>
          <p:cNvSpPr/>
          <p:nvPr/>
        </p:nvSpPr>
        <p:spPr>
          <a:xfrm>
            <a:off x="831850" y="4461470"/>
            <a:ext cx="0" cy="898922"/>
          </a:xfrm>
          <a:prstGeom prst="line">
            <a:avLst/>
          </a:prstGeom>
          <a:noFill/>
          <a:ln w="38100">
            <a:solidFill>
              <a:srgbClr val="0070C0"/>
            </a:solidFill>
            <a:prstDash val="solid"/>
          </a:ln>
        </p:spPr>
      </p:sp>
      <p:sp>
        <p:nvSpPr>
          <p:cNvPr id="14" name="Text 12"/>
          <p:cNvSpPr/>
          <p:nvPr/>
        </p:nvSpPr>
        <p:spPr>
          <a:xfrm>
            <a:off x="1054100" y="4512270"/>
            <a:ext cx="1063485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4E79"/>
                </a:solidFill>
                <a:latin typeface="Arial" pitchFamily="34" charset="0"/>
                <a:ea typeface="Arial" pitchFamily="34" charset="-122"/>
                <a:cs typeface="Arial" pitchFamily="34" charset="-120"/>
              </a:rPr>
              <a:t>Next: from the wiki to the review</a:t>
            </a:r>
            <a:endParaRPr lang="en-US" sz="1400" dirty="0"/>
          </a:p>
        </p:txBody>
      </p:sp>
      <p:sp>
        <p:nvSpPr>
          <p:cNvPr id="15" name="Text 13"/>
          <p:cNvSpPr/>
          <p:nvPr/>
        </p:nvSpPr>
        <p:spPr>
          <a:xfrm>
            <a:off x="1054100" y="4811911"/>
            <a:ext cx="1013777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The wiki holds a review outline. The command “draft chapter” turns each chapter into prose that cites source notes only — Part B is built that way.</a:t>
            </a:r>
            <a:endParaRPr lang="en-US" sz="1400" dirty="0"/>
          </a:p>
        </p:txBody>
      </p:sp>
      <p:sp>
        <p:nvSpPr>
          <p:cNvPr id="16" name="Text 14"/>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A · Lessons</a:t>
            </a:r>
            <a:endParaRPr lang="en-US" sz="1200" dirty="0"/>
          </a:p>
        </p:txBody>
      </p:sp>
      <p:sp>
        <p:nvSpPr>
          <p:cNvPr id="17" name="Shape 15"/>
          <p:cNvSpPr/>
          <p:nvPr/>
        </p:nvSpPr>
        <p:spPr>
          <a:xfrm>
            <a:off x="0" y="6350000"/>
            <a:ext cx="12192000" cy="12700"/>
          </a:xfrm>
          <a:prstGeom prst="rect">
            <a:avLst/>
          </a:prstGeom>
          <a:solidFill>
            <a:srgbClr val="A6A6A6"/>
          </a:solidFill>
          <a:ln/>
        </p:spPr>
      </p:sp>
      <p:sp>
        <p:nvSpPr>
          <p:cNvPr id="18" name="Text 16"/>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9" name="Text 17"/>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18</a:t>
            </a:r>
            <a:endParaRPr lang="en-US" sz="1500" dirty="0"/>
          </a:p>
        </p:txBody>
      </p:sp>
      <p:pic>
        <p:nvPicPr>
          <p:cNvPr id="20"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nvSpPr>
        <p:spPr>
          <a:xfrm>
            <a:off x="812800" y="203706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B8720C"/>
                </a:solidFill>
                <a:latin typeface="Arial" pitchFamily="34" charset="0"/>
                <a:ea typeface="Arial" pitchFamily="34" charset="-122"/>
                <a:cs typeface="Arial" pitchFamily="34" charset="-120"/>
              </a:rPr>
              <a:t>Part B</a:t>
            </a:r>
            <a:endParaRPr lang="en-US" sz="1600" dirty="0"/>
          </a:p>
        </p:txBody>
      </p:sp>
      <p:sp>
        <p:nvSpPr>
          <p:cNvPr id="7" name="Text 5"/>
          <p:cNvSpPr/>
          <p:nvPr>
            <p:ph type="title"/>
          </p:nvPr>
        </p:nvSpPr>
        <p:spPr>
          <a:xfrm>
            <a:off x="812800" y="2524720"/>
            <a:ext cx="9810750" cy="1305520"/>
          </a:xfrm>
          <a:prstGeom prst="rect">
            <a:avLst/>
          </a:prstGeom>
          <a:noFill/>
          <a:ln/>
        </p:spPr>
        <p:txBody>
          <a:bodyPr wrap="square" lIns="0" tIns="0" rIns="0" bIns="0" rtlCol="0" anchor="t">
            <a:normAutofit/>
          </a:bodyPr>
          <a:lstStyle/>
          <a:p>
            <a:pPr algn="l" indent="0" marL="0">
              <a:lnSpc>
                <a:spcPts val="5040"/>
              </a:lnSpc>
              <a:buNone/>
            </a:pPr>
            <a:r>
              <a:rPr lang="en-US" sz="4800" b="0" i="0" dirty="0">
                <a:solidFill>
                  <a:srgbClr val="0070C0"/>
                </a:solidFill>
                <a:latin typeface="Arial" pitchFamily="34" charset="0"/>
                <a:ea typeface="Arial" pitchFamily="34" charset="-122"/>
                <a:cs typeface="Arial" pitchFamily="34" charset="-120"/>
              </a:rPr>
              <a:t>Literature review: high ductile concrete</a:t>
            </a:r>
            <a:endParaRPr lang="en-US" sz="4800" dirty="0"/>
          </a:p>
        </p:txBody>
      </p:sp>
      <p:sp>
        <p:nvSpPr>
          <p:cNvPr id="8" name="Text 6"/>
          <p:cNvSpPr/>
          <p:nvPr/>
        </p:nvSpPr>
        <p:spPr>
          <a:xfrm>
            <a:off x="812800" y="4008041"/>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3E464C"/>
                </a:solidFill>
                <a:latin typeface="Arial" pitchFamily="34" charset="0"/>
                <a:ea typeface="Arial" pitchFamily="34" charset="-122"/>
                <a:cs typeface="Arial" pitchFamily="34" charset="-120"/>
              </a:rPr>
              <a:t>A concrete that bends instead of breaking: what it is, why it works, and what we still do not know.</a:t>
            </a:r>
            <a:endParaRPr lang="en-US" sz="2000" dirty="0"/>
          </a:p>
        </p:txBody>
      </p:sp>
      <p:sp>
        <p:nvSpPr>
          <p:cNvPr id="9" name="Shape 7"/>
          <p:cNvSpPr/>
          <p:nvPr/>
        </p:nvSpPr>
        <p:spPr>
          <a:xfrm>
            <a:off x="0" y="6350000"/>
            <a:ext cx="12192000" cy="12700"/>
          </a:xfrm>
          <a:prstGeom prst="rect">
            <a:avLst/>
          </a:prstGeom>
          <a:solidFill>
            <a:srgbClr val="A6A6A6"/>
          </a:solidFill>
          <a:ln/>
        </p:spPr>
      </p:sp>
      <p:sp>
        <p:nvSpPr>
          <p:cNvPr id="10"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1"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19</a:t>
            </a:r>
            <a:endParaRPr lang="en-US" sz="1500" dirty="0"/>
          </a:p>
        </p:txBody>
      </p:sp>
      <p:pic>
        <p:nvPicPr>
          <p:cNvPr id="12"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376535"/>
          </a:xfrm>
          <a:prstGeom prst="rect">
            <a:avLst/>
          </a:prstGeom>
          <a:noFill/>
          <a:ln/>
        </p:spPr>
        <p:txBody>
          <a:bodyPr wrap="square" lIns="0" tIns="0" rIns="0" bIns="0" rtlCol="0" anchor="t">
            <a:normAutofit/>
          </a:bodyPr>
          <a:lstStyle/>
          <a:p>
            <a:pPr algn="l" indent="0" marL="0">
              <a:lnSpc>
                <a:spcPts val="2772"/>
              </a:lnSpc>
              <a:buNone/>
            </a:pPr>
            <a:r>
              <a:rPr lang="en-US" sz="2520" b="0" i="0" dirty="0">
                <a:solidFill>
                  <a:srgbClr val="0070C0"/>
                </a:solidFill>
                <a:latin typeface="Arial" pitchFamily="34" charset="0"/>
                <a:ea typeface="Arial" pitchFamily="34" charset="-122"/>
                <a:cs typeface="Arial" pitchFamily="34" charset="-120"/>
              </a:rPr>
              <a:t>2.1. The corpus: 60 papers, 1992–2024</a:t>
            </a:r>
            <a:endParaRPr lang="en-US" sz="25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481435"/>
          <a:ext cx="10553700" cy="3475831"/>
        </p:xfrm>
        <a:graphic>
          <a:graphicData uri="http://schemas.openxmlformats.org/drawingml/2006/table">
            <a:tbl>
              <a:tblPr/>
              <a:tblGrid>
                <a:gridCol w="3799332"/>
                <a:gridCol w="633222"/>
                <a:gridCol w="1371981"/>
                <a:gridCol w="4749165"/>
              </a:tblGrid>
              <a:tr h="315913">
                <a:tc>
                  <a:txBody>
                    <a:bodyPr/>
                    <a:lstStyle/>
                    <a:p>
                      <a:pPr indent="0" marL="0">
                        <a:lnSpc>
                          <a:spcPts val="1591"/>
                        </a:lnSpc>
                        <a:buNone/>
                      </a:pPr>
                      <a:r>
                        <a:rPr lang="en-US" sz="1136" b="1" dirty="0">
                          <a:solidFill>
                            <a:srgbClr val="22272B"/>
                          </a:solidFill>
                          <a:latin typeface="Arial" pitchFamily="34" charset="0"/>
                          <a:ea typeface="Arial" pitchFamily="34" charset="-122"/>
                          <a:cs typeface="Arial" pitchFamily="34" charset="-120"/>
                        </a:rPr>
                        <a:t>Group (as in the wiki index)</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591"/>
                        </a:lnSpc>
                        <a:buNone/>
                      </a:pPr>
                      <a:r>
                        <a:rPr lang="en-US" sz="1136" b="1" dirty="0">
                          <a:solidFill>
                            <a:srgbClr val="22272B"/>
                          </a:solidFill>
                          <a:latin typeface="Arial" pitchFamily="34" charset="0"/>
                          <a:ea typeface="Arial" pitchFamily="34" charset="-122"/>
                          <a:cs typeface="Arial" pitchFamily="34" charset="-120"/>
                        </a:rPr>
                        <a:t>n</a:t>
                      </a:r>
                      <a:endParaRPr lang="en-US" sz="1136" dirty="0">
                        <a:latin typeface="Arial" charset="0"/>
                        <a:ea typeface="Arial" charset="0"/>
                        <a:cs typeface="Arial" charset="0"/>
                      </a:endParaRPr>
                    </a:p>
                  </a:txBody>
                  <a:tcPr marL="50506" marR="50506" marT="50506" marB="50506"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591"/>
                        </a:lnSpc>
                        <a:buNone/>
                      </a:pPr>
                      <a:r>
                        <a:rPr lang="en-US" sz="1136" b="1" dirty="0">
                          <a:solidFill>
                            <a:srgbClr val="22272B"/>
                          </a:solidFill>
                          <a:latin typeface="Arial" pitchFamily="34" charset="0"/>
                          <a:ea typeface="Arial" pitchFamily="34" charset="-122"/>
                          <a:cs typeface="Arial" pitchFamily="34" charset="-120"/>
                        </a:rPr>
                        <a:t>Years</a:t>
                      </a:r>
                      <a:endParaRPr lang="en-US" sz="1136" dirty="0">
                        <a:latin typeface="Arial" charset="0"/>
                        <a:ea typeface="Arial" charset="0"/>
                        <a:cs typeface="Arial" charset="0"/>
                      </a:endParaRPr>
                    </a:p>
                  </a:txBody>
                  <a:tcPr marL="50506" marR="50506" marT="50506" marB="50506"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591"/>
                        </a:lnSpc>
                        <a:buNone/>
                      </a:pPr>
                      <a:r>
                        <a:rPr lang="en-US" sz="1136" b="1" dirty="0">
                          <a:solidFill>
                            <a:srgbClr val="22272B"/>
                          </a:solidFill>
                          <a:latin typeface="Arial" pitchFamily="34" charset="0"/>
                          <a:ea typeface="Arial" pitchFamily="34" charset="-122"/>
                          <a:cs typeface="Arial" pitchFamily="34" charset="-120"/>
                        </a:rPr>
                        <a:t>Example first authors</a:t>
                      </a:r>
                      <a:endParaRPr lang="en-US" sz="1136" dirty="0">
                        <a:latin typeface="Arial" charset="0"/>
                        <a:ea typeface="Arial" charset="0"/>
                        <a:cs typeface="Arial" charset="0"/>
                      </a:endParaRPr>
                    </a:p>
                  </a:txBody>
                  <a:tcPr marL="50506" marR="50506" marT="50506" marB="50506"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15913">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Michigan theory: cracking, interface, PSH, bridging</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5</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1992–2008</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Li &amp; Leung, Li, Kanda, Yang</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5913">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High-strength / ultra-ductile: HSHDC, UHDC</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6</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2015–2024</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Ranade, Sui, Ye, Su, Yang</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Chinese HDC / HDCC (normal strength)</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12</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2015–2023</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Deng, Chai, Gao, Jin, Sun, Li, Zhao, Zhang</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Xi’an (XAUAT) HDC members and retrofit</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4</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2017–2021</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Deng, Li</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Korea Univ. HSDC / NSHSDC (steel + PE)</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2020–2021</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Yuan, Lee</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JACT (Japan): DFRCC, HPFRCC, SHCC, ECC</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10</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2003–2023</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Kanda, Kanakubo, Qian, Kunieda, Mechtcherine, Paul</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Durability, self-healing and temperature (other journals)</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9</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2009–2022</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Yang, Lepech, Yun, Pourfalah, Herbert, Zhong, Bu</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Alkali-activated, cementless composite</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1</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2016</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Choi</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Structures, retrofit and 3D printing</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4</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2019–2022</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Wang, Tabrizikahou, Chaves Figueiredo, Ivaniuk</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6012">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Reviews</a:t>
                      </a:r>
                      <a:endParaRPr lang="en-US" sz="1136" dirty="0">
                        <a:latin typeface="Arial" charset="0"/>
                        <a:ea typeface="Arial" charset="0"/>
                        <a:cs typeface="Arial" charset="0"/>
                      </a:endParaRPr>
                    </a:p>
                  </a:txBody>
                  <a:tcPr marL="50506" marR="50506" marT="50506" marB="50506" anchor="t">
                    <a:lnL w="12700" cap="flat" cmpd="sng" algn="ctr">
                      <a:solidFill>
                        <a:srgbClr val="CBCBCB"/>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7</a:t>
                      </a:r>
                      <a:endParaRPr lang="en-US" sz="1136" dirty="0">
                        <a:latin typeface="Arial" charset="0"/>
                        <a:ea typeface="Arial" charset="0"/>
                        <a:cs typeface="Arial" charset="0"/>
                      </a:endParaRPr>
                    </a:p>
                  </a:txBody>
                  <a:tcPr marL="50506" marR="50506" marT="50506" marB="50506"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2006–2024</a:t>
                      </a:r>
                      <a:endParaRPr lang="en-US" sz="1136" dirty="0">
                        <a:latin typeface="Arial" charset="0"/>
                        <a:ea typeface="Arial" charset="0"/>
                        <a:cs typeface="Arial" charset="0"/>
                      </a:endParaRPr>
                    </a:p>
                  </a:txBody>
                  <a:tcPr marL="50506" marR="50506" marT="50506" marB="50506"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591"/>
                        </a:lnSpc>
                        <a:buNone/>
                      </a:pPr>
                      <a:r>
                        <a:rPr lang="en-US" sz="1136" dirty="0">
                          <a:solidFill>
                            <a:srgbClr val="22272B"/>
                          </a:solidFill>
                          <a:latin typeface="Arial" pitchFamily="34" charset="0"/>
                          <a:ea typeface="Arial" pitchFamily="34" charset="-122"/>
                          <a:cs typeface="Arial" pitchFamily="34" charset="-120"/>
                        </a:rPr>
                        <a:t>Kunieda, van Zijl, Yu, Ma, Zhang, Xue, He</a:t>
                      </a:r>
                      <a:endParaRPr lang="en-US" sz="1136" dirty="0">
                        <a:latin typeface="Arial" charset="0"/>
                        <a:ea typeface="Arial" charset="0"/>
                        <a:cs typeface="Arial" charset="0"/>
                      </a:endParaRPr>
                    </a:p>
                  </a:txBody>
                  <a:tcPr marL="50506" marR="50506" marT="50506" marB="50506"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r>
            </a:tbl>
          </a:graphicData>
        </a:graphic>
      </p:graphicFrame>
      <p:sp>
        <p:nvSpPr>
          <p:cNvPr id="8" name="Shape 5"/>
          <p:cNvSpPr/>
          <p:nvPr/>
        </p:nvSpPr>
        <p:spPr>
          <a:xfrm>
            <a:off x="812800" y="5096966"/>
            <a:ext cx="5207000" cy="0"/>
          </a:xfrm>
          <a:prstGeom prst="line">
            <a:avLst/>
          </a:prstGeom>
          <a:noFill/>
          <a:ln w="25400">
            <a:solidFill>
              <a:srgbClr val="0070C0"/>
            </a:solidFill>
            <a:prstDash val="solid"/>
          </a:ln>
        </p:spPr>
      </p:sp>
      <p:sp>
        <p:nvSpPr>
          <p:cNvPr id="9" name="Text 6"/>
          <p:cNvSpPr/>
          <p:nvPr/>
        </p:nvSpPr>
        <p:spPr>
          <a:xfrm>
            <a:off x="812800" y="5211266"/>
            <a:ext cx="5363210" cy="335062"/>
          </a:xfrm>
          <a:prstGeom prst="rect">
            <a:avLst/>
          </a:prstGeom>
          <a:noFill/>
          <a:ln/>
        </p:spPr>
        <p:txBody>
          <a:bodyPr wrap="square" lIns="0" tIns="0" rIns="0" bIns="0" rtlCol="0" anchor="t">
            <a:normAutofit/>
          </a:bodyPr>
          <a:lstStyle/>
          <a:p>
            <a:pPr algn="l" indent="0" marL="0">
              <a:lnSpc>
                <a:spcPts val="2468"/>
              </a:lnSpc>
              <a:buNone/>
            </a:pPr>
            <a:r>
              <a:rPr lang="en-US" sz="2468" b="1" dirty="0">
                <a:solidFill>
                  <a:srgbClr val="1F4E79"/>
                </a:solidFill>
                <a:latin typeface="Arial" pitchFamily="34" charset="0"/>
                <a:ea typeface="Arial" pitchFamily="34" charset="-122"/>
                <a:cs typeface="Arial" pitchFamily="34" charset="-120"/>
              </a:rPr>
              <a:t>52</a:t>
            </a:r>
            <a:endParaRPr lang="en-US" sz="2468" dirty="0"/>
          </a:p>
        </p:txBody>
      </p:sp>
      <p:sp>
        <p:nvSpPr>
          <p:cNvPr id="10" name="Text 7"/>
          <p:cNvSpPr/>
          <p:nvPr/>
        </p:nvSpPr>
        <p:spPr>
          <a:xfrm>
            <a:off x="812800" y="5546328"/>
            <a:ext cx="5363210" cy="219472"/>
          </a:xfrm>
          <a:prstGeom prst="rect">
            <a:avLst/>
          </a:prstGeom>
          <a:noFill/>
          <a:ln/>
        </p:spPr>
        <p:txBody>
          <a:bodyPr wrap="square" lIns="0" tIns="0" rIns="0" bIns="0" rtlCol="0" anchor="t">
            <a:normAutofit/>
          </a:bodyPr>
          <a:lstStyle/>
          <a:p>
            <a:pPr algn="l" indent="0" marL="0">
              <a:lnSpc>
                <a:spcPts val="1574"/>
              </a:lnSpc>
              <a:buNone/>
            </a:pPr>
            <a:r>
              <a:rPr lang="en-US" sz="1166" dirty="0">
                <a:solidFill>
                  <a:srgbClr val="3E464C"/>
                </a:solidFill>
                <a:latin typeface="Arial" pitchFamily="34" charset="0"/>
                <a:ea typeface="Arial" pitchFamily="34" charset="-122"/>
                <a:cs typeface="Arial" pitchFamily="34" charset="-120"/>
              </a:rPr>
              <a:t>primary studies (incl. analytical theory and one FE-only study)</a:t>
            </a:r>
            <a:endParaRPr lang="en-US" sz="1166" dirty="0"/>
          </a:p>
        </p:txBody>
      </p:sp>
      <p:sp>
        <p:nvSpPr>
          <p:cNvPr id="11" name="Shape 8"/>
          <p:cNvSpPr/>
          <p:nvPr/>
        </p:nvSpPr>
        <p:spPr>
          <a:xfrm>
            <a:off x="6172200" y="5096966"/>
            <a:ext cx="5207000" cy="0"/>
          </a:xfrm>
          <a:prstGeom prst="line">
            <a:avLst/>
          </a:prstGeom>
          <a:noFill/>
          <a:ln w="25400">
            <a:solidFill>
              <a:srgbClr val="B8720C"/>
            </a:solidFill>
            <a:prstDash val="solid"/>
          </a:ln>
        </p:spPr>
      </p:sp>
      <p:sp>
        <p:nvSpPr>
          <p:cNvPr id="12" name="Text 9"/>
          <p:cNvSpPr/>
          <p:nvPr/>
        </p:nvSpPr>
        <p:spPr>
          <a:xfrm>
            <a:off x="6172200" y="5211266"/>
            <a:ext cx="5363210" cy="335062"/>
          </a:xfrm>
          <a:prstGeom prst="rect">
            <a:avLst/>
          </a:prstGeom>
          <a:noFill/>
          <a:ln/>
        </p:spPr>
        <p:txBody>
          <a:bodyPr wrap="square" lIns="0" tIns="0" rIns="0" bIns="0" rtlCol="0" anchor="t">
            <a:normAutofit/>
          </a:bodyPr>
          <a:lstStyle/>
          <a:p>
            <a:pPr algn="l" indent="0" marL="0">
              <a:lnSpc>
                <a:spcPts val="2468"/>
              </a:lnSpc>
              <a:buNone/>
            </a:pPr>
            <a:r>
              <a:rPr lang="en-US" sz="2468" b="1" dirty="0">
                <a:solidFill>
                  <a:srgbClr val="1F4E79"/>
                </a:solidFill>
                <a:latin typeface="Arial" pitchFamily="34" charset="0"/>
                <a:ea typeface="Arial" pitchFamily="34" charset="-122"/>
                <a:cs typeface="Arial" pitchFamily="34" charset="-120"/>
              </a:rPr>
              <a:t>8</a:t>
            </a:r>
            <a:endParaRPr lang="en-US" sz="2468" dirty="0"/>
          </a:p>
        </p:txBody>
      </p:sp>
      <p:sp>
        <p:nvSpPr>
          <p:cNvPr id="13" name="Text 10"/>
          <p:cNvSpPr/>
          <p:nvPr/>
        </p:nvSpPr>
        <p:spPr>
          <a:xfrm>
            <a:off x="6172200" y="5546328"/>
            <a:ext cx="5363210" cy="219472"/>
          </a:xfrm>
          <a:prstGeom prst="rect">
            <a:avLst/>
          </a:prstGeom>
          <a:noFill/>
          <a:ln/>
        </p:spPr>
        <p:txBody>
          <a:bodyPr wrap="square" lIns="0" tIns="0" rIns="0" bIns="0" rtlCol="0" anchor="t">
            <a:normAutofit/>
          </a:bodyPr>
          <a:lstStyle/>
          <a:p>
            <a:pPr algn="l" indent="0" marL="0">
              <a:lnSpc>
                <a:spcPts val="1574"/>
              </a:lnSpc>
              <a:buNone/>
            </a:pPr>
            <a:r>
              <a:rPr lang="en-US" sz="1166" dirty="0">
                <a:solidFill>
                  <a:srgbClr val="3E464C"/>
                </a:solidFill>
                <a:latin typeface="Arial" pitchFamily="34" charset="0"/>
                <a:ea typeface="Arial" pitchFamily="34" charset="-122"/>
                <a:cs typeface="Arial" pitchFamily="34" charset="-120"/>
              </a:rPr>
              <a:t>reviews (the 7 above + Li 2003): second-hand data, marked “as cited”</a:t>
            </a:r>
            <a:endParaRPr lang="en-US" sz="1166" dirty="0"/>
          </a:p>
        </p:txBody>
      </p:sp>
      <p:sp>
        <p:nvSpPr>
          <p:cNvPr id="14" name="Text 11"/>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Corpus · groups and counts from wiki/index.md (Sources) · study type from each source note · full references on the site’s Catalog page</a:t>
            </a:r>
            <a:endParaRPr lang="en-US" sz="1200" dirty="0"/>
          </a:p>
        </p:txBody>
      </p:sp>
      <p:sp>
        <p:nvSpPr>
          <p:cNvPr id="15" name="Shape 12"/>
          <p:cNvSpPr/>
          <p:nvPr/>
        </p:nvSpPr>
        <p:spPr>
          <a:xfrm>
            <a:off x="0" y="6350000"/>
            <a:ext cx="12192000" cy="12700"/>
          </a:xfrm>
          <a:prstGeom prst="rect">
            <a:avLst/>
          </a:prstGeom>
          <a:solidFill>
            <a:srgbClr val="A6A6A6"/>
          </a:solidFill>
          <a:ln/>
        </p:spPr>
      </p:sp>
      <p:sp>
        <p:nvSpPr>
          <p:cNvPr id="16" name="Text 13"/>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7" name="Text 14"/>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20</a:t>
            </a:r>
            <a:endParaRPr lang="en-US" sz="1500" dirty="0"/>
          </a:p>
        </p:txBody>
      </p:sp>
      <p:pic>
        <p:nvPicPr>
          <p:cNvPr id="18"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07491"/>
          </a:xfrm>
          <a:prstGeom prst="rect">
            <a:avLst/>
          </a:prstGeom>
          <a:noFill/>
          <a:ln/>
        </p:spPr>
        <p:txBody>
          <a:bodyPr wrap="square" lIns="0" tIns="0" rIns="0" bIns="0" rtlCol="0" anchor="t">
            <a:normAutofit/>
          </a:bodyPr>
          <a:lstStyle/>
          <a:p>
            <a:pPr algn="l" indent="0" marL="0">
              <a:lnSpc>
                <a:spcPts val="3022"/>
              </a:lnSpc>
              <a:buNone/>
            </a:pPr>
            <a:r>
              <a:rPr lang="en-US" sz="2748" b="0" i="0" dirty="0">
                <a:solidFill>
                  <a:srgbClr val="0070C0"/>
                </a:solidFill>
                <a:latin typeface="Arial" pitchFamily="34" charset="0"/>
                <a:ea typeface="Arial" pitchFamily="34" charset="-122"/>
                <a:cs typeface="Arial" pitchFamily="34" charset="-120"/>
              </a:rPr>
              <a:t>2.2. HDC, ECC and SHCC are one material family</a:t>
            </a:r>
            <a:endParaRPr lang="en-US" sz="2748" dirty="0"/>
          </a:p>
        </p:txBody>
      </p:sp>
      <p:sp>
        <p:nvSpPr>
          <p:cNvPr id="7" name="Text 5"/>
          <p:cNvSpPr/>
          <p:nvPr/>
        </p:nvSpPr>
        <p:spPr>
          <a:xfrm>
            <a:off x="812800" y="1626691"/>
            <a:ext cx="10464800" cy="835025"/>
          </a:xfrm>
          <a:prstGeom prst="rect">
            <a:avLst/>
          </a:prstGeom>
          <a:noFill/>
          <a:ln/>
        </p:spPr>
        <p:txBody>
          <a:bodyPr wrap="square" lIns="0" tIns="0" rIns="0" bIns="0" rtlCol="0" anchor="t">
            <a:normAutofit/>
          </a:bodyPr>
          <a:lstStyle/>
          <a:p>
            <a:pPr algn="l" indent="0" marL="0">
              <a:lnSpc>
                <a:spcPts val="2141"/>
              </a:lnSpc>
              <a:buNone/>
            </a:pPr>
            <a:r>
              <a:rPr lang="en-US" sz="1477" dirty="0">
                <a:solidFill>
                  <a:srgbClr val="3E464C"/>
                </a:solidFill>
                <a:latin typeface="Arial" pitchFamily="34" charset="0"/>
                <a:ea typeface="Arial" pitchFamily="34" charset="-122"/>
                <a:cs typeface="Arial" pitchFamily="34" charset="-120"/>
              </a:rPr>
              <a:t>Xi’an (XAUAT) coined “high ductile fiber reinforced concrete (HDC)” as its own name for ECC (Deng 2015); other Chinese groups use HDCC / Eco-HDCC. Japan nests ECC in FRCC ⊃ DFRCC ⊃ HPFRCC (Kunieda 2006; Kanakubo 2006); Europe says SHCC. Common core: tensile strain hardening with multiple fine cracks.</a:t>
            </a:r>
            <a:endParaRPr lang="en-US" sz="1477"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5500" y="2703016"/>
          <a:ext cx="10553700" cy="2109192"/>
        </p:xfrm>
        <a:graphic>
          <a:graphicData uri="http://schemas.openxmlformats.org/drawingml/2006/table">
            <a:tbl>
              <a:tblPr/>
              <a:tblGrid>
                <a:gridCol w="2955036"/>
                <a:gridCol w="2110740"/>
                <a:gridCol w="2532888"/>
                <a:gridCol w="2955036"/>
              </a:tblGrid>
              <a:tr h="351532">
                <a:tc>
                  <a:txBody>
                    <a:bodyPr/>
                    <a:lstStyle/>
                    <a:p>
                      <a:pPr indent="0" marL="0">
                        <a:lnSpc>
                          <a:spcPts val="1780"/>
                        </a:lnSpc>
                        <a:buNone/>
                      </a:pPr>
                      <a:r>
                        <a:rPr lang="en-US" sz="1272" b="1" dirty="0">
                          <a:solidFill>
                            <a:srgbClr val="22272B"/>
                          </a:solidFill>
                          <a:latin typeface="Arial" pitchFamily="34" charset="0"/>
                          <a:ea typeface="Arial" pitchFamily="34" charset="-122"/>
                          <a:cs typeface="Arial" pitchFamily="34" charset="-120"/>
                        </a:rPr>
                        <a:t>Class</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80"/>
                        </a:lnSpc>
                        <a:buNone/>
                      </a:pPr>
                      <a:r>
                        <a:rPr lang="en-US" sz="1272" b="1" dirty="0">
                          <a:solidFill>
                            <a:srgbClr val="22272B"/>
                          </a:solidFill>
                          <a:latin typeface="Arial" pitchFamily="34" charset="0"/>
                          <a:ea typeface="Arial" pitchFamily="34" charset="-122"/>
                          <a:cs typeface="Arial" pitchFamily="34" charset="-120"/>
                        </a:rPr>
                        <a:t>f'c</a:t>
                      </a:r>
                      <a:endParaRPr lang="en-US" sz="1272" dirty="0">
                        <a:latin typeface="Arial" charset="0"/>
                        <a:ea typeface="Arial" charset="0"/>
                        <a:cs typeface="Arial" charset="0"/>
                      </a:endParaRPr>
                    </a:p>
                  </a:txBody>
                  <a:tcPr marL="56521" marR="56521" marT="56521" marB="56521"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80"/>
                        </a:lnSpc>
                        <a:buNone/>
                      </a:pPr>
                      <a:r>
                        <a:rPr lang="en-US" sz="1272" b="1" dirty="0">
                          <a:solidFill>
                            <a:srgbClr val="22272B"/>
                          </a:solidFill>
                          <a:latin typeface="Arial" pitchFamily="34" charset="0"/>
                          <a:ea typeface="Arial" pitchFamily="34" charset="-122"/>
                          <a:cs typeface="Arial" pitchFamily="34" charset="-120"/>
                        </a:rPr>
                        <a:t>Tensile strain capacity</a:t>
                      </a:r>
                      <a:endParaRPr lang="en-US" sz="1272" dirty="0">
                        <a:latin typeface="Arial" charset="0"/>
                        <a:ea typeface="Arial" charset="0"/>
                        <a:cs typeface="Arial" charset="0"/>
                      </a:endParaRPr>
                    </a:p>
                  </a:txBody>
                  <a:tcPr marL="56521" marR="56521" marT="56521" marB="56521"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80"/>
                        </a:lnSpc>
                        <a:buNone/>
                      </a:pPr>
                      <a:r>
                        <a:rPr lang="en-US" sz="1272" b="1" dirty="0">
                          <a:solidFill>
                            <a:srgbClr val="22272B"/>
                          </a:solidFill>
                          <a:latin typeface="Arial" pitchFamily="34" charset="0"/>
                          <a:ea typeface="Arial" pitchFamily="34" charset="-122"/>
                          <a:cs typeface="Arial" pitchFamily="34" charset="-120"/>
                        </a:rPr>
                        <a:t>Source</a:t>
                      </a:r>
                      <a:endParaRPr lang="en-US" sz="1272" dirty="0">
                        <a:latin typeface="Arial" charset="0"/>
                        <a:ea typeface="Arial" charset="0"/>
                        <a:cs typeface="Arial" charset="0"/>
                      </a:endParaRPr>
                    </a:p>
                  </a:txBody>
                  <a:tcPr marL="56521" marR="56521" marT="56521" marB="56521"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1532">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Normal ECC / HDC</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30–80 MPa</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2–8%</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Su 2023; Zhang 2022</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1532">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High-strength (HSHDCC)</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&gt; 100 MPa</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&gt; 3%</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Zhang 2022</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1532">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Ultra-high ductile (UHDC)</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about 37 MPa</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up to 12%</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Ye 2021</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1532">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Chinese PVA-HDC (C40)</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about 48 MPa (cube)</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1.15%</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Chai 2023</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1532">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UHPC (not HDC)</a:t>
                      </a:r>
                      <a:endParaRPr lang="en-US" sz="1272" dirty="0">
                        <a:latin typeface="Arial" charset="0"/>
                        <a:ea typeface="Arial" charset="0"/>
                        <a:cs typeface="Arial" charset="0"/>
                      </a:endParaRPr>
                    </a:p>
                  </a:txBody>
                  <a:tcPr marL="56521" marR="56521" marT="56521" marB="56521" anchor="t">
                    <a:lnL w="12700" cap="flat" cmpd="sng" algn="ctr">
                      <a:solidFill>
                        <a:srgbClr val="CBCBCB"/>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 150 MPa</a:t>
                      </a:r>
                      <a:endParaRPr lang="en-US" sz="1272" dirty="0">
                        <a:latin typeface="Arial" charset="0"/>
                        <a:ea typeface="Arial" charset="0"/>
                        <a:cs typeface="Arial" charset="0"/>
                      </a:endParaRPr>
                    </a:p>
                  </a:txBody>
                  <a:tcPr marL="56521" marR="56521" marT="56521" marB="56521"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&lt; 1%</a:t>
                      </a:r>
                      <a:endParaRPr lang="en-US" sz="1272" dirty="0">
                        <a:latin typeface="Arial" charset="0"/>
                        <a:ea typeface="Arial" charset="0"/>
                        <a:cs typeface="Arial" charset="0"/>
                      </a:endParaRPr>
                    </a:p>
                  </a:txBody>
                  <a:tcPr marL="56521" marR="56521" marT="56521" marB="56521"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80"/>
                        </a:lnSpc>
                        <a:buNone/>
                      </a:pPr>
                      <a:r>
                        <a:rPr lang="en-US" sz="1272" dirty="0">
                          <a:solidFill>
                            <a:srgbClr val="22272B"/>
                          </a:solidFill>
                          <a:latin typeface="Arial" pitchFamily="34" charset="0"/>
                          <a:ea typeface="Arial" pitchFamily="34" charset="-122"/>
                          <a:cs typeface="Arial" pitchFamily="34" charset="-120"/>
                        </a:rPr>
                        <a:t>Zhang 2022; Ranade 2017</a:t>
                      </a:r>
                      <a:endParaRPr lang="en-US" sz="1272" dirty="0">
                        <a:latin typeface="Arial" charset="0"/>
                        <a:ea typeface="Arial" charset="0"/>
                        <a:cs typeface="Arial" charset="0"/>
                      </a:endParaRPr>
                    </a:p>
                  </a:txBody>
                  <a:tcPr marL="56521" marR="56521" marT="56521" marB="56521"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r>
            </a:tbl>
          </a:graphicData>
        </a:graphic>
      </p:graphicFrame>
      <p:sp>
        <p:nvSpPr>
          <p:cNvPr id="9" name="Text 6"/>
          <p:cNvSpPr/>
          <p:nvPr/>
        </p:nvSpPr>
        <p:spPr>
          <a:xfrm>
            <a:off x="812800" y="5063133"/>
            <a:ext cx="10464800" cy="702667"/>
          </a:xfrm>
          <a:prstGeom prst="rect">
            <a:avLst/>
          </a:prstGeom>
          <a:noFill/>
          <a:ln/>
        </p:spPr>
        <p:txBody>
          <a:bodyPr wrap="square" lIns="0" tIns="0" rIns="0" bIns="0" rtlCol="0" anchor="t">
            <a:normAutofit/>
          </a:bodyPr>
          <a:lstStyle/>
          <a:p>
            <a:pPr algn="l" indent="0" marL="0">
              <a:lnSpc>
                <a:spcPts val="1792"/>
              </a:lnSpc>
              <a:buNone/>
            </a:pPr>
            <a:r>
              <a:rPr lang="en-US" sz="1280" dirty="0">
                <a:solidFill>
                  <a:srgbClr val="6B7378"/>
                </a:solidFill>
                <a:latin typeface="Arial" pitchFamily="34" charset="0"/>
                <a:ea typeface="Arial" pitchFamily="34" charset="-122"/>
                <a:cs typeface="Arial" pitchFamily="34" charset="-120"/>
              </a:rPr>
              <a:t>Two bars: the ECC convention (εtu &gt; 3%, cracks &lt; 100 µm) and the HDC/HDCC bar (≥ 0.5%, average crack ≤ 200 µm). ⚔️ The same group attributes that bar to JSCE 2008 (Chai 2019) and to China’s JC/T 2461-2018 (Chai 2023); Deng 2019 tests to the Shaanxi DBJ61/T112-2016. None of these is ingested.</a:t>
            </a:r>
            <a:endParaRPr lang="en-US" sz="1280" dirty="0"/>
          </a:p>
        </p:txBody>
      </p:sp>
      <p:sp>
        <p:nvSpPr>
          <p:cNvPr id="10" name="Text 7"/>
          <p:cNvSpPr/>
          <p:nvPr/>
        </p:nvSpPr>
        <p:spPr>
          <a:xfrm>
            <a:off x="812800" y="60350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Terminology · deng2015 p. 1; kunieda2006 p. 19; kanakubo2006 p. 3; chai2019 p. 126; chai2023 §1; deng2019 p. 3 · wiki: terminology-hdc-ecc-shcc</a:t>
            </a:r>
            <a:endParaRPr lang="en-US" sz="1200" dirty="0"/>
          </a:p>
        </p:txBody>
      </p:sp>
      <p:sp>
        <p:nvSpPr>
          <p:cNvPr id="11" name="Shape 8"/>
          <p:cNvSpPr/>
          <p:nvPr/>
        </p:nvSpPr>
        <p:spPr>
          <a:xfrm>
            <a:off x="0" y="6350000"/>
            <a:ext cx="12192000" cy="12700"/>
          </a:xfrm>
          <a:prstGeom prst="rect">
            <a:avLst/>
          </a:prstGeom>
          <a:solidFill>
            <a:srgbClr val="A6A6A6"/>
          </a:solidFill>
          <a:ln/>
        </p:spPr>
      </p:sp>
      <p:sp>
        <p:nvSpPr>
          <p:cNvPr id="12" name="Text 9"/>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3" name="Text 10"/>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21</a:t>
            </a:r>
            <a:endParaRPr lang="en-US" sz="1500" dirty="0"/>
          </a:p>
        </p:txBody>
      </p:sp>
      <p:pic>
        <p:nvPicPr>
          <p:cNvPr id="14"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2.3. Five research lineages: four high-strength, one ultra-ductile</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648420"/>
          <a:ext cx="10553700" cy="3052564"/>
        </p:xfrm>
        <a:graphic>
          <a:graphicData uri="http://schemas.openxmlformats.org/drawingml/2006/table">
            <a:tbl>
              <a:tblPr/>
              <a:tblGrid>
                <a:gridCol w="1477518"/>
                <a:gridCol w="1899666"/>
                <a:gridCol w="1794129"/>
                <a:gridCol w="1794129"/>
                <a:gridCol w="1794129"/>
                <a:gridCol w="1794129"/>
              </a:tblGrid>
              <a:tr h="319286">
                <a:tc>
                  <a:txBody>
                    <a:bodyPr/>
                    <a:lstStyle/>
                    <a:p>
                      <a:pPr indent="0" marL="0">
                        <a:lnSpc>
                          <a:spcPts val="1610"/>
                        </a:lnSpc>
                        <a:buNone/>
                      </a:pP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10"/>
                        </a:lnSpc>
                        <a:buNone/>
                      </a:pPr>
                      <a:r>
                        <a:rPr lang="en-US" sz="1150" b="1" dirty="0">
                          <a:solidFill>
                            <a:srgbClr val="22272B"/>
                          </a:solidFill>
                          <a:latin typeface="Arial" pitchFamily="34" charset="0"/>
                          <a:ea typeface="Arial" pitchFamily="34" charset="-122"/>
                          <a:cs typeface="Arial" pitchFamily="34" charset="-120"/>
                        </a:rPr>
                        <a:t>Michigan / ERDC</a:t>
                      </a:r>
                      <a:endParaRPr lang="en-US" sz="1150" dirty="0">
                        <a:latin typeface="Arial" charset="0"/>
                        <a:ea typeface="Arial" charset="0"/>
                        <a:cs typeface="Arial" charset="0"/>
                      </a:endParaRPr>
                    </a:p>
                  </a:txBody>
                  <a:tcPr marL="51117" marR="51117" marT="51117" marB="5111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10"/>
                        </a:lnSpc>
                        <a:buNone/>
                      </a:pPr>
                      <a:r>
                        <a:rPr lang="en-US" sz="1150" b="1" dirty="0">
                          <a:solidFill>
                            <a:srgbClr val="22272B"/>
                          </a:solidFill>
                          <a:latin typeface="Arial" pitchFamily="34" charset="0"/>
                          <a:ea typeface="Arial" pitchFamily="34" charset="-122"/>
                          <a:cs typeface="Arial" pitchFamily="34" charset="-120"/>
                        </a:rPr>
                        <a:t>GDUT, Guangzhou</a:t>
                      </a:r>
                      <a:endParaRPr lang="en-US" sz="1150" dirty="0">
                        <a:latin typeface="Arial" charset="0"/>
                        <a:ea typeface="Arial" charset="0"/>
                        <a:cs typeface="Arial" charset="0"/>
                      </a:endParaRPr>
                    </a:p>
                  </a:txBody>
                  <a:tcPr marL="51117" marR="51117" marT="51117" marB="5111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10"/>
                        </a:lnSpc>
                        <a:buNone/>
                      </a:pPr>
                      <a:r>
                        <a:rPr lang="en-US" sz="1150" b="1" dirty="0">
                          <a:solidFill>
                            <a:srgbClr val="22272B"/>
                          </a:solidFill>
                          <a:latin typeface="Arial" pitchFamily="34" charset="0"/>
                          <a:ea typeface="Arial" pitchFamily="34" charset="-122"/>
                          <a:cs typeface="Arial" pitchFamily="34" charset="-120"/>
                        </a:rPr>
                        <a:t>Xi’an (Deng)</a:t>
                      </a:r>
                      <a:endParaRPr lang="en-US" sz="1150" dirty="0">
                        <a:latin typeface="Arial" charset="0"/>
                        <a:ea typeface="Arial" charset="0"/>
                        <a:cs typeface="Arial" charset="0"/>
                      </a:endParaRPr>
                    </a:p>
                  </a:txBody>
                  <a:tcPr marL="51117" marR="51117" marT="51117" marB="5111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10"/>
                        </a:lnSpc>
                        <a:buNone/>
                      </a:pPr>
                      <a:r>
                        <a:rPr lang="en-US" sz="1150" b="1" dirty="0">
                          <a:solidFill>
                            <a:srgbClr val="22272B"/>
                          </a:solidFill>
                          <a:latin typeface="Arial" pitchFamily="34" charset="0"/>
                          <a:ea typeface="Arial" pitchFamily="34" charset="-122"/>
                          <a:cs typeface="Arial" pitchFamily="34" charset="-120"/>
                        </a:rPr>
                        <a:t>Korea Univ. (Yoon)</a:t>
                      </a:r>
                      <a:endParaRPr lang="en-US" sz="1150" dirty="0">
                        <a:latin typeface="Arial" charset="0"/>
                        <a:ea typeface="Arial" charset="0"/>
                        <a:cs typeface="Arial" charset="0"/>
                      </a:endParaRPr>
                    </a:p>
                  </a:txBody>
                  <a:tcPr marL="51117" marR="51117" marT="51117" marB="5111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10"/>
                        </a:lnSpc>
                        <a:buNone/>
                      </a:pPr>
                      <a:r>
                        <a:rPr lang="en-US" sz="1150" b="1" dirty="0">
                          <a:solidFill>
                            <a:srgbClr val="22272B"/>
                          </a:solidFill>
                          <a:latin typeface="Arial" pitchFamily="34" charset="0"/>
                          <a:ea typeface="Arial" pitchFamily="34" charset="-122"/>
                          <a:cs typeface="Arial" pitchFamily="34" charset="-120"/>
                        </a:rPr>
                        <a:t>Tongji (Yu)</a:t>
                      </a:r>
                      <a:endParaRPr lang="en-US" sz="1150" dirty="0">
                        <a:latin typeface="Arial" charset="0"/>
                        <a:ea typeface="Arial" charset="0"/>
                        <a:cs typeface="Arial" charset="0"/>
                      </a:endParaRPr>
                    </a:p>
                  </a:txBody>
                  <a:tcPr marL="51117" marR="51117" marT="51117" marB="5111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19286">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Name used</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HSHDC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R-HSHDC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HSHDC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HSDC / NSHSDC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UHDC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3677">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Binder</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Class H cement, silica fume, w/cm 0.15</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cement, slag, silica fume</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cement, 15–25% fly ash, W/B 0.16</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cement, silica fume, silica filler, W/B 0.172</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cement, fly ash 1.2× cement</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23677">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Fiber</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PE 2%, 28 µm</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PE 2%, 20 µm</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PE or PVA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1.0% steel + 0.5% PE (31 µm)</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PE 1–2%</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9286">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Curing</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90 °C water and air</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room temperature</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20 °C standard</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20 °C, room-cured</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room temperature</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19286">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f'c</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166 MPa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about 86–157 MPa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about 92–110 MPa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122–123 MPa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about 37 MPa</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728067">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Strain capacity</a:t>
                      </a:r>
                      <a:endParaRPr lang="en-US" sz="1150" dirty="0">
                        <a:latin typeface="Arial" charset="0"/>
                        <a:ea typeface="Arial" charset="0"/>
                        <a:cs typeface="Arial" charset="0"/>
                      </a:endParaRPr>
                    </a:p>
                  </a:txBody>
                  <a:tcPr marL="51117" marR="51117" marT="51117" marB="51117" anchor="t">
                    <a:lnL w="12700" cap="flat" cmpd="sng" algn="ctr">
                      <a:solidFill>
                        <a:srgbClr val="CBCBCB"/>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3.4–4.2%</a:t>
                      </a:r>
                      <a:endParaRPr lang="en-US" sz="1150" dirty="0">
                        <a:latin typeface="Arial" charset="0"/>
                        <a:ea typeface="Arial" charset="0"/>
                        <a:cs typeface="Arial" charset="0"/>
                      </a:endParaRPr>
                    </a:p>
                  </a:txBody>
                  <a:tcPr marL="51117" marR="51117" marT="51117" marB="51117"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2.9–5.7%</a:t>
                      </a:r>
                      <a:endParaRPr lang="en-US" sz="1150" dirty="0">
                        <a:latin typeface="Arial" charset="0"/>
                        <a:ea typeface="Arial" charset="0"/>
                        <a:cs typeface="Arial" charset="0"/>
                      </a:endParaRPr>
                    </a:p>
                  </a:txBody>
                  <a:tcPr marL="51117" marR="51117" marT="51117" marB="51117"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PE 3.6–6.5%; PVA 0.2–0.3%</a:t>
                      </a:r>
                      <a:endParaRPr lang="en-US" sz="1150" dirty="0">
                        <a:latin typeface="Arial" charset="0"/>
                        <a:ea typeface="Arial" charset="0"/>
                        <a:cs typeface="Arial" charset="0"/>
                      </a:endParaRPr>
                    </a:p>
                  </a:txBody>
                  <a:tcPr marL="51117" marR="51117" marT="51117" marB="51117"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not shown (σt 9.7 MPa; &gt; 2.9% claimed, second-hand)</a:t>
                      </a:r>
                      <a:endParaRPr lang="en-US" sz="1150" dirty="0">
                        <a:latin typeface="Arial" charset="0"/>
                        <a:ea typeface="Arial" charset="0"/>
                        <a:cs typeface="Arial" charset="0"/>
                      </a:endParaRPr>
                    </a:p>
                  </a:txBody>
                  <a:tcPr marL="51117" marR="51117" marT="51117" marB="51117"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610"/>
                        </a:lnSpc>
                        <a:buNone/>
                      </a:pPr>
                      <a:r>
                        <a:rPr lang="en-US" sz="1150" dirty="0">
                          <a:solidFill>
                            <a:srgbClr val="22272B"/>
                          </a:solidFill>
                          <a:latin typeface="Arial" pitchFamily="34" charset="0"/>
                          <a:ea typeface="Arial" pitchFamily="34" charset="-122"/>
                          <a:cs typeface="Arial" pitchFamily="34" charset="-120"/>
                        </a:rPr>
                        <a:t>4.3–9.5%</a:t>
                      </a:r>
                      <a:endParaRPr lang="en-US" sz="1150" dirty="0">
                        <a:latin typeface="Arial" charset="0"/>
                        <a:ea typeface="Arial" charset="0"/>
                        <a:cs typeface="Arial" charset="0"/>
                      </a:endParaRPr>
                    </a:p>
                  </a:txBody>
                  <a:tcPr marL="51117" marR="51117" marT="51117" marB="51117"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r>
            </a:tbl>
          </a:graphicData>
        </a:graphic>
      </p:graphicFrame>
      <p:sp>
        <p:nvSpPr>
          <p:cNvPr id="8" name="Text 5"/>
          <p:cNvSpPr/>
          <p:nvPr/>
        </p:nvSpPr>
        <p:spPr>
          <a:xfrm>
            <a:off x="812800" y="4954984"/>
            <a:ext cx="10464800"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B7378"/>
                </a:solidFill>
                <a:latin typeface="Arial" pitchFamily="34" charset="0"/>
                <a:ea typeface="Arial" pitchFamily="34" charset="-122"/>
                <a:cs typeface="Arial" pitchFamily="34" charset="-120"/>
              </a:rPr>
              <a:t>⚔️ Xi’an normal-strength PVA-HDC, same nominal 2% PVA mix: ≈ 3.0% ultimate with Japanese PVA vs ≈ 1.2% with Chinese PVA (Deng 2017); ≈ 1.0% (Deng 2018, 2019; Li 2021); 0.34–0.45% at peak in a modified matrix (Zhang 2022).</a:t>
            </a:r>
            <a:endParaRPr lang="en-US" sz="1300" dirty="0"/>
          </a:p>
        </p:txBody>
      </p:sp>
      <p:sp>
        <p:nvSpPr>
          <p:cNvPr id="9" name="Text 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Lineages · Ranade 2015, 2017; Su 2023; Yang 2024; Yuan 2020 Table 5; Lee 2021; Ye 2021; Deng 2017; Zhang 2022 · wiki: hshdc, gaps</a:t>
            </a:r>
            <a:endParaRPr lang="en-US" sz="1200" dirty="0"/>
          </a:p>
        </p:txBody>
      </p:sp>
      <p:sp>
        <p:nvSpPr>
          <p:cNvPr id="10" name="Shape 7"/>
          <p:cNvSpPr/>
          <p:nvPr/>
        </p:nvSpPr>
        <p:spPr>
          <a:xfrm>
            <a:off x="0" y="6350000"/>
            <a:ext cx="12192000" cy="12700"/>
          </a:xfrm>
          <a:prstGeom prst="rect">
            <a:avLst/>
          </a:prstGeom>
          <a:solidFill>
            <a:srgbClr val="A6A6A6"/>
          </a:solidFill>
          <a:ln/>
        </p:spPr>
      </p:sp>
      <p:sp>
        <p:nvSpPr>
          <p:cNvPr id="11"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22</a:t>
            </a:r>
            <a:endParaRPr lang="en-US" sz="1500" dirty="0"/>
          </a:p>
        </p:txBody>
      </p:sp>
      <p:pic>
        <p:nvPicPr>
          <p:cNvPr id="1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2.4. Why it bends: many fine cracks instead of one</a:t>
            </a:r>
            <a:endParaRPr lang="en-US" sz="2800" dirty="0"/>
          </a:p>
        </p:txBody>
      </p:sp>
      <p:sp>
        <p:nvSpPr>
          <p:cNvPr id="7" name="Text 5"/>
          <p:cNvSpPr/>
          <p:nvPr/>
        </p:nvSpPr>
        <p:spPr>
          <a:xfrm>
            <a:off x="812800" y="1686520"/>
            <a:ext cx="542268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The multiple-cracking cycle</a:t>
            </a:r>
            <a:endParaRPr lang="en-US" sz="1800" dirty="0"/>
          </a:p>
        </p:txBody>
      </p:sp>
      <p:sp>
        <p:nvSpPr>
          <p:cNvPr id="8" name="Text 6"/>
          <p:cNvSpPr/>
          <p:nvPr/>
        </p:nvSpPr>
        <p:spPr>
          <a:xfrm>
            <a:off x="854968" y="2087761"/>
            <a:ext cx="5372900" cy="1406525"/>
          </a:xfrm>
          <a:prstGeom prst="rect">
            <a:avLst/>
          </a:prstGeom>
          <a:noFill/>
          <a:ln/>
        </p:spPr>
        <p:txBody>
          <a:bodyPr wrap="square" lIns="0" tIns="0" rIns="0" bIns="0" rtlCol="0" anchor="t">
            <a:normAutofit/>
          </a:bodyPr>
          <a:lstStyle/>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The matrix cracks at its largest flaw</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Fibers bridging the crack carry the whole load</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They pass load back into the matrix by shear</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A new crack forms at the next flaw, at a higher stress</a:t>
            </a:r>
            <a:endParaRPr lang="en-US" sz="1500" dirty="0"/>
          </a:p>
          <a:p>
            <a:pPr algn="l" marL="211832" indent="-211832">
              <a:lnSpc>
                <a:spcPts val="2175"/>
              </a:lnSpc>
              <a:buSzPct val="100000"/>
              <a:buFontTx/>
              <a:buAutoNum type="arabicPeriod" startAt="1"/>
            </a:pPr>
            <a:r>
              <a:rPr lang="en-US" sz="1500" dirty="0">
                <a:solidFill>
                  <a:srgbClr val="3E464C"/>
                </a:solidFill>
                <a:latin typeface="Arial" pitchFamily="34" charset="0"/>
                <a:ea typeface="Arial" pitchFamily="34" charset="-122"/>
                <a:cs typeface="Arial" pitchFamily="34" charset="-120"/>
              </a:rPr>
              <a:t>Repeat until one crack’s bridging capacity is exhausted</a:t>
            </a:r>
            <a:endParaRPr lang="en-US" sz="1500" dirty="0"/>
          </a:p>
        </p:txBody>
      </p:sp>
      <p:sp>
        <p:nvSpPr>
          <p:cNvPr id="9" name="Text 7"/>
          <p:cNvSpPr/>
          <p:nvPr/>
        </p:nvSpPr>
        <p:spPr>
          <a:xfrm>
            <a:off x="812800" y="3595886"/>
            <a:ext cx="5422688"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64C"/>
                </a:solidFill>
                <a:latin typeface="Arial" pitchFamily="34" charset="0"/>
                <a:ea typeface="Arial" pitchFamily="34" charset="-122"/>
                <a:cs typeface="Arial" pitchFamily="34" charset="-120"/>
              </a:rPr>
              <a:t>Prerequisite: each crack must open flat, at constant stress (steady-state cracking), not like a Griffith crack.</a:t>
            </a:r>
            <a:endParaRPr lang="en-US" sz="1500" dirty="0"/>
          </a:p>
        </p:txBody>
      </p:sp>
      <p:sp>
        <p:nvSpPr>
          <p:cNvPr id="10" name="Shape 8"/>
          <p:cNvSpPr/>
          <p:nvPr/>
        </p:nvSpPr>
        <p:spPr>
          <a:xfrm>
            <a:off x="6382345" y="1686520"/>
            <a:ext cx="4996855" cy="2869902"/>
          </a:xfrm>
          <a:prstGeom prst="roundRect">
            <a:avLst>
              <a:gd name="adj" fmla="val 2655"/>
            </a:avLst>
          </a:prstGeom>
          <a:solidFill>
            <a:srgbClr val="1F4E79"/>
          </a:solidFill>
          <a:ln/>
        </p:spPr>
      </p:sp>
      <p:sp>
        <p:nvSpPr>
          <p:cNvPr id="11" name="Text 9"/>
          <p:cNvSpPr/>
          <p:nvPr/>
        </p:nvSpPr>
        <p:spPr>
          <a:xfrm>
            <a:off x="6687145" y="1991320"/>
            <a:ext cx="4518872"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8FB8D6"/>
                </a:solidFill>
                <a:latin typeface="Arial" pitchFamily="34" charset="0"/>
                <a:ea typeface="Arial" pitchFamily="34" charset="-122"/>
                <a:cs typeface="Arial" pitchFamily="34" charset="-120"/>
              </a:rPr>
              <a:t>Li &amp; Leung 1992, Eq. 17</a:t>
            </a:r>
            <a:endParaRPr lang="en-US" sz="1400" dirty="0"/>
          </a:p>
        </p:txBody>
      </p:sp>
      <p:sp>
        <p:nvSpPr>
          <p:cNvPr id="12" name="Text 10"/>
          <p:cNvSpPr/>
          <p:nvPr/>
        </p:nvSpPr>
        <p:spPr>
          <a:xfrm>
            <a:off x="6687145" y="2341761"/>
            <a:ext cx="4518872" cy="43428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4F5F2"/>
                </a:solidFill>
                <a:latin typeface="Arial" pitchFamily="34" charset="0"/>
                <a:ea typeface="Arial" pitchFamily="34" charset="-122"/>
                <a:cs typeface="Arial" pitchFamily="34" charset="-120"/>
              </a:rPr>
              <a:t>Vf,crit ∝ (Lf / df)⁻³</a:t>
            </a:r>
            <a:endParaRPr lang="en-US" sz="2800" dirty="0"/>
          </a:p>
        </p:txBody>
      </p:sp>
      <p:sp>
        <p:nvSpPr>
          <p:cNvPr id="13" name="Text 11"/>
          <p:cNvSpPr/>
          <p:nvPr/>
        </p:nvSpPr>
        <p:spPr>
          <a:xfrm>
            <a:off x="6687145" y="2852241"/>
            <a:ext cx="451887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4"/>
                </a:solidFill>
                <a:latin typeface="Arial" pitchFamily="34" charset="0"/>
                <a:ea typeface="Arial" pitchFamily="34" charset="-122"/>
                <a:cs typeface="Arial" pitchFamily="34" charset="-120"/>
              </a:rPr>
              <a:t>The critical fiber volume falls with the cube of the aspect ratio: doubling fiber length cuts the fiber needed by 87.5%.</a:t>
            </a:r>
            <a:endParaRPr lang="en-US" sz="1500" dirty="0"/>
          </a:p>
        </p:txBody>
      </p:sp>
      <p:sp>
        <p:nvSpPr>
          <p:cNvPr id="14" name="Text 12"/>
          <p:cNvSpPr/>
          <p:nvPr/>
        </p:nvSpPr>
        <p:spPr>
          <a:xfrm>
            <a:off x="6687145" y="3753941"/>
            <a:ext cx="451887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0C4"/>
                </a:solidFill>
                <a:latin typeface="Arial" pitchFamily="34" charset="0"/>
                <a:ea typeface="Arial" pitchFamily="34" charset="-122"/>
                <a:cs typeface="Arial" pitchFamily="34" charset="-120"/>
              </a:rPr>
              <a:t>Energy condition: area under the bridging curve ≥ 10 × crack-tip toughness.</a:t>
            </a:r>
            <a:endParaRPr lang="en-US" sz="1400" dirty="0"/>
          </a:p>
        </p:txBody>
      </p:sp>
      <p:sp>
        <p:nvSpPr>
          <p:cNvPr id="15" name="Text 13"/>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Design theory · li1992-steady-state-multiple-cracking · wiki: steady-state-cracking</a:t>
            </a:r>
            <a:endParaRPr lang="en-US" sz="1200" dirty="0"/>
          </a:p>
        </p:txBody>
      </p:sp>
      <p:sp>
        <p:nvSpPr>
          <p:cNvPr id="16" name="Shape 14"/>
          <p:cNvSpPr/>
          <p:nvPr/>
        </p:nvSpPr>
        <p:spPr>
          <a:xfrm>
            <a:off x="0" y="6350000"/>
            <a:ext cx="12192000" cy="12700"/>
          </a:xfrm>
          <a:prstGeom prst="rect">
            <a:avLst/>
          </a:prstGeom>
          <a:solidFill>
            <a:srgbClr val="A6A6A6"/>
          </a:solidFill>
          <a:ln/>
        </p:spPr>
      </p:sp>
      <p:sp>
        <p:nvSpPr>
          <p:cNvPr id="17" name="Text 15"/>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8" name="Text 16"/>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23</a:t>
            </a:r>
            <a:endParaRPr lang="en-US" sz="1500" dirty="0"/>
          </a:p>
        </p:txBody>
      </p:sp>
      <p:pic>
        <p:nvPicPr>
          <p:cNvPr id="19"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2.5. Two design criteria for strain hardening</a:t>
            </a:r>
            <a:endParaRPr lang="en-US" sz="2800" dirty="0"/>
          </a:p>
        </p:txBody>
      </p:sp>
      <p:sp>
        <p:nvSpPr>
          <p:cNvPr id="7" name="Shape 5"/>
          <p:cNvSpPr/>
          <p:nvPr/>
        </p:nvSpPr>
        <p:spPr>
          <a:xfrm>
            <a:off x="815975" y="1689695"/>
            <a:ext cx="5175250" cy="2894211"/>
          </a:xfrm>
          <a:prstGeom prst="roundRect">
            <a:avLst>
              <a:gd name="adj" fmla="val 2523"/>
            </a:avLst>
          </a:prstGeom>
          <a:solidFill>
            <a:srgbClr val="F4F8FC"/>
          </a:solidFill>
          <a:ln w="6350">
            <a:solidFill>
              <a:srgbClr val="C9D7E8"/>
            </a:solidFill>
            <a:prstDash val="solid"/>
          </a:ln>
        </p:spPr>
      </p:sp>
      <p:sp>
        <p:nvSpPr>
          <p:cNvPr id="8" name="Text 6"/>
          <p:cNvSpPr/>
          <p:nvPr/>
        </p:nvSpPr>
        <p:spPr>
          <a:xfrm>
            <a:off x="1098550" y="1972270"/>
            <a:ext cx="474840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Strength criterion</a:t>
            </a:r>
            <a:endParaRPr lang="en-US" sz="1400" dirty="0"/>
          </a:p>
        </p:txBody>
      </p:sp>
      <p:sp>
        <p:nvSpPr>
          <p:cNvPr id="9" name="Text 7"/>
          <p:cNvSpPr/>
          <p:nvPr/>
        </p:nvSpPr>
        <p:spPr>
          <a:xfrm>
            <a:off x="1098550" y="2348111"/>
            <a:ext cx="4748403"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22272B"/>
                </a:solidFill>
                <a:latin typeface="Arial" pitchFamily="34" charset="0"/>
                <a:ea typeface="Arial" pitchFamily="34" charset="-122"/>
                <a:cs typeface="Arial" pitchFamily="34" charset="-120"/>
              </a:rPr>
              <a:t>σfc ≤ min(σ₀)</a:t>
            </a:r>
            <a:endParaRPr lang="en-US" sz="2400" dirty="0"/>
          </a:p>
        </p:txBody>
      </p:sp>
      <p:sp>
        <p:nvSpPr>
          <p:cNvPr id="10" name="Text 8"/>
          <p:cNvSpPr/>
          <p:nvPr/>
        </p:nvSpPr>
        <p:spPr>
          <a:xfrm>
            <a:off x="1098550" y="2840831"/>
            <a:ext cx="47484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The first-crack stress must stay below the bridging capacity of the weakest section.</a:t>
            </a:r>
            <a:endParaRPr lang="en-US" sz="1500" dirty="0"/>
          </a:p>
        </p:txBody>
      </p:sp>
      <p:sp>
        <p:nvSpPr>
          <p:cNvPr id="11" name="Text 9"/>
          <p:cNvSpPr/>
          <p:nvPr/>
        </p:nvSpPr>
        <p:spPr>
          <a:xfrm>
            <a:off x="1098550" y="3501231"/>
            <a:ext cx="4748403"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2272B"/>
                </a:solidFill>
                <a:latin typeface="Arial" pitchFamily="34" charset="0"/>
                <a:ea typeface="Arial" pitchFamily="34" charset="-122"/>
                <a:cs typeface="Arial" pitchFamily="34" charset="-120"/>
              </a:rPr>
              <a:t>Saturated cracking if &gt; 1.3 (fiber rupture) or &gt; 1.2 (pull-out)</a:t>
            </a:r>
            <a:endParaRPr lang="en-US" sz="1500" dirty="0"/>
          </a:p>
        </p:txBody>
      </p:sp>
      <p:sp>
        <p:nvSpPr>
          <p:cNvPr id="12" name="Shape 10"/>
          <p:cNvSpPr/>
          <p:nvPr/>
        </p:nvSpPr>
        <p:spPr>
          <a:xfrm>
            <a:off x="6200775" y="1689695"/>
            <a:ext cx="5175250" cy="2894211"/>
          </a:xfrm>
          <a:prstGeom prst="roundRect">
            <a:avLst>
              <a:gd name="adj" fmla="val 2523"/>
            </a:avLst>
          </a:prstGeom>
          <a:solidFill>
            <a:srgbClr val="F4F8FC"/>
          </a:solidFill>
          <a:ln w="6350">
            <a:solidFill>
              <a:srgbClr val="C9D7E8"/>
            </a:solidFill>
            <a:prstDash val="solid"/>
          </a:ln>
        </p:spPr>
      </p:sp>
      <p:sp>
        <p:nvSpPr>
          <p:cNvPr id="13" name="Text 11"/>
          <p:cNvSpPr/>
          <p:nvPr/>
        </p:nvSpPr>
        <p:spPr>
          <a:xfrm>
            <a:off x="6483350" y="1972270"/>
            <a:ext cx="474840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0070C0"/>
                </a:solidFill>
                <a:latin typeface="Arial" pitchFamily="34" charset="0"/>
                <a:ea typeface="Arial" pitchFamily="34" charset="-122"/>
                <a:cs typeface="Arial" pitchFamily="34" charset="-120"/>
              </a:rPr>
              <a:t>Energy criterion</a:t>
            </a:r>
            <a:endParaRPr lang="en-US" sz="1400" dirty="0"/>
          </a:p>
        </p:txBody>
      </p:sp>
      <p:sp>
        <p:nvSpPr>
          <p:cNvPr id="14" name="Text 12"/>
          <p:cNvSpPr/>
          <p:nvPr/>
        </p:nvSpPr>
        <p:spPr>
          <a:xfrm>
            <a:off x="6483350" y="2348111"/>
            <a:ext cx="4748403" cy="391120"/>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22272B"/>
                </a:solidFill>
                <a:latin typeface="Arial" pitchFamily="34" charset="0"/>
                <a:ea typeface="Arial" pitchFamily="34" charset="-122"/>
                <a:cs typeface="Arial" pitchFamily="34" charset="-120"/>
              </a:rPr>
              <a:t>Jtip ≈ Km²/E ≤ J′b</a:t>
            </a:r>
            <a:endParaRPr lang="en-US" sz="2400" dirty="0"/>
          </a:p>
        </p:txBody>
      </p:sp>
      <p:sp>
        <p:nvSpPr>
          <p:cNvPr id="15" name="Text 13"/>
          <p:cNvSpPr/>
          <p:nvPr/>
        </p:nvSpPr>
        <p:spPr>
          <a:xfrm>
            <a:off x="6483350" y="2840831"/>
            <a:ext cx="474840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The complementary energy of fiber bridging must exceed the matrix crack-tip toughness, so cracks open flat.</a:t>
            </a:r>
            <a:endParaRPr lang="en-US" sz="1500" dirty="0"/>
          </a:p>
        </p:txBody>
      </p:sp>
      <p:sp>
        <p:nvSpPr>
          <p:cNvPr id="16" name="Text 14"/>
          <p:cNvSpPr/>
          <p:nvPr/>
        </p:nvSpPr>
        <p:spPr>
          <a:xfrm>
            <a:off x="6483350" y="3767931"/>
            <a:ext cx="4748403"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2272B"/>
                </a:solidFill>
                <a:latin typeface="Arial" pitchFamily="34" charset="0"/>
                <a:ea typeface="Arial" pitchFamily="34" charset="-122"/>
                <a:cs typeface="Arial" pitchFamily="34" charset="-120"/>
              </a:rPr>
              <a:t>Saturated cracking if &gt; 2.7 (fiber rupture) or &gt; 3 (pull-out)</a:t>
            </a:r>
            <a:endParaRPr lang="en-US" sz="1500" dirty="0"/>
          </a:p>
        </p:txBody>
      </p:sp>
      <p:sp>
        <p:nvSpPr>
          <p:cNvPr id="17" name="Text 15"/>
          <p:cNvSpPr/>
          <p:nvPr/>
        </p:nvSpPr>
        <p:spPr>
          <a:xfrm>
            <a:off x="812800" y="4891881"/>
            <a:ext cx="1046480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Two design levers follow: weaken the matrix (lower Km and σfc) or strengthen the bridging (more, longer, stronger fibers, a tuned interface).</a:t>
            </a:r>
            <a:endParaRPr lang="en-US" sz="1600" dirty="0"/>
          </a:p>
        </p:txBody>
      </p:sp>
      <p:sp>
        <p:nvSpPr>
          <p:cNvPr id="18" name="Text 1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Design theory · kanda2006 Eqs. 1–4, p. 60, 69–70; Kanda &amp; Li 1998b as cited there · wiki: strain-hardening</a:t>
            </a:r>
            <a:endParaRPr lang="en-US" sz="1200" dirty="0"/>
          </a:p>
        </p:txBody>
      </p:sp>
      <p:sp>
        <p:nvSpPr>
          <p:cNvPr id="19" name="Shape 17"/>
          <p:cNvSpPr/>
          <p:nvPr/>
        </p:nvSpPr>
        <p:spPr>
          <a:xfrm>
            <a:off x="0" y="6350000"/>
            <a:ext cx="12192000" cy="12700"/>
          </a:xfrm>
          <a:prstGeom prst="rect">
            <a:avLst/>
          </a:prstGeom>
          <a:solidFill>
            <a:srgbClr val="A6A6A6"/>
          </a:solidFill>
          <a:ln/>
        </p:spPr>
      </p:sp>
      <p:sp>
        <p:nvSpPr>
          <p:cNvPr id="20" name="Text 1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1" name="Text 1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24</a:t>
            </a:r>
            <a:endParaRPr lang="en-US" sz="1500" dirty="0"/>
          </a:p>
        </p:txBody>
      </p:sp>
      <p:pic>
        <p:nvPicPr>
          <p:cNvPr id="22"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2.6. Tuning the interface: oil-coated PVA</a:t>
            </a:r>
            <a:endParaRPr lang="en-US" sz="2800" dirty="0"/>
          </a:p>
        </p:txBody>
      </p:sp>
      <p:sp>
        <p:nvSpPr>
          <p:cNvPr id="7" name="Text 5"/>
          <p:cNvSpPr/>
          <p:nvPr/>
        </p:nvSpPr>
        <p:spPr>
          <a:xfrm>
            <a:off x="812800" y="1610320"/>
            <a:ext cx="10464800" cy="614561"/>
          </a:xfrm>
          <a:prstGeom prst="rect">
            <a:avLst/>
          </a:prstGeom>
          <a:noFill/>
          <a:ln/>
        </p:spPr>
        <p:txBody>
          <a:bodyPr wrap="square" lIns="0" tIns="0" rIns="0" bIns="0" rtlCol="0" anchor="t">
            <a:normAutofit/>
          </a:bodyPr>
          <a:lstStyle/>
          <a:p>
            <a:pPr algn="l" indent="0" marL="0">
              <a:lnSpc>
                <a:spcPts val="2320"/>
              </a:lnSpc>
              <a:buNone/>
            </a:pPr>
            <a:r>
              <a:rPr lang="en-US" sz="1600" dirty="0">
                <a:solidFill>
                  <a:srgbClr val="3E464C"/>
                </a:solidFill>
                <a:latin typeface="Arial" pitchFamily="34" charset="0"/>
                <a:ea typeface="Arial" pitchFamily="34" charset="-122"/>
                <a:cs typeface="Arial" pitchFamily="34" charset="-120"/>
              </a:rPr>
              <a:t>A 100 nm oil coating weakens PVA’s chemical bond. Fibers pull out instead of rupturing, and strain capacity rises fivefold.</a:t>
            </a:r>
            <a:endParaRPr lang="en-US" sz="1600" dirty="0"/>
          </a:p>
        </p:txBody>
      </p:sp>
      <p:pic>
        <p:nvPicPr>
          <p:cNvPr id="8" name="Image 0" descr="Three charts versus oil coating 0 to 1.2%: chemical bond falls from 4.71 to 1.61 J/m², strain capacity rises from 0.99 to 4.88%, crack width rises from 43 to 88 µm">    </p:cNvPr>
          <p:cNvPicPr>
            <a:picLocks noChangeAspect="1"/>
          </p:cNvPicPr>
          <p:nvPr/>
        </p:nvPicPr>
        <p:blipFill>
          <a:blip r:embed="rId1"/>
          <a:srcRect l="0" r="0" t="-5" b="-5"/>
          <a:stretch/>
        </p:blipFill>
        <p:spPr>
          <a:xfrm>
            <a:off x="812800" y="2428081"/>
            <a:ext cx="9829800" cy="3048000"/>
          </a:xfrm>
          <a:prstGeom prst="rect">
            <a:avLst/>
          </a:prstGeom>
        </p:spPr>
      </p:pic>
      <p:sp>
        <p:nvSpPr>
          <p:cNvPr id="9" name="Text 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Interface · li2002-pva-ecc-interface-tailoring, Tables 3–4 · wiki: fiber-surface-treatment</a:t>
            </a:r>
            <a:endParaRPr lang="en-US" sz="1200" dirty="0"/>
          </a:p>
        </p:txBody>
      </p:sp>
      <p:sp>
        <p:nvSpPr>
          <p:cNvPr id="10" name="Shape 7"/>
          <p:cNvSpPr/>
          <p:nvPr/>
        </p:nvSpPr>
        <p:spPr>
          <a:xfrm>
            <a:off x="0" y="6350000"/>
            <a:ext cx="12192000" cy="12700"/>
          </a:xfrm>
          <a:prstGeom prst="rect">
            <a:avLst/>
          </a:prstGeom>
          <a:solidFill>
            <a:srgbClr val="A6A6A6"/>
          </a:solidFill>
          <a:ln/>
        </p:spPr>
      </p:sp>
      <p:sp>
        <p:nvSpPr>
          <p:cNvPr id="11"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25</a:t>
            </a:r>
            <a:endParaRPr lang="en-US" sz="1500" dirty="0"/>
          </a:p>
        </p:txBody>
      </p:sp>
      <p:pic>
        <p:nvPicPr>
          <p:cNvPr id="13" name="Image 1" descr="">    </p:cNvPr>
          <p:cNvPicPr>
            <a:picLocks noChangeAspect="1"/>
          </p:cNvPicPr>
          <p:nvPr/>
        </p:nvPicPr>
        <p:blipFill>
          <a:blip r:embed="rId2">
            <a:alphaModFix amt="60000"/>
          </a:blip>
          <a:srcRect l="0" r="0" t="0" b="0"/>
          <a:stretch/>
        </p:blipFill>
        <p:spPr>
          <a:xfrm>
            <a:off x="11468100" y="6400800"/>
            <a:ext cx="431800" cy="4318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2.7. Where the criteria mislead</a:t>
            </a:r>
            <a:endParaRPr lang="en-US" sz="2800" dirty="0"/>
          </a:p>
        </p:txBody>
      </p:sp>
      <p:sp>
        <p:nvSpPr>
          <p:cNvPr id="7" name="Shape 5"/>
          <p:cNvSpPr/>
          <p:nvPr/>
        </p:nvSpPr>
        <p:spPr>
          <a:xfrm>
            <a:off x="815975" y="1664295"/>
            <a:ext cx="5175250" cy="2632472"/>
          </a:xfrm>
          <a:prstGeom prst="roundRect">
            <a:avLst>
              <a:gd name="adj" fmla="val 2774"/>
            </a:avLst>
          </a:prstGeom>
          <a:solidFill>
            <a:srgbClr val="F4F8FC"/>
          </a:solidFill>
          <a:ln w="6350">
            <a:solidFill>
              <a:srgbClr val="C9D7E8"/>
            </a:solidFill>
            <a:prstDash val="solid"/>
          </a:ln>
        </p:spPr>
      </p:sp>
      <p:sp>
        <p:nvSpPr>
          <p:cNvPr id="8" name="Text 6"/>
          <p:cNvSpPr/>
          <p:nvPr/>
        </p:nvSpPr>
        <p:spPr>
          <a:xfrm>
            <a:off x="1098550" y="1946870"/>
            <a:ext cx="474840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4E8A2A"/>
                </a:solidFill>
                <a:latin typeface="Arial" pitchFamily="34" charset="0"/>
                <a:ea typeface="Arial" pitchFamily="34" charset="-122"/>
                <a:cs typeface="Arial" pitchFamily="34" charset="-120"/>
              </a:rPr>
              <a:t>PVA-ECC · Li et al. 2002</a:t>
            </a:r>
            <a:endParaRPr lang="en-US" sz="1400" dirty="0"/>
          </a:p>
        </p:txBody>
      </p:sp>
      <p:sp>
        <p:nvSpPr>
          <p:cNvPr id="9" name="Text 7"/>
          <p:cNvSpPr/>
          <p:nvPr/>
        </p:nvSpPr>
        <p:spPr>
          <a:xfrm>
            <a:off x="1098550" y="2297311"/>
            <a:ext cx="4748403" cy="57388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Strength ratio: useless in one study, useful in another</a:t>
            </a:r>
            <a:endParaRPr lang="en-US" sz="1800" dirty="0"/>
          </a:p>
        </p:txBody>
      </p:sp>
      <p:sp>
        <p:nvSpPr>
          <p:cNvPr id="10" name="Text 8"/>
          <p:cNvSpPr/>
          <p:nvPr/>
        </p:nvSpPr>
        <p:spPr>
          <a:xfrm>
            <a:off x="1098550" y="2947392"/>
            <a:ext cx="474840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Li 2002: σtu/σfc is 1.5–1.8 for every mix, even the brittle 0.99% one; only the energy ratio separates them. Kanda 2006: 1.16 gives 0.26%, 1.44 gives 5.1%.</a:t>
            </a:r>
            <a:endParaRPr lang="en-US" sz="1500" dirty="0"/>
          </a:p>
        </p:txBody>
      </p:sp>
      <p:sp>
        <p:nvSpPr>
          <p:cNvPr id="11" name="Shape 9"/>
          <p:cNvSpPr/>
          <p:nvPr/>
        </p:nvSpPr>
        <p:spPr>
          <a:xfrm>
            <a:off x="6200775" y="1664295"/>
            <a:ext cx="5175250" cy="2632472"/>
          </a:xfrm>
          <a:prstGeom prst="roundRect">
            <a:avLst>
              <a:gd name="adj" fmla="val 2774"/>
            </a:avLst>
          </a:prstGeom>
          <a:solidFill>
            <a:srgbClr val="F4F8FC"/>
          </a:solidFill>
          <a:ln w="6350">
            <a:solidFill>
              <a:srgbClr val="C9D7E8"/>
            </a:solidFill>
            <a:prstDash val="solid"/>
          </a:ln>
        </p:spPr>
      </p:sp>
      <p:sp>
        <p:nvSpPr>
          <p:cNvPr id="12" name="Text 10"/>
          <p:cNvSpPr/>
          <p:nvPr/>
        </p:nvSpPr>
        <p:spPr>
          <a:xfrm>
            <a:off x="6483350" y="1946870"/>
            <a:ext cx="474840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720C"/>
                </a:solidFill>
                <a:latin typeface="Arial" pitchFamily="34" charset="0"/>
                <a:ea typeface="Arial" pitchFamily="34" charset="-122"/>
                <a:cs typeface="Arial" pitchFamily="34" charset="-120"/>
              </a:rPr>
              <a:t>6 mm PE HSHDC · Su et al. 2023</a:t>
            </a:r>
            <a:endParaRPr lang="en-US" sz="1400" dirty="0"/>
          </a:p>
        </p:txBody>
      </p:sp>
      <p:sp>
        <p:nvSpPr>
          <p:cNvPr id="13" name="Text 11"/>
          <p:cNvSpPr/>
          <p:nvPr/>
        </p:nvSpPr>
        <p:spPr>
          <a:xfrm>
            <a:off x="6483350" y="2297311"/>
            <a:ext cx="48895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2272B"/>
                </a:solidFill>
                <a:latin typeface="Arial" pitchFamily="34" charset="0"/>
                <a:ea typeface="Arial" pitchFamily="34" charset="-122"/>
                <a:cs typeface="Arial" pitchFamily="34" charset="-120"/>
              </a:rPr>
              <a:t>Passes the 1998 thresholds, yet one crack</a:t>
            </a:r>
            <a:endParaRPr lang="en-US" sz="1800" dirty="0"/>
          </a:p>
        </p:txBody>
      </p:sp>
      <p:sp>
        <p:nvSpPr>
          <p:cNvPr id="14" name="Text 12"/>
          <p:cNvSpPr/>
          <p:nvPr/>
        </p:nvSpPr>
        <p:spPr>
          <a:xfrm>
            <a:off x="6483350" y="2673152"/>
            <a:ext cx="4748403"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Strength ratio 1.2–1.5 and energy ratio 27–32. The mix fails at the first crack: fibers only 3 mm deep pull out. Against Kanda’s 2006 margin (1.3), PE6 at 1.2 is already borderline.</a:t>
            </a:r>
            <a:endParaRPr lang="en-US" sz="1500" dirty="0"/>
          </a:p>
        </p:txBody>
      </p:sp>
      <p:sp>
        <p:nvSpPr>
          <p:cNvPr id="15" name="Shape 13"/>
          <p:cNvSpPr/>
          <p:nvPr/>
        </p:nvSpPr>
        <p:spPr>
          <a:xfrm>
            <a:off x="831850" y="4579342"/>
            <a:ext cx="0" cy="934641"/>
          </a:xfrm>
          <a:prstGeom prst="line">
            <a:avLst/>
          </a:prstGeom>
          <a:noFill/>
          <a:ln w="38100">
            <a:solidFill>
              <a:srgbClr val="0070C0"/>
            </a:solidFill>
            <a:prstDash val="solid"/>
          </a:ln>
        </p:spPr>
      </p:sp>
      <p:sp>
        <p:nvSpPr>
          <p:cNvPr id="16" name="Text 14"/>
          <p:cNvSpPr/>
          <p:nvPr/>
        </p:nvSpPr>
        <p:spPr>
          <a:xfrm>
            <a:off x="1054100" y="4630142"/>
            <a:ext cx="10634853"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F4E79"/>
                </a:solidFill>
                <a:latin typeface="Arial" pitchFamily="34" charset="0"/>
                <a:ea typeface="Arial" pitchFamily="34" charset="-122"/>
                <a:cs typeface="Arial" pitchFamily="34" charset="-120"/>
              </a:rPr>
              <a:t>Synthesis (my interpretation)</a:t>
            </a:r>
            <a:endParaRPr lang="en-US" sz="1400" dirty="0"/>
          </a:p>
        </p:txBody>
      </p:sp>
      <p:sp>
        <p:nvSpPr>
          <p:cNvPr id="17" name="Text 15"/>
          <p:cNvSpPr/>
          <p:nvPr/>
        </p:nvSpPr>
        <p:spPr>
          <a:xfrm>
            <a:off x="1054100" y="4929783"/>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The indices omit embedment length and flaw size (both in Li &amp; Leung’s 1992 criteria), and three strength thresholds circulate: 1.2, 1.3 and 1.45 (Jin 2019). Necessary, not sufficient.</a:t>
            </a:r>
            <a:endParaRPr lang="en-US" sz="1500" dirty="0"/>
          </a:p>
        </p:txBody>
      </p:sp>
      <p:sp>
        <p:nvSpPr>
          <p:cNvPr id="18" name="Text 1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Design theory · li2002 Table 4; kanda2006 Table 4; su2023 Table 5, p. 10; li1992 Eq. 24; jin2019 §2.2 · wiki: strain-hardening, gaps</a:t>
            </a:r>
            <a:endParaRPr lang="en-US" sz="1200" dirty="0"/>
          </a:p>
        </p:txBody>
      </p:sp>
      <p:sp>
        <p:nvSpPr>
          <p:cNvPr id="19" name="Shape 17"/>
          <p:cNvSpPr/>
          <p:nvPr/>
        </p:nvSpPr>
        <p:spPr>
          <a:xfrm>
            <a:off x="0" y="6350000"/>
            <a:ext cx="12192000" cy="12700"/>
          </a:xfrm>
          <a:prstGeom prst="rect">
            <a:avLst/>
          </a:prstGeom>
          <a:solidFill>
            <a:srgbClr val="A6A6A6"/>
          </a:solidFill>
          <a:ln/>
        </p:spPr>
      </p:sp>
      <p:sp>
        <p:nvSpPr>
          <p:cNvPr id="20" name="Text 1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1" name="Text 1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26</a:t>
            </a:r>
            <a:endParaRPr lang="en-US" sz="1500" dirty="0"/>
          </a:p>
        </p:txBody>
      </p:sp>
      <p:pic>
        <p:nvPicPr>
          <p:cNvPr id="22"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2.8. PVA or PE: the fiber decides the matrix</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648420"/>
          <a:ext cx="10553700" cy="3220541"/>
        </p:xfrm>
        <a:graphic>
          <a:graphicData uri="http://schemas.openxmlformats.org/drawingml/2006/table">
            <a:tbl>
              <a:tblPr/>
              <a:tblGrid>
                <a:gridCol w="3588258"/>
                <a:gridCol w="3482721"/>
                <a:gridCol w="3482721"/>
              </a:tblGrid>
              <a:tr h="372566">
                <a:tc>
                  <a:txBody>
                    <a:bodyPr/>
                    <a:lstStyle/>
                    <a:p>
                      <a:pPr indent="0" marL="0">
                        <a:lnSpc>
                          <a:spcPts val="1890"/>
                        </a:lnSpc>
                        <a:buNone/>
                      </a:pP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90"/>
                        </a:lnSpc>
                        <a:buNone/>
                      </a:pPr>
                      <a:r>
                        <a:rPr lang="en-US" sz="1350" b="1" dirty="0">
                          <a:solidFill>
                            <a:srgbClr val="22272B"/>
                          </a:solidFill>
                          <a:latin typeface="Arial" pitchFamily="34" charset="0"/>
                          <a:ea typeface="Arial" pitchFamily="34" charset="-122"/>
                          <a:cs typeface="Arial" pitchFamily="34" charset="-120"/>
                        </a:rPr>
                        <a:t>PVA (hydrophilic)</a:t>
                      </a:r>
                      <a:endParaRPr lang="en-US" sz="1350" dirty="0">
                        <a:latin typeface="Arial" charset="0"/>
                        <a:ea typeface="Arial" charset="0"/>
                        <a:cs typeface="Arial" charset="0"/>
                      </a:endParaRPr>
                    </a:p>
                  </a:txBody>
                  <a:tcPr marL="60007" marR="60007" marT="60007" marB="6000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90"/>
                        </a:lnSpc>
                        <a:buNone/>
                      </a:pPr>
                      <a:r>
                        <a:rPr lang="en-US" sz="1350" b="1" dirty="0">
                          <a:solidFill>
                            <a:srgbClr val="22272B"/>
                          </a:solidFill>
                          <a:latin typeface="Arial" pitchFamily="34" charset="0"/>
                          <a:ea typeface="Arial" pitchFamily="34" charset="-122"/>
                          <a:cs typeface="Arial" pitchFamily="34" charset="-120"/>
                        </a:rPr>
                        <a:t>PE / UHMWPE (hydrophobic)</a:t>
                      </a:r>
                      <a:endParaRPr lang="en-US" sz="1350" dirty="0">
                        <a:latin typeface="Arial" charset="0"/>
                        <a:ea typeface="Arial" charset="0"/>
                        <a:cs typeface="Arial" charset="0"/>
                      </a:endParaRPr>
                    </a:p>
                  </a:txBody>
                  <a:tcPr marL="60007" marR="60007" marT="60007" marB="60007"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Bond to matrix</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chemical + friction</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friction only</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Tensile strength</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about 1600 MPa</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2300–3800 MPa</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Modulus</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about 40 GPa</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70–120 GPa</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12577">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Strain capacity, normal matrix</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4.88% (oil-coated ECC); 1.15% (Chinese C40 HDC)</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9.45% (UHDC)</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Strain capacity, high-strength matrix</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0.23–0.30%</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up to 6.48%</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Typical crack width</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about 40–90 µm</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about 80–200 µm</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72566">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Melting point</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melting onset 230 °C (TG)</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90"/>
                        </a:lnSpc>
                        <a:buNone/>
                      </a:pPr>
                      <a:r>
                        <a:rPr lang="en-US" sz="1350" dirty="0">
                          <a:solidFill>
                            <a:srgbClr val="22272B"/>
                          </a:solidFill>
                          <a:latin typeface="Arial" pitchFamily="34" charset="0"/>
                          <a:ea typeface="Arial" pitchFamily="34" charset="-122"/>
                          <a:cs typeface="Arial" pitchFamily="34" charset="-120"/>
                        </a:rPr>
                        <a:t>about 124–150 °C</a:t>
                      </a:r>
                      <a:endParaRPr lang="en-US" sz="1350" dirty="0">
                        <a:latin typeface="Arial" charset="0"/>
                        <a:ea typeface="Arial" charset="0"/>
                        <a:cs typeface="Arial" charset="0"/>
                      </a:endParaRPr>
                    </a:p>
                  </a:txBody>
                  <a:tcPr marL="60007" marR="60007" marT="60007" marB="60007"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5122962"/>
            <a:ext cx="1046480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PVA suits moderate-strength ECC once its bond is tamed. In high-strength matrices PE is the only fiber that works.</a:t>
            </a:r>
            <a:endParaRPr lang="en-US" sz="1500" dirty="0"/>
          </a:p>
        </p:txBody>
      </p:sp>
      <p:sp>
        <p:nvSpPr>
          <p:cNvPr id="9" name="Text 6"/>
          <p:cNvSpPr/>
          <p:nvPr/>
        </p:nvSpPr>
        <p:spPr>
          <a:xfrm>
            <a:off x="812800" y="60350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Fibers · li2002; yang2024 Tables 3, 6; ye2021; chai2023 Table 5; yu2018 Table 2; zhang2022; su2023; zhou2023 Fig. 4 · wiki: pe-fiber, pva-fiber</a:t>
            </a:r>
            <a:endParaRPr lang="en-US" sz="1200" dirty="0"/>
          </a:p>
        </p:txBody>
      </p:sp>
      <p:sp>
        <p:nvSpPr>
          <p:cNvPr id="10" name="Shape 7"/>
          <p:cNvSpPr/>
          <p:nvPr/>
        </p:nvSpPr>
        <p:spPr>
          <a:xfrm>
            <a:off x="0" y="6350000"/>
            <a:ext cx="12192000" cy="12700"/>
          </a:xfrm>
          <a:prstGeom prst="rect">
            <a:avLst/>
          </a:prstGeom>
          <a:solidFill>
            <a:srgbClr val="A6A6A6"/>
          </a:solidFill>
          <a:ln/>
        </p:spPr>
      </p:sp>
      <p:sp>
        <p:nvSpPr>
          <p:cNvPr id="11"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27</a:t>
            </a:r>
            <a:endParaRPr lang="en-US" sz="1500" dirty="0"/>
          </a:p>
        </p:txBody>
      </p:sp>
      <p:pic>
        <p:nvPicPr>
          <p:cNvPr id="1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0170"/>
          </a:xfrm>
          <a:prstGeom prst="rect">
            <a:avLst/>
          </a:prstGeom>
          <a:noFill/>
          <a:ln/>
        </p:spPr>
        <p:txBody>
          <a:bodyPr wrap="square" lIns="0" tIns="0" rIns="0" bIns="0" rtlCol="0" anchor="t">
            <a:normAutofit/>
          </a:bodyPr>
          <a:lstStyle/>
          <a:p>
            <a:pPr algn="l" indent="0" marL="0">
              <a:lnSpc>
                <a:spcPts val="3070"/>
              </a:lnSpc>
              <a:buNone/>
            </a:pPr>
            <a:r>
              <a:rPr lang="en-US" sz="2791" b="0" i="0" dirty="0">
                <a:solidFill>
                  <a:srgbClr val="0070C0"/>
                </a:solidFill>
                <a:latin typeface="Arial" pitchFamily="34" charset="0"/>
                <a:ea typeface="Arial" pitchFamily="34" charset="-122"/>
                <a:cs typeface="Arial" pitchFamily="34" charset="-120"/>
              </a:rPr>
              <a:t>2.9. Mix-design levers for ductility</a:t>
            </a:r>
            <a:endParaRPr lang="en-US" sz="2791"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642070"/>
          <a:ext cx="10553700" cy="3599458"/>
        </p:xfrm>
        <a:graphic>
          <a:graphicData uri="http://schemas.openxmlformats.org/drawingml/2006/table">
            <a:tbl>
              <a:tblPr/>
              <a:tblGrid>
                <a:gridCol w="2955036"/>
                <a:gridCol w="4854702"/>
                <a:gridCol w="2743962"/>
              </a:tblGrid>
              <a:tr h="327223">
                <a:tc>
                  <a:txBody>
                    <a:bodyPr/>
                    <a:lstStyle/>
                    <a:p>
                      <a:pPr indent="0" marL="0">
                        <a:lnSpc>
                          <a:spcPts val="1648"/>
                        </a:lnSpc>
                        <a:buNone/>
                      </a:pPr>
                      <a:r>
                        <a:rPr lang="en-US" sz="1177" b="1" dirty="0">
                          <a:solidFill>
                            <a:srgbClr val="22272B"/>
                          </a:solidFill>
                          <a:latin typeface="Arial" pitchFamily="34" charset="0"/>
                          <a:ea typeface="Arial" pitchFamily="34" charset="-122"/>
                          <a:cs typeface="Arial" pitchFamily="34" charset="-120"/>
                        </a:rPr>
                        <a:t>Lever</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48"/>
                        </a:lnSpc>
                        <a:buNone/>
                      </a:pPr>
                      <a:r>
                        <a:rPr lang="en-US" sz="1177" b="1" dirty="0">
                          <a:solidFill>
                            <a:srgbClr val="22272B"/>
                          </a:solidFill>
                          <a:latin typeface="Arial" pitchFamily="34" charset="0"/>
                          <a:ea typeface="Arial" pitchFamily="34" charset="-122"/>
                          <a:cs typeface="Arial" pitchFamily="34" charset="-120"/>
                        </a:rPr>
                        <a:t>Measured effect on strain capacity</a:t>
                      </a:r>
                      <a:endParaRPr lang="en-US" sz="1177" dirty="0">
                        <a:latin typeface="Arial" charset="0"/>
                        <a:ea typeface="Arial" charset="0"/>
                        <a:cs typeface="Arial" charset="0"/>
                      </a:endParaRPr>
                    </a:p>
                  </a:txBody>
                  <a:tcPr marL="52340" marR="52340" marT="52340" marB="52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48"/>
                        </a:lnSpc>
                        <a:buNone/>
                      </a:pPr>
                      <a:r>
                        <a:rPr lang="en-US" sz="1177" b="1" dirty="0">
                          <a:solidFill>
                            <a:srgbClr val="22272B"/>
                          </a:solidFill>
                          <a:latin typeface="Arial" pitchFamily="34" charset="0"/>
                          <a:ea typeface="Arial" pitchFamily="34" charset="-122"/>
                          <a:cs typeface="Arial" pitchFamily="34" charset="-120"/>
                        </a:rPr>
                        <a:t>Source</a:t>
                      </a:r>
                      <a:endParaRPr lang="en-US" sz="1177" dirty="0">
                        <a:latin typeface="Arial" charset="0"/>
                        <a:ea typeface="Arial" charset="0"/>
                        <a:cs typeface="Arial" charset="0"/>
                      </a:endParaRPr>
                    </a:p>
                  </a:txBody>
                  <a:tcPr marL="52340" marR="52340" marT="52340" marB="5234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Fly ash 15 → 25% (PE-HSHDC)</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+68.9%, lower first-crack stress</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Yang 2024 (Xi’an)</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FA/C 2.4 → 3.2 → 4.4 (PVA)</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1.92 → 3.42 → 3.07%: optimum near 3.2</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Jin 2019</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FA/C 1.2 → 2.8 (PVA)</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2.1 → 3.7%, but f'c 54.6 → 37.5 MPa</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Qian 2007</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W/B 0.14 / 0.16 / 0.18</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0.81 / 3.84 / 1.89%: an optimum, not a trend</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Yang 2024</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PE diameter 40 → 22 µm</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0.35 → 3.84%</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Yang 2024</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PE length 6 → 18 mm</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9.5× (6 mm stays brittle)</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Su 2023 (GDUT)</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Powder rubber 20 vol.%</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up to +71.6%, f'c still above 100 MPa</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Su 2023</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VAE coating on PVA</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3.21 → 4.05% at 7 d; 1.39 → 2.18% at 28 d</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Sun 2019</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Silica fume 0 → 40%</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2.5 → 4.7%, narrower cracks</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Lei 2019, as cited in Zhang 2022</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27223">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90 °C heat curing</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not required: ambient mixes reach 3.8–6.5%</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48"/>
                        </a:lnSpc>
                        <a:buNone/>
                      </a:pPr>
                      <a:r>
                        <a:rPr lang="en-US" sz="1177" dirty="0">
                          <a:solidFill>
                            <a:srgbClr val="22272B"/>
                          </a:solidFill>
                          <a:latin typeface="Arial" pitchFamily="34" charset="0"/>
                          <a:ea typeface="Arial" pitchFamily="34" charset="-122"/>
                          <a:cs typeface="Arial" pitchFamily="34" charset="-120"/>
                        </a:rPr>
                        <a:t>Su 2023; Yang 2024</a:t>
                      </a:r>
                      <a:endParaRPr lang="en-US" sz="1177" dirty="0">
                        <a:latin typeface="Arial" charset="0"/>
                        <a:ea typeface="Arial" charset="0"/>
                        <a:cs typeface="Arial" charset="0"/>
                      </a:endParaRPr>
                    </a:p>
                  </a:txBody>
                  <a:tcPr marL="52340" marR="52340" marT="52340" marB="52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5495528"/>
            <a:ext cx="10464800" cy="27027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Most levers work the same way: they lower matrix toughness or tune the fiber–matrix bond.</a:t>
            </a:r>
            <a:endParaRPr lang="en-US" sz="1400" dirty="0"/>
          </a:p>
        </p:txBody>
      </p:sp>
      <p:sp>
        <p:nvSpPr>
          <p:cNvPr id="9" name="Text 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Mix design · jin2019 Table 5; qian2007 Table 6; sun2019 Table 11 · wiki: mix-designs, fly-ash, water-binder-ratio, pva-fiber</a:t>
            </a:r>
            <a:endParaRPr lang="en-US" sz="1200" dirty="0"/>
          </a:p>
        </p:txBody>
      </p:sp>
      <p:sp>
        <p:nvSpPr>
          <p:cNvPr id="10" name="Shape 7"/>
          <p:cNvSpPr/>
          <p:nvPr/>
        </p:nvSpPr>
        <p:spPr>
          <a:xfrm>
            <a:off x="0" y="6350000"/>
            <a:ext cx="12192000" cy="12700"/>
          </a:xfrm>
          <a:prstGeom prst="rect">
            <a:avLst/>
          </a:prstGeom>
          <a:solidFill>
            <a:srgbClr val="A6A6A6"/>
          </a:solidFill>
          <a:ln/>
        </p:spPr>
      </p:sp>
      <p:sp>
        <p:nvSpPr>
          <p:cNvPr id="11"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28</a:t>
            </a:r>
            <a:endParaRPr lang="en-US" sz="1500" dirty="0"/>
          </a:p>
        </p:txBody>
      </p:sp>
      <p:pic>
        <p:nvPicPr>
          <p:cNvPr id="1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2.10. Strength versus ductility: a trend, not a law</a:t>
            </a:r>
            <a:endParaRPr lang="en-US" sz="2800" dirty="0"/>
          </a:p>
        </p:txBody>
      </p:sp>
      <p:pic>
        <p:nvPicPr>
          <p:cNvPr id="7" name="Image 0" descr="Scatter of compressive strength against tensile strain capacity: Tongji UHDC up to 9.45% at 37 MPa, GDUT 2.9–5.7% at 112–157 MPa, Michigan 3.4–4.2% at 166 MPa, Xi'an PVA 0.2–0.3% at about 94 MPa, Cor-Tuf UHPC 0.12% at 201 MPa, Chinese PVA-HDC C40 0.4–1.15% at 48–59 MPa (cube), and compiled HSHDCC points up to 11% at about 123 MPa and 5% at 210 MPa">    </p:cNvPr>
          <p:cNvPicPr>
            <a:picLocks noChangeAspect="1"/>
          </p:cNvPicPr>
          <p:nvPr/>
        </p:nvPicPr>
        <p:blipFill>
          <a:blip r:embed="rId1"/>
          <a:srcRect l="-2995" r="-2995" t="0" b="0"/>
          <a:stretch/>
        </p:blipFill>
        <p:spPr>
          <a:xfrm>
            <a:off x="812800" y="1584920"/>
            <a:ext cx="6985000" cy="3911600"/>
          </a:xfrm>
          <a:prstGeom prst="rect">
            <a:avLst/>
          </a:prstGeom>
        </p:spPr>
      </p:pic>
      <p:sp>
        <p:nvSpPr>
          <p:cNvPr id="8" name="Text 5"/>
          <p:cNvSpPr/>
          <p:nvPr/>
        </p:nvSpPr>
        <p:spPr>
          <a:xfrm>
            <a:off x="8102600" y="1584920"/>
            <a:ext cx="3374898" cy="113030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64C"/>
                </a:solidFill>
                <a:latin typeface="Arial" pitchFamily="34" charset="0"/>
                <a:ea typeface="Arial" pitchFamily="34" charset="-122"/>
                <a:cs typeface="Arial" pitchFamily="34" charset="-120"/>
              </a:rPr>
              <a:t>Within the plotted primary studies, ductility falls as strength rises: from 9.45% at 37 MPa to 3.4–4.2% at 166 MPa.</a:t>
            </a:r>
            <a:endParaRPr lang="en-US" sz="1500" dirty="0"/>
          </a:p>
        </p:txBody>
      </p:sp>
      <p:sp>
        <p:nvSpPr>
          <p:cNvPr id="9" name="Text 6"/>
          <p:cNvSpPr/>
          <p:nvPr/>
        </p:nvSpPr>
        <p:spPr>
          <a:xfrm>
            <a:off x="8102600" y="2842220"/>
            <a:ext cx="3374898" cy="113030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3E464C"/>
                </a:solidFill>
                <a:latin typeface="Arial" pitchFamily="34" charset="0"/>
                <a:ea typeface="Arial" pitchFamily="34" charset="-122"/>
                <a:cs typeface="Arial" pitchFamily="34" charset="-120"/>
              </a:rPr>
              <a:t>But mixes compiled by Zhang 2022 (hollow) break the trend: more than 5% at over 210 MPa, 8.5% at 122 MPa.</a:t>
            </a:r>
            <a:endParaRPr lang="en-US" sz="1500" dirty="0"/>
          </a:p>
        </p:txBody>
      </p:sp>
      <p:sp>
        <p:nvSpPr>
          <p:cNvPr id="10" name="Text 7"/>
          <p:cNvSpPr/>
          <p:nvPr/>
        </p:nvSpPr>
        <p:spPr>
          <a:xfrm>
            <a:off x="8102600" y="4099520"/>
            <a:ext cx="3374898" cy="5588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4E79"/>
                </a:solidFill>
                <a:latin typeface="Arial" pitchFamily="34" charset="0"/>
                <a:ea typeface="Arial" pitchFamily="34" charset="-122"/>
                <a:cs typeface="Arial" pitchFamily="34" charset="-120"/>
              </a:rPr>
              <a:t>Ductility is set by fiber and interface design, not by f'c alone.</a:t>
            </a:r>
            <a:endParaRPr lang="en-US" sz="1500" dirty="0"/>
          </a:p>
        </p:txBody>
      </p:sp>
      <p:sp>
        <p:nvSpPr>
          <p:cNvPr id="11" name="Text 8"/>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Tension · wiki: mechanical-results, tensile-strain-capacity · GDUT f'c read from a bar chart (approximate); Chai 2023 = 100 mm cubes</a:t>
            </a:r>
            <a:endParaRPr lang="en-US" sz="1200" dirty="0"/>
          </a:p>
        </p:txBody>
      </p:sp>
      <p:sp>
        <p:nvSpPr>
          <p:cNvPr id="12" name="Shape 9"/>
          <p:cNvSpPr/>
          <p:nvPr/>
        </p:nvSpPr>
        <p:spPr>
          <a:xfrm>
            <a:off x="0" y="6350000"/>
            <a:ext cx="12192000" cy="12700"/>
          </a:xfrm>
          <a:prstGeom prst="rect">
            <a:avLst/>
          </a:prstGeom>
          <a:solidFill>
            <a:srgbClr val="A6A6A6"/>
          </a:solidFill>
          <a:ln/>
        </p:spPr>
      </p:sp>
      <p:sp>
        <p:nvSpPr>
          <p:cNvPr id="13" name="Text 10"/>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4" name="Text 11"/>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29</a:t>
            </a:r>
            <a:endParaRPr lang="en-US" sz="1500" dirty="0"/>
          </a:p>
        </p:txBody>
      </p:sp>
      <p:pic>
        <p:nvPicPr>
          <p:cNvPr id="15" name="Image 1" descr="">    </p:cNvPr>
          <p:cNvPicPr>
            <a:picLocks noChangeAspect="1"/>
          </p:cNvPicPr>
          <p:nvPr/>
        </p:nvPicPr>
        <p:blipFill>
          <a:blip r:embed="rId2">
            <a:alphaModFix amt="60000"/>
          </a:blip>
          <a:srcRect l="0" r="0" t="0" b="0"/>
          <a:stretch/>
        </p:blipFill>
        <p:spPr>
          <a:xfrm>
            <a:off x="11468100" y="6400800"/>
            <a:ext cx="431800" cy="4318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2.11. The test setup changes the number</a:t>
            </a:r>
            <a:endParaRPr lang="en-US" sz="2800" dirty="0"/>
          </a:p>
        </p:txBody>
      </p:sp>
      <p:sp>
        <p:nvSpPr>
          <p:cNvPr id="7" name="Text 5"/>
          <p:cNvSpPr/>
          <p:nvPr/>
        </p:nvSpPr>
        <p:spPr>
          <a:xfrm>
            <a:off x="812800" y="1635720"/>
            <a:ext cx="6540500"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4E79"/>
                </a:solidFill>
                <a:latin typeface="Arial" pitchFamily="34" charset="0"/>
                <a:ea typeface="Arial" pitchFamily="34" charset="-122"/>
                <a:cs typeface="Arial" pitchFamily="34" charset="-120"/>
              </a:rPr>
              <a:t>JCI round robin: one PVA-DFRCC mix, four tension methods (Kanakubo 2006)</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5500" y="1981101"/>
          <a:ext cx="6337300" cy="2076450"/>
        </p:xfrm>
        <a:graphic>
          <a:graphicData uri="http://schemas.openxmlformats.org/drawingml/2006/table">
            <a:tbl>
              <a:tblPr/>
              <a:tblGrid>
                <a:gridCol w="887222"/>
                <a:gridCol w="2788412"/>
                <a:gridCol w="1267460"/>
                <a:gridCol w="1394206"/>
              </a:tblGrid>
              <a:tr h="346075">
                <a:tc>
                  <a:txBody>
                    <a:bodyPr/>
                    <a:lstStyle/>
                    <a:p>
                      <a:pPr indent="0" marL="0">
                        <a:lnSpc>
                          <a:spcPts val="1750"/>
                        </a:lnSpc>
                        <a:buNone/>
                      </a:pPr>
                      <a:r>
                        <a:rPr lang="en-US" sz="1250" b="1" dirty="0">
                          <a:solidFill>
                            <a:srgbClr val="22272B"/>
                          </a:solidFill>
                          <a:latin typeface="Arial" pitchFamily="34" charset="0"/>
                          <a:ea typeface="Arial" pitchFamily="34" charset="-122"/>
                          <a:cs typeface="Arial" pitchFamily="34" charset="-120"/>
                        </a:rPr>
                        <a:t>Method</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50"/>
                        </a:lnSpc>
                        <a:buNone/>
                      </a:pPr>
                      <a:r>
                        <a:rPr lang="en-US" sz="1250" b="1" dirty="0">
                          <a:solidFill>
                            <a:srgbClr val="22272B"/>
                          </a:solidFill>
                          <a:latin typeface="Arial" pitchFamily="34" charset="0"/>
                          <a:ea typeface="Arial" pitchFamily="34" charset="-122"/>
                          <a:cs typeface="Arial" pitchFamily="34" charset="-120"/>
                        </a:rPr>
                        <a:t>Specimen</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50"/>
                        </a:lnSpc>
                        <a:buNone/>
                      </a:pPr>
                      <a:r>
                        <a:rPr lang="en-US" sz="1250" b="1" dirty="0">
                          <a:solidFill>
                            <a:srgbClr val="22272B"/>
                          </a:solidFill>
                          <a:latin typeface="Arial" pitchFamily="34" charset="0"/>
                          <a:ea typeface="Arial" pitchFamily="34" charset="-122"/>
                          <a:cs typeface="Arial" pitchFamily="34" charset="-120"/>
                        </a:rPr>
                        <a:t>Casting</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750"/>
                        </a:lnSpc>
                        <a:buNone/>
                      </a:pPr>
                      <a:r>
                        <a:rPr lang="en-US" sz="1250" b="1" dirty="0">
                          <a:solidFill>
                            <a:srgbClr val="22272B"/>
                          </a:solidFill>
                          <a:latin typeface="Arial" pitchFamily="34" charset="0"/>
                          <a:ea typeface="Arial" pitchFamily="34" charset="-122"/>
                          <a:cs typeface="Arial" pitchFamily="34" charset="-120"/>
                        </a:rPr>
                        <a:t>Strain at peak</a:t>
                      </a:r>
                      <a:endParaRPr lang="en-US" sz="1250" dirty="0">
                        <a:latin typeface="Arial" charset="0"/>
                        <a:ea typeface="Arial" charset="0"/>
                        <a:cs typeface="Arial" charset="0"/>
                      </a:endParaRPr>
                    </a:p>
                  </a:txBody>
                  <a:tcPr marL="55563" marR="55563" marT="55563" marB="55563"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46075">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T1</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thin plate, 30 × 13 mm</a:t>
                      </a:r>
                      <a:endParaRPr lang="en-US" sz="1250" dirty="0">
                        <a:latin typeface="Arial" charset="0"/>
                        <a:ea typeface="Arial" charset="0"/>
                        <a:cs typeface="Arial" charset="0"/>
                      </a:endParaRPr>
                    </a:p>
                  </a:txBody>
                  <a:tcPr marL="55563" marR="55563" marT="55563" marB="55563"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horizontal</a:t>
                      </a:r>
                      <a:endParaRPr lang="en-US" sz="1250" dirty="0">
                        <a:latin typeface="Arial" charset="0"/>
                        <a:ea typeface="Arial" charset="0"/>
                        <a:cs typeface="Arial" charset="0"/>
                      </a:endParaRPr>
                    </a:p>
                  </a:txBody>
                  <a:tcPr marL="55563" marR="55563" marT="55563" marB="55563"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2.70%</a:t>
                      </a:r>
                      <a:endParaRPr lang="en-US" sz="1250" dirty="0">
                        <a:latin typeface="Arial" charset="0"/>
                        <a:ea typeface="Arial" charset="0"/>
                        <a:cs typeface="Arial" charset="0"/>
                      </a:endParaRPr>
                    </a:p>
                  </a:txBody>
                  <a:tcPr marL="55563" marR="55563" marT="55563" marB="55563"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r>
              <a:tr h="346075">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T2-H</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dogbone, 100 × 60 mm</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horizontal</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2.38%</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EC2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T2-V</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dogbone, 100 × 60 mm</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vertical</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0.77%</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T3</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dogbone, Ø70 mm</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vertical</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0.07%</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46075">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T4</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cylinder, Ø100 × 200 mm</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vertical</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750"/>
                        </a:lnSpc>
                        <a:buNone/>
                      </a:pPr>
                      <a:r>
                        <a:rPr lang="en-US" sz="1250" dirty="0">
                          <a:solidFill>
                            <a:srgbClr val="22272B"/>
                          </a:solidFill>
                          <a:latin typeface="Arial" pitchFamily="34" charset="0"/>
                          <a:ea typeface="Arial" pitchFamily="34" charset="-122"/>
                          <a:cs typeface="Arial" pitchFamily="34" charset="-120"/>
                        </a:rPr>
                        <a:t>0.32%</a:t>
                      </a:r>
                      <a:endParaRPr lang="en-US" sz="1250" dirty="0">
                        <a:latin typeface="Arial" charset="0"/>
                        <a:ea typeface="Arial" charset="0"/>
                        <a:cs typeface="Arial" charset="0"/>
                      </a:endParaRPr>
                    </a:p>
                  </a:txBody>
                  <a:tcPr marL="55563" marR="55563" marT="55563" marB="55563"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9" name="Text 6"/>
          <p:cNvSpPr/>
          <p:nvPr/>
        </p:nvSpPr>
        <p:spPr>
          <a:xfrm>
            <a:off x="7467600" y="1635720"/>
            <a:ext cx="4028948"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64C"/>
                </a:solidFill>
                <a:latin typeface="Arial" pitchFamily="34" charset="0"/>
                <a:ea typeface="Arial" pitchFamily="34" charset="-122"/>
                <a:cs typeface="Arial" pitchFamily="34" charset="-120"/>
              </a:rPr>
              <a:t>COV of strain at peak up to 127–157%. JCI therefore standardised a four-point bending test instead (JCI-S-003-2005).</a:t>
            </a:r>
            <a:endParaRPr lang="en-US" sz="1300" dirty="0"/>
          </a:p>
        </p:txBody>
      </p:sp>
      <p:sp>
        <p:nvSpPr>
          <p:cNvPr id="10" name="Text 7"/>
          <p:cNvSpPr/>
          <p:nvPr/>
        </p:nvSpPr>
        <p:spPr>
          <a:xfrm>
            <a:off x="7467600" y="2455962"/>
            <a:ext cx="4028948"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64C"/>
                </a:solidFill>
                <a:latin typeface="Arial" pitchFamily="34" charset="0"/>
                <a:ea typeface="Arial" pitchFamily="34" charset="-122"/>
                <a:cs typeface="Arial" pitchFamily="34" charset="-120"/>
              </a:rPr>
              <a:t>Michigan inverse method: εtu (%) = 0.50·δu (mm) − 0.22, within −6 to +19% of direct tension (Qian 2007).</a:t>
            </a:r>
            <a:endParaRPr lang="en-US" sz="1300" dirty="0"/>
          </a:p>
        </p:txBody>
      </p:sp>
      <p:sp>
        <p:nvSpPr>
          <p:cNvPr id="11" name="Text 8"/>
          <p:cNvSpPr/>
          <p:nvPr/>
        </p:nvSpPr>
        <p:spPr>
          <a:xfrm>
            <a:off x="7467600" y="3045123"/>
            <a:ext cx="4028948"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64C"/>
                </a:solidFill>
                <a:latin typeface="Arial" pitchFamily="34" charset="0"/>
                <a:ea typeface="Arial" pitchFamily="34" charset="-122"/>
                <a:cs typeface="Arial" pitchFamily="34" charset="-120"/>
              </a:rPr>
              <a:t>⚔️ “Thickness 13–50 mm hardly matters” (Rokugo 2007, as cited) conflicts with these results.</a:t>
            </a:r>
            <a:endParaRPr lang="en-US" sz="1300" dirty="0"/>
          </a:p>
        </p:txBody>
      </p:sp>
      <p:sp>
        <p:nvSpPr>
          <p:cNvPr id="12" name="Text 9"/>
          <p:cNvSpPr/>
          <p:nvPr/>
        </p:nvSpPr>
        <p:spPr>
          <a:xfrm>
            <a:off x="7467600" y="3634284"/>
            <a:ext cx="4028948" cy="487561"/>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8A5509"/>
                </a:solidFill>
                <a:latin typeface="Arial" pitchFamily="34" charset="0"/>
                <a:ea typeface="Arial" pitchFamily="34" charset="-122"/>
                <a:cs typeface="Arial" pitchFamily="34" charset="-120"/>
              </a:rPr>
              <a:t>Deflection hardening in bending does not prove tensile strain hardening.</a:t>
            </a:r>
            <a:endParaRPr lang="en-US" sz="1300" dirty="0"/>
          </a:p>
        </p:txBody>
      </p:sp>
      <p:sp>
        <p:nvSpPr>
          <p:cNvPr id="13" name="Text 10"/>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Test methods · kanakubo2006 Tables 6–9; qian2007 Table 7; yu2018 p. 348 · wiki: four-point-bending-inverse-analysis</a:t>
            </a:r>
            <a:endParaRPr lang="en-US" sz="1200" dirty="0"/>
          </a:p>
        </p:txBody>
      </p:sp>
      <p:sp>
        <p:nvSpPr>
          <p:cNvPr id="14" name="Shape 11"/>
          <p:cNvSpPr/>
          <p:nvPr/>
        </p:nvSpPr>
        <p:spPr>
          <a:xfrm>
            <a:off x="0" y="6350000"/>
            <a:ext cx="12192000" cy="12700"/>
          </a:xfrm>
          <a:prstGeom prst="rect">
            <a:avLst/>
          </a:prstGeom>
          <a:solidFill>
            <a:srgbClr val="A6A6A6"/>
          </a:solidFill>
          <a:ln/>
        </p:spPr>
      </p:sp>
      <p:sp>
        <p:nvSpPr>
          <p:cNvPr id="15" name="Text 12"/>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6" name="Text 13"/>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30</a:t>
            </a:r>
            <a:endParaRPr lang="en-US" sz="1500" dirty="0"/>
          </a:p>
        </p:txBody>
      </p:sp>
      <p:pic>
        <p:nvPicPr>
          <p:cNvPr id="17"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2.12. Enough fiber removes the flexural size effect</a:t>
            </a:r>
            <a:endParaRPr lang="en-US" sz="2800" dirty="0"/>
          </a:p>
        </p:txBody>
      </p:sp>
      <p:sp>
        <p:nvSpPr>
          <p:cNvPr id="7" name="Shape 5"/>
          <p:cNvSpPr/>
          <p:nvPr/>
        </p:nvSpPr>
        <p:spPr>
          <a:xfrm>
            <a:off x="812800" y="1661120"/>
            <a:ext cx="4996855" cy="3410148"/>
          </a:xfrm>
          <a:prstGeom prst="roundRect">
            <a:avLst>
              <a:gd name="adj" fmla="val 2235"/>
            </a:avLst>
          </a:prstGeom>
          <a:solidFill>
            <a:srgbClr val="1F4E79"/>
          </a:solidFill>
          <a:ln/>
        </p:spPr>
      </p:sp>
      <p:sp>
        <p:nvSpPr>
          <p:cNvPr id="8" name="Text 6"/>
          <p:cNvSpPr/>
          <p:nvPr/>
        </p:nvSpPr>
        <p:spPr>
          <a:xfrm>
            <a:off x="1117600" y="1965920"/>
            <a:ext cx="4518872"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E3B25E"/>
                </a:solidFill>
                <a:latin typeface="Arial" pitchFamily="34" charset="0"/>
                <a:ea typeface="Arial" pitchFamily="34" charset="-122"/>
                <a:cs typeface="Arial" pitchFamily="34" charset="-120"/>
              </a:rPr>
              <a:t>UHDC with 2% PE</a:t>
            </a:r>
            <a:endParaRPr lang="en-US" sz="1400" dirty="0"/>
          </a:p>
        </p:txBody>
      </p:sp>
      <p:sp>
        <p:nvSpPr>
          <p:cNvPr id="9" name="Text 7"/>
          <p:cNvSpPr/>
          <p:nvPr/>
        </p:nvSpPr>
        <p:spPr>
          <a:xfrm>
            <a:off x="1117600" y="2290961"/>
            <a:ext cx="451887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4F5F2"/>
                </a:solidFill>
                <a:latin typeface="Arial" pitchFamily="34" charset="0"/>
                <a:ea typeface="Arial" pitchFamily="34" charset="-122"/>
                <a:cs typeface="Arial" pitchFamily="34" charset="-120"/>
              </a:rPr>
              <a:t>≈ 20 MPa</a:t>
            </a:r>
            <a:endParaRPr lang="en-US" sz="4800" dirty="0"/>
          </a:p>
        </p:txBody>
      </p:sp>
      <p:sp>
        <p:nvSpPr>
          <p:cNvPr id="10" name="Text 8"/>
          <p:cNvSpPr/>
          <p:nvPr/>
        </p:nvSpPr>
        <p:spPr>
          <a:xfrm>
            <a:off x="1117600" y="2976761"/>
            <a:ext cx="451887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4"/>
                </a:solidFill>
                <a:latin typeface="Arial" pitchFamily="34" charset="0"/>
                <a:ea typeface="Arial" pitchFamily="34" charset="-122"/>
                <a:cs typeface="Arial" pitchFamily="34" charset="-120"/>
              </a:rPr>
              <a:t>nominal flexural strength at every beam depth from 40 to 150 mm and both notch depths (18.3–22.1 MPa)</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127155" y="1673820"/>
          <a:ext cx="5252045" cy="1899245"/>
        </p:xfrm>
        <a:graphic>
          <a:graphicData uri="http://schemas.openxmlformats.org/drawingml/2006/table">
            <a:tbl>
              <a:tblPr/>
              <a:tblGrid>
                <a:gridCol w="1785695"/>
                <a:gridCol w="1733175"/>
                <a:gridCol w="1733175"/>
              </a:tblGrid>
              <a:tr h="590352">
                <a:tc>
                  <a:txBody>
                    <a:bodyPr/>
                    <a:lstStyle/>
                    <a:p>
                      <a:pPr indent="0" marL="0">
                        <a:lnSpc>
                          <a:spcPts val="1820"/>
                        </a:lnSpc>
                        <a:buNone/>
                      </a:pPr>
                      <a:r>
                        <a:rPr lang="en-US" sz="1300" b="1" dirty="0">
                          <a:solidFill>
                            <a:srgbClr val="22272B"/>
                          </a:solidFill>
                          <a:latin typeface="Arial" pitchFamily="34" charset="0"/>
                          <a:ea typeface="Arial" pitchFamily="34" charset="-122"/>
                          <a:cs typeface="Arial" pitchFamily="34" charset="-120"/>
                        </a:rPr>
                        <a:t>Notched beams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22272B"/>
                          </a:solidFill>
                          <a:latin typeface="Arial" pitchFamily="34" charset="0"/>
                          <a:ea typeface="Arial" pitchFamily="34" charset="-122"/>
                          <a:cs typeface="Arial" pitchFamily="34" charset="-120"/>
                        </a:rPr>
                        <a:t>Flexural strength</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820"/>
                        </a:lnSpc>
                        <a:buNone/>
                      </a:pPr>
                      <a:r>
                        <a:rPr lang="en-US" sz="1300" b="1" dirty="0">
                          <a:solidFill>
                            <a:srgbClr val="22272B"/>
                          </a:solidFill>
                          <a:latin typeface="Arial" pitchFamily="34" charset="0"/>
                          <a:ea typeface="Arial" pitchFamily="34" charset="-122"/>
                          <a:cs typeface="Arial" pitchFamily="34" charset="-120"/>
                        </a:rPr>
                        <a:t>Bažant size-effect law</a:t>
                      </a:r>
                      <a:endParaRPr lang="en-US" sz="1300" dirty="0">
                        <a:latin typeface="Arial" charset="0"/>
                        <a:ea typeface="Arial" charset="0"/>
                        <a:cs typeface="Arial" charset="0"/>
                      </a:endParaRPr>
                    </a:p>
                  </a:txBody>
                  <a:tcPr marL="57785" marR="57785" marT="57785" marB="5778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59271">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Plain mortar</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3.7–7.1 MPa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applies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59271">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UHDC, 1% PE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10.0–21.6 MPa</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applies</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90352">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UHDC, 2% PE</a:t>
                      </a:r>
                      <a:endParaRPr lang="en-US" sz="1300" dirty="0">
                        <a:latin typeface="Arial" charset="0"/>
                        <a:ea typeface="Arial" charset="0"/>
                        <a:cs typeface="Arial" charset="0"/>
                      </a:endParaRPr>
                    </a:p>
                  </a:txBody>
                  <a:tcPr marL="57785" marR="57785" marT="57785" marB="57785" anchor="t">
                    <a:lnL w="12700" cap="flat" cmpd="sng" algn="ctr">
                      <a:solidFill>
                        <a:srgbClr val="CBCBCB"/>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18.3–22.1 MPa</a:t>
                      </a:r>
                      <a:endParaRPr lang="en-US" sz="1300" dirty="0">
                        <a:latin typeface="Arial" charset="0"/>
                        <a:ea typeface="Arial" charset="0"/>
                        <a:cs typeface="Arial" charset="0"/>
                      </a:endParaRPr>
                    </a:p>
                  </a:txBody>
                  <a:tcPr marL="57785" marR="57785" marT="57785" marB="57785"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c>
                  <a:txBody>
                    <a:bodyPr/>
                    <a:lstStyle/>
                    <a:p>
                      <a:pPr indent="0" marL="0">
                        <a:lnSpc>
                          <a:spcPts val="1820"/>
                        </a:lnSpc>
                        <a:buNone/>
                      </a:pPr>
                      <a:r>
                        <a:rPr lang="en-US" sz="1300" dirty="0">
                          <a:solidFill>
                            <a:srgbClr val="22272B"/>
                          </a:solidFill>
                          <a:latin typeface="Arial" pitchFamily="34" charset="0"/>
                          <a:ea typeface="Arial" pitchFamily="34" charset="-122"/>
                          <a:cs typeface="Arial" pitchFamily="34" charset="-120"/>
                        </a:rPr>
                        <a:t>does not apply (D₀ &lt; 0)</a:t>
                      </a:r>
                      <a:endParaRPr lang="en-US" sz="1300" dirty="0">
                        <a:latin typeface="Arial" charset="0"/>
                        <a:ea typeface="Arial" charset="0"/>
                        <a:cs typeface="Arial" charset="0"/>
                      </a:endParaRPr>
                    </a:p>
                  </a:txBody>
                  <a:tcPr marL="57785" marR="57785" marT="57785" marB="57785" anchor="t">
                    <a:lnL w="12700" cap="flat" cmpd="sng" algn="ctr">
                      <a:solidFill>
                        <a:srgbClr val="BEC2C6"/>
                      </a:solidFill>
                      <a:prstDash val="solid"/>
                      <a:round/>
                      <a:headEnd type="none" w="med" len="med"/>
                      <a:tailEnd type="none" w="med" len="med"/>
                    </a:lnL>
                    <a:lnR w="12700" cap="flat" cmpd="sng" algn="ctr">
                      <a:solidFill>
                        <a:srgbClr val="BEC2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EC2C6"/>
                      </a:solidFill>
                      <a:prstDash val="solid"/>
                      <a:round/>
                      <a:headEnd type="none" w="med" len="med"/>
                      <a:tailEnd type="none" w="med" len="med"/>
                    </a:lnB>
                    <a:solidFill>
                      <a:srgbClr val="EEF3F9"/>
                    </a:solidFill>
                  </a:tcPr>
                </a:tc>
              </a:tr>
            </a:tbl>
          </a:graphicData>
        </a:graphic>
      </p:graphicFrame>
      <p:sp>
        <p:nvSpPr>
          <p:cNvPr id="12" name="Text 9"/>
          <p:cNvSpPr/>
          <p:nvPr/>
        </p:nvSpPr>
        <p:spPr>
          <a:xfrm>
            <a:off x="6114455" y="3700066"/>
            <a:ext cx="542268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The fracture process zone grows from under 0.1 mm in mortar to 1.8–24.5 mm in UHDC.</a:t>
            </a:r>
            <a:endParaRPr lang="en-US" sz="1400" dirty="0"/>
          </a:p>
        </p:txBody>
      </p:sp>
      <p:sp>
        <p:nvSpPr>
          <p:cNvPr id="13" name="Text 10"/>
          <p:cNvSpPr/>
          <p:nvPr/>
        </p:nvSpPr>
        <p:spPr>
          <a:xfrm>
            <a:off x="6114455" y="4324747"/>
            <a:ext cx="5422688"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A5509"/>
                </a:solidFill>
                <a:latin typeface="Arial" pitchFamily="34" charset="0"/>
                <a:ea typeface="Arial" pitchFamily="34" charset="-122"/>
                <a:cs typeface="Arial" pitchFamily="34" charset="-120"/>
              </a:rPr>
              <a:t>In direct tension, size does matter: 50 × 200 mm UHP-SHCC members reach 0.23% vs 1.5% in 13 mm dumbbells; 0.3% steel restores 1.58% (Kunieda 2010).</a:t>
            </a:r>
            <a:endParaRPr lang="en-US" sz="1400" dirty="0"/>
          </a:p>
        </p:txBody>
      </p:sp>
      <p:sp>
        <p:nvSpPr>
          <p:cNvPr id="14" name="Text 11"/>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Size effect · ye2021-uhdc-flexural-size-effect, Tables 3–5; kunieda2010 Table 3 · wiki: size-effect</a:t>
            </a:r>
            <a:endParaRPr lang="en-US" sz="1200" dirty="0"/>
          </a:p>
        </p:txBody>
      </p:sp>
      <p:sp>
        <p:nvSpPr>
          <p:cNvPr id="15" name="Shape 12"/>
          <p:cNvSpPr/>
          <p:nvPr/>
        </p:nvSpPr>
        <p:spPr>
          <a:xfrm>
            <a:off x="0" y="6350000"/>
            <a:ext cx="12192000" cy="12700"/>
          </a:xfrm>
          <a:prstGeom prst="rect">
            <a:avLst/>
          </a:prstGeom>
          <a:solidFill>
            <a:srgbClr val="A6A6A6"/>
          </a:solidFill>
          <a:ln/>
        </p:spPr>
      </p:sp>
      <p:sp>
        <p:nvSpPr>
          <p:cNvPr id="16" name="Text 13"/>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7" name="Text 14"/>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31</a:t>
            </a:r>
            <a:endParaRPr lang="en-US" sz="1500" dirty="0"/>
          </a:p>
        </p:txBody>
      </p:sp>
      <p:pic>
        <p:nvPicPr>
          <p:cNvPr id="18"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2.13. Under fast loading: stronger and still intact</a:t>
            </a:r>
            <a:endParaRPr lang="en-US" sz="2800" dirty="0"/>
          </a:p>
        </p:txBody>
      </p:sp>
      <p:pic>
        <p:nvPicPr>
          <p:cNvPr id="7" name="Image 0" descr="Two charts for Michigan HSHDC versus strain rate from 0.0001 to 10 per second: ultimate tensile strength rises from 14.5 to 20.6 MPa; strain capacity falls from 4.2 to 2.7%">    </p:cNvPr>
          <p:cNvPicPr>
            <a:picLocks noChangeAspect="1"/>
          </p:cNvPicPr>
          <p:nvPr/>
        </p:nvPicPr>
        <p:blipFill>
          <a:blip r:embed="rId1"/>
          <a:srcRect l="0" r="0" t="-1978" b="-1978"/>
          <a:stretch/>
        </p:blipFill>
        <p:spPr>
          <a:xfrm>
            <a:off x="812800" y="1559520"/>
            <a:ext cx="6985000" cy="2501900"/>
          </a:xfrm>
          <a:prstGeom prst="rect">
            <a:avLst/>
          </a:prstGeom>
        </p:spPr>
      </p:pic>
      <p:sp>
        <p:nvSpPr>
          <p:cNvPr id="8" name="Text 5"/>
          <p:cNvSpPr/>
          <p:nvPr/>
        </p:nvSpPr>
        <p:spPr>
          <a:xfrm>
            <a:off x="8051800" y="1559520"/>
            <a:ext cx="3427222"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Viscoelastic PE fiber gets 85% stiffer and 21% stronger. Stiffer bridging means narrower cracks (160 → 110 µm), so lower strain.</a:t>
            </a:r>
            <a:endParaRPr lang="en-US" sz="1400" dirty="0"/>
          </a:p>
        </p:txBody>
      </p:sp>
      <p:sp>
        <p:nvSpPr>
          <p:cNvPr id="9" name="Text 6"/>
          <p:cNvSpPr/>
          <p:nvPr/>
        </p:nvSpPr>
        <p:spPr>
          <a:xfrm>
            <a:off x="8051800" y="2656483"/>
            <a:ext cx="3427222"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A5509"/>
                </a:solidFill>
                <a:latin typeface="Arial" pitchFamily="34" charset="0"/>
                <a:ea typeface="Arial" pitchFamily="34" charset="-122"/>
                <a:cs typeface="Arial" pitchFamily="34" charset="-120"/>
              </a:rPr>
              <a:t>PVA-SHCC is non-monotonic: 1.49% → 0.82% up to 10⁻² s⁻¹, then 1.79% at 50 s⁻¹, but no multiple cracking at ≥ 10 s⁻¹ (Mechtcherine 2011).</a:t>
            </a:r>
            <a:endParaRPr lang="en-US" sz="1400" dirty="0"/>
          </a:p>
        </p:txBody>
      </p:sp>
      <p:sp>
        <p:nvSpPr>
          <p:cNvPr id="10" name="Shape 7"/>
          <p:cNvSpPr/>
          <p:nvPr/>
        </p:nvSpPr>
        <p:spPr>
          <a:xfrm>
            <a:off x="815975" y="4242395"/>
            <a:ext cx="5187950" cy="1217712"/>
          </a:xfrm>
          <a:prstGeom prst="roundRect">
            <a:avLst>
              <a:gd name="adj" fmla="val 5997"/>
            </a:avLst>
          </a:prstGeom>
          <a:solidFill>
            <a:srgbClr val="F4F8FC"/>
          </a:solidFill>
          <a:ln w="6350">
            <a:solidFill>
              <a:srgbClr val="C9D7E8"/>
            </a:solidFill>
            <a:prstDash val="solid"/>
          </a:ln>
        </p:spPr>
      </p:sp>
      <p:sp>
        <p:nvSpPr>
          <p:cNvPr id="11" name="Text 8"/>
          <p:cNvSpPr/>
          <p:nvPr/>
        </p:nvSpPr>
        <p:spPr>
          <a:xfrm>
            <a:off x="1022350" y="444877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HSHDC slabs</a:t>
            </a:r>
            <a:endParaRPr lang="en-US" sz="1600" dirty="0"/>
          </a:p>
        </p:txBody>
      </p:sp>
      <p:sp>
        <p:nvSpPr>
          <p:cNvPr id="12" name="Text 9"/>
          <p:cNvSpPr/>
          <p:nvPr/>
        </p:nvSpPr>
        <p:spPr>
          <a:xfrm>
            <a:off x="1022350" y="4756051"/>
            <a:ext cx="491845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Survived 20 drop-weight impacts at up to 4.6 m/s: fine radial cracks, no punching, almost no spalling.</a:t>
            </a:r>
            <a:endParaRPr lang="en-US" sz="1400" dirty="0"/>
          </a:p>
        </p:txBody>
      </p:sp>
      <p:sp>
        <p:nvSpPr>
          <p:cNvPr id="13" name="Shape 10"/>
          <p:cNvSpPr/>
          <p:nvPr/>
        </p:nvSpPr>
        <p:spPr>
          <a:xfrm>
            <a:off x="6188075" y="4242395"/>
            <a:ext cx="5187950" cy="1217712"/>
          </a:xfrm>
          <a:prstGeom prst="roundRect">
            <a:avLst>
              <a:gd name="adj" fmla="val 5997"/>
            </a:avLst>
          </a:prstGeom>
          <a:solidFill>
            <a:srgbClr val="F4F8FC"/>
          </a:solidFill>
          <a:ln w="6350">
            <a:solidFill>
              <a:srgbClr val="C9D7E8"/>
            </a:solidFill>
            <a:prstDash val="solid"/>
          </a:ln>
        </p:spPr>
      </p:sp>
      <p:sp>
        <p:nvSpPr>
          <p:cNvPr id="14" name="Text 11"/>
          <p:cNvSpPr/>
          <p:nvPr/>
        </p:nvSpPr>
        <p:spPr>
          <a:xfrm>
            <a:off x="6394450" y="444877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Cor-Tuf UHPC slabs (201 MPa)</a:t>
            </a:r>
            <a:endParaRPr lang="en-US" sz="1600" dirty="0"/>
          </a:p>
        </p:txBody>
      </p:sp>
      <p:sp>
        <p:nvSpPr>
          <p:cNvPr id="15" name="Text 12"/>
          <p:cNvSpPr/>
          <p:nvPr/>
        </p:nvSpPr>
        <p:spPr>
          <a:xfrm>
            <a:off x="6394450" y="4756051"/>
            <a:ext cx="4918456"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64C"/>
                </a:solidFill>
                <a:latin typeface="Arial" pitchFamily="34" charset="0"/>
                <a:ea typeface="Arial" pitchFamily="34" charset="-122"/>
                <a:cs typeface="Arial" pitchFamily="34" charset="-120"/>
              </a:rPr>
              <a:t>Failed in flexure at 3.25 and 4.6 m/s, and by punching with the 50 mm head.</a:t>
            </a:r>
            <a:endParaRPr lang="en-US" sz="1400" dirty="0"/>
          </a:p>
        </p:txBody>
      </p:sp>
      <p:sp>
        <p:nvSpPr>
          <p:cNvPr id="16" name="Text 13"/>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Dynamic · ranade2015 Table 2; ranade2017 Tables 3–4; mechtcherine2011 Table 2 · wiki: strain-rate-effects, impact-resistance</a:t>
            </a:r>
            <a:endParaRPr lang="en-US" sz="1200" dirty="0"/>
          </a:p>
        </p:txBody>
      </p:sp>
      <p:sp>
        <p:nvSpPr>
          <p:cNvPr id="17" name="Shape 14"/>
          <p:cNvSpPr/>
          <p:nvPr/>
        </p:nvSpPr>
        <p:spPr>
          <a:xfrm>
            <a:off x="0" y="6350000"/>
            <a:ext cx="12192000" cy="12700"/>
          </a:xfrm>
          <a:prstGeom prst="rect">
            <a:avLst/>
          </a:prstGeom>
          <a:solidFill>
            <a:srgbClr val="A6A6A6"/>
          </a:solidFill>
          <a:ln/>
        </p:spPr>
      </p:sp>
      <p:sp>
        <p:nvSpPr>
          <p:cNvPr id="18" name="Text 15"/>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9" name="Text 16"/>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32</a:t>
            </a:r>
            <a:endParaRPr lang="en-US" sz="1500" dirty="0"/>
          </a:p>
        </p:txBody>
      </p:sp>
      <p:pic>
        <p:nvPicPr>
          <p:cNvPr id="20" name="Image 1" descr="">    </p:cNvPr>
          <p:cNvPicPr>
            <a:picLocks noChangeAspect="1"/>
          </p:cNvPicPr>
          <p:nvPr/>
        </p:nvPicPr>
        <p:blipFill>
          <a:blip r:embed="rId2">
            <a:alphaModFix amt="60000"/>
          </a:blip>
          <a:srcRect l="0" r="0" t="0" b="0"/>
          <a:stretch/>
        </p:blipFill>
        <p:spPr>
          <a:xfrm>
            <a:off x="11468100" y="6400800"/>
            <a:ext cx="431800" cy="4318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2.14. Two crack-width families, one durability problem</a:t>
            </a:r>
            <a:endParaRPr lang="en-US" sz="2800" dirty="0"/>
          </a:p>
        </p:txBody>
      </p:sp>
      <p:sp>
        <p:nvSpPr>
          <p:cNvPr id="7" name="Text 5"/>
          <p:cNvSpPr/>
          <p:nvPr/>
        </p:nvSpPr>
        <p:spPr>
          <a:xfrm>
            <a:off x="812800" y="1559520"/>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Residual average widths: PVA-ECC about 22–90 µm, PE-based HSHDC about 80–200 µm. Both meet the Chinese HDC bar (≤ 200 µm); whether they are “durable” depends on the exposure.</a:t>
            </a:r>
            <a:endParaRPr lang="en-US" sz="1500" dirty="0"/>
          </a:p>
        </p:txBody>
      </p:sp>
      <p:pic>
        <p:nvPicPr>
          <p:cNvPr id="8" name="Image 0" descr="Ranges of average crack width: HVFA PVA-ECC and R-SHCC 22–38 µm, PVA-ECC 43–88 µm and compiled ECC 10–100 µm in green; PVA-ECC under sustained load 85–115 µm in purple; PE-HSHDCC 69–83, Michigan HSHDC 110–160 and GDUT 79–198 µm in orange; thresholds: chloride 55–80 µm (second-hand), fast self-healing below 60 µm (as cited), ECC design below 100 µm, Chinese HDC standard 200 µm">    </p:cNvPr>
          <p:cNvPicPr>
            <a:picLocks noChangeAspect="1"/>
          </p:cNvPicPr>
          <p:nvPr/>
        </p:nvPicPr>
        <p:blipFill>
          <a:blip r:embed="rId1"/>
          <a:srcRect l="0" r="0" t="-4832" b="-4832"/>
          <a:stretch/>
        </p:blipFill>
        <p:spPr>
          <a:xfrm>
            <a:off x="812800" y="2270720"/>
            <a:ext cx="6731000" cy="2641600"/>
          </a:xfrm>
          <a:prstGeom prst="rect">
            <a:avLst/>
          </a:prstGeom>
        </p:spPr>
      </p:pic>
      <p:sp>
        <p:nvSpPr>
          <p:cNvPr id="9" name="Text 6"/>
          <p:cNvSpPr/>
          <p:nvPr/>
        </p:nvSpPr>
        <p:spPr>
          <a:xfrm>
            <a:off x="7797800" y="2270720"/>
            <a:ext cx="3688842" cy="848122"/>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F4E79"/>
                </a:solidFill>
                <a:latin typeface="Arial" pitchFamily="34" charset="0"/>
                <a:ea typeface="Arial" pitchFamily="34" charset="-122"/>
                <a:cs typeface="Arial" pitchFamily="34" charset="-120"/>
              </a:rPr>
              <a:t>Chloride limit depends on exposure.</a:t>
            </a:r>
            <a:r>
              <a:rPr lang="en-US" sz="1200" dirty="0">
                <a:solidFill>
                  <a:srgbClr val="3E464C"/>
                </a:solidFill>
                <a:latin typeface="Arial" pitchFamily="34" charset="0"/>
                <a:ea typeface="Arial" pitchFamily="34" charset="-122"/>
                <a:cs typeface="Arial" pitchFamily="34" charset="-120"/>
              </a:rPr>
              <a:t> Immersion: 100 µm ≈ uncracked, significant from 200 µm (Bu 2022). Wet–dry: 50–100 µm cracks carried chloride 65–89 mm deep within 1–6 h (Paul 2014).</a:t>
            </a:r>
            <a:endParaRPr lang="en-US" sz="1200" dirty="0"/>
          </a:p>
        </p:txBody>
      </p:sp>
      <p:sp>
        <p:nvSpPr>
          <p:cNvPr id="10" name="Text 7"/>
          <p:cNvSpPr/>
          <p:nvPr/>
        </p:nvSpPr>
        <p:spPr>
          <a:xfrm>
            <a:off x="7797800" y="3207742"/>
            <a:ext cx="3688842" cy="848122"/>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F4E79"/>
                </a:solidFill>
                <a:latin typeface="Arial" pitchFamily="34" charset="0"/>
                <a:ea typeface="Arial" pitchFamily="34" charset="-122"/>
                <a:cs typeface="Arial" pitchFamily="34" charset="-120"/>
              </a:rPr>
              <a:t>Residual, not loaded.</a:t>
            </a:r>
            <a:r>
              <a:rPr lang="en-US" sz="1200" dirty="0">
                <a:solidFill>
                  <a:srgbClr val="3E464C"/>
                </a:solidFill>
                <a:latin typeface="Arial" pitchFamily="34" charset="0"/>
                <a:ea typeface="Arial" pitchFamily="34" charset="-122"/>
                <a:cs typeface="Arial" pitchFamily="34" charset="-120"/>
              </a:rPr>
              <a:t> Under sustained load cracks are ≈ 2× wider: 60 → 115 µm (Özbay 2013); on unloading they close only ≈ 15% (Yang 2009) or ≈ 10% (Lepech 2009).</a:t>
            </a:r>
            <a:endParaRPr lang="en-US" sz="1200" dirty="0"/>
          </a:p>
        </p:txBody>
      </p:sp>
      <p:sp>
        <p:nvSpPr>
          <p:cNvPr id="11" name="Text 8"/>
          <p:cNvSpPr/>
          <p:nvPr/>
        </p:nvSpPr>
        <p:spPr>
          <a:xfrm>
            <a:off x="7797800" y="4144764"/>
            <a:ext cx="3688842" cy="64244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F4E79"/>
                </a:solidFill>
                <a:latin typeface="Arial" pitchFamily="34" charset="0"/>
                <a:ea typeface="Arial" pitchFamily="34" charset="-122"/>
                <a:cs typeface="Arial" pitchFamily="34" charset="-120"/>
              </a:rPr>
              <a:t>100 µm is a target.</a:t>
            </a:r>
            <a:r>
              <a:rPr lang="en-US" sz="1200" dirty="0">
                <a:solidFill>
                  <a:srgbClr val="3E464C"/>
                </a:solidFill>
                <a:latin typeface="Arial" pitchFamily="34" charset="0"/>
                <a:ea typeface="Arial" pitchFamily="34" charset="-122"/>
                <a:cs typeface="Arial" pitchFamily="34" charset="-120"/>
              </a:rPr>
              <a:t> Taken from concrete (Wang 1997, as cited); never measured on ECC (Lepech 2009).</a:t>
            </a:r>
            <a:endParaRPr lang="en-US" sz="1200" dirty="0"/>
          </a:p>
        </p:txBody>
      </p:sp>
      <p:sp>
        <p:nvSpPr>
          <p:cNvPr id="12" name="Text 9"/>
          <p:cNvSpPr/>
          <p:nvPr/>
        </p:nvSpPr>
        <p:spPr>
          <a:xfrm>
            <a:off x="7797800" y="4876105"/>
            <a:ext cx="3688842" cy="64244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1F4E79"/>
                </a:solidFill>
                <a:latin typeface="Arial" pitchFamily="34" charset="0"/>
                <a:ea typeface="Arial" pitchFamily="34" charset="-122"/>
                <a:cs typeface="Arial" pitchFamily="34" charset="-120"/>
              </a:rPr>
              <a:t>Average, not maximum.</a:t>
            </a:r>
            <a:r>
              <a:rPr lang="en-US" sz="1200" dirty="0">
                <a:solidFill>
                  <a:srgbClr val="3E464C"/>
                </a:solidFill>
                <a:latin typeface="Arial" pitchFamily="34" charset="0"/>
                <a:ea typeface="Arial" pitchFamily="34" charset="-122"/>
                <a:cs typeface="Arial" pitchFamily="34" charset="-120"/>
              </a:rPr>
              <a:t> PVA-SHCC average ≈ 50–65 µm, but maximum 290–420 µm at 3% strain (van Zijl 2010).</a:t>
            </a:r>
            <a:endParaRPr lang="en-US" sz="1200" dirty="0"/>
          </a:p>
        </p:txBody>
      </p:sp>
      <p:sp>
        <p:nvSpPr>
          <p:cNvPr id="13" name="Text 10"/>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Cracking · li2002; ma2021; zhang2022; ranade2015; su2023; he2024; bu2022; paul2014; ozbay2013; vanzijl2010; lepech2009; yang2009</a:t>
            </a:r>
            <a:endParaRPr lang="en-US" sz="1200" dirty="0"/>
          </a:p>
        </p:txBody>
      </p:sp>
      <p:sp>
        <p:nvSpPr>
          <p:cNvPr id="14" name="Shape 11"/>
          <p:cNvSpPr/>
          <p:nvPr/>
        </p:nvSpPr>
        <p:spPr>
          <a:xfrm>
            <a:off x="0" y="6350000"/>
            <a:ext cx="12192000" cy="12700"/>
          </a:xfrm>
          <a:prstGeom prst="rect">
            <a:avLst/>
          </a:prstGeom>
          <a:solidFill>
            <a:srgbClr val="A6A6A6"/>
          </a:solidFill>
          <a:ln/>
        </p:spPr>
      </p:sp>
      <p:sp>
        <p:nvSpPr>
          <p:cNvPr id="15" name="Text 12"/>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6" name="Text 13"/>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33</a:t>
            </a:r>
            <a:endParaRPr lang="en-US" sz="1500" dirty="0"/>
          </a:p>
        </p:txBody>
      </p:sp>
      <p:pic>
        <p:nvPicPr>
          <p:cNvPr id="17" name="Image 1" descr="">    </p:cNvPr>
          <p:cNvPicPr>
            <a:picLocks noChangeAspect="1"/>
          </p:cNvPicPr>
          <p:nvPr/>
        </p:nvPicPr>
        <p:blipFill>
          <a:blip r:embed="rId2">
            <a:alphaModFix amt="60000"/>
          </a:blip>
          <a:srcRect l="0" r="0" t="0" b="0"/>
          <a:stretch/>
        </p:blipFill>
        <p:spPr>
          <a:xfrm>
            <a:off x="11468100" y="6400800"/>
            <a:ext cx="431800" cy="4318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388640"/>
          </a:xfrm>
          <a:prstGeom prst="rect">
            <a:avLst/>
          </a:prstGeom>
          <a:noFill/>
          <a:ln/>
        </p:spPr>
        <p:txBody>
          <a:bodyPr wrap="square" lIns="0" tIns="0" rIns="0" bIns="0" rtlCol="0" anchor="t">
            <a:normAutofit/>
          </a:bodyPr>
          <a:lstStyle/>
          <a:p>
            <a:pPr algn="l" indent="0" marL="0">
              <a:lnSpc>
                <a:spcPts val="2868"/>
              </a:lnSpc>
              <a:buNone/>
            </a:pPr>
            <a:r>
              <a:rPr lang="en-US" sz="2608" b="0" i="0" dirty="0">
                <a:solidFill>
                  <a:srgbClr val="0070C0"/>
                </a:solidFill>
                <a:latin typeface="Arial" pitchFamily="34" charset="0"/>
                <a:ea typeface="Arial" pitchFamily="34" charset="-122"/>
                <a:cs typeface="Arial" pitchFamily="34" charset="-120"/>
              </a:rPr>
              <a:t>2.15. Durability: primary data for ECC/HDC, none for HSHDC</a:t>
            </a:r>
            <a:endParaRPr lang="en-US" sz="2608"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595140"/>
          <a:ext cx="10553700" cy="3487638"/>
        </p:xfrm>
        <a:graphic>
          <a:graphicData uri="http://schemas.openxmlformats.org/drawingml/2006/table">
            <a:tbl>
              <a:tblPr/>
              <a:tblGrid>
                <a:gridCol w="1794129"/>
                <a:gridCol w="6332220"/>
                <a:gridCol w="2427351"/>
              </a:tblGrid>
              <a:tr h="284163">
                <a:tc>
                  <a:txBody>
                    <a:bodyPr/>
                    <a:lstStyle/>
                    <a:p>
                      <a:pPr indent="0" marL="0">
                        <a:lnSpc>
                          <a:spcPts val="1425"/>
                        </a:lnSpc>
                        <a:buNone/>
                      </a:pPr>
                      <a:r>
                        <a:rPr lang="en-US" sz="1018" b="1" dirty="0">
                          <a:solidFill>
                            <a:srgbClr val="22272B"/>
                          </a:solidFill>
                          <a:latin typeface="Arial" pitchFamily="34" charset="0"/>
                          <a:ea typeface="Arial" pitchFamily="34" charset="-122"/>
                          <a:cs typeface="Arial" pitchFamily="34" charset="-120"/>
                        </a:rPr>
                        <a:t>Exposure</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425"/>
                        </a:lnSpc>
                        <a:buNone/>
                      </a:pPr>
                      <a:r>
                        <a:rPr lang="en-US" sz="1018" b="1" dirty="0">
                          <a:solidFill>
                            <a:srgbClr val="22272B"/>
                          </a:solidFill>
                          <a:latin typeface="Arial" pitchFamily="34" charset="0"/>
                          <a:ea typeface="Arial" pitchFamily="34" charset="-122"/>
                          <a:cs typeface="Arial" pitchFamily="34" charset="-120"/>
                        </a:rPr>
                        <a:t>Primary finding</a:t>
                      </a:r>
                      <a:endParaRPr lang="en-US" sz="1018" dirty="0">
                        <a:latin typeface="Arial" charset="0"/>
                        <a:ea typeface="Arial" charset="0"/>
                        <a:cs typeface="Arial" charset="0"/>
                      </a:endParaRPr>
                    </a:p>
                  </a:txBody>
                  <a:tcPr marL="45228" marR="45228" marT="45228" marB="45228"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425"/>
                        </a:lnSpc>
                        <a:buNone/>
                      </a:pPr>
                      <a:r>
                        <a:rPr lang="en-US" sz="1018" b="1" dirty="0">
                          <a:solidFill>
                            <a:srgbClr val="22272B"/>
                          </a:solidFill>
                          <a:latin typeface="Arial" pitchFamily="34" charset="0"/>
                          <a:ea typeface="Arial" pitchFamily="34" charset="-122"/>
                          <a:cs typeface="Arial" pitchFamily="34" charset="-120"/>
                        </a:rPr>
                        <a:t>Source</a:t>
                      </a:r>
                      <a:endParaRPr lang="en-US" sz="1018" dirty="0">
                        <a:latin typeface="Arial" charset="0"/>
                        <a:ea typeface="Arial" charset="0"/>
                        <a:cs typeface="Arial" charset="0"/>
                      </a:endParaRPr>
                    </a:p>
                  </a:txBody>
                  <a:tcPr marL="45228" marR="45228" marT="45228" marB="45228"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64939">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Freeze–thaw</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PVA-ECC survives 300–500 cycles (concrete or mortar fails at 25–84); hybrid SHCC after 300: σtu kept, ε slightly lower</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Wang 2023; Zhong 2019; Yun 2013</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F–T + CO₂ + drying</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flexural strength −19 to −33% after 15 coupled cycles; deflection hardening kept</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Chai 2019 (HDCC)</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Carbonation</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4.78 mm unloaded → 9.92 mm under sustained stress (28 d) ⚔️ ≈ 13 mm, similar mix</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Zhang 2022; Wang 2023</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Chloride</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immersion: 100 µm ≈ uncracked; wet–dry: 50–100 µm cracks reach the bar within hours</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Bu 2022; Paul 2014</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Permeability</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ECC, 50–63 µm cracks: k 1.95–7.74 × 10⁻¹⁰ m/s; reinforced mortar at ≈ 500 µm: 4.46 × 10⁻⁴ m/s</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Lepech 2009</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Self-healing</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10 wet–dry cycles: resonant frequency back to 87–100%; 12 months outdoors: 95–105%</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Yang 2009; Herbert 2013</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163">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Healing under load</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60% sustained load: cracks ≈ 2× wider, stiffness recovery 76 vs 87%</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Özbay 2013</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284262">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Sulfate + dry–wet</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f_cu −50% vs −76% for concrete (saturated, 150 cycles); compression only</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Li 2021 (HDC)</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r>
              <a:tr h="284262">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−30 to 60 °C</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strain hardening kept; εtu 1.15–1.46%</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Chai 2023 (HDC)</a:t>
                      </a:r>
                      <a:endParaRPr lang="en-US" sz="1018" dirty="0">
                        <a:latin typeface="Arial" charset="0"/>
                        <a:ea typeface="Arial" charset="0"/>
                        <a:cs typeface="Arial" charset="0"/>
                      </a:endParaRPr>
                    </a:p>
                  </a:txBody>
                  <a:tcPr marL="45228" marR="45228" marT="45228" marB="45228" anchor="t">
                    <a:lnL w="12700" cap="flat" cmpd="sng" algn="ctr">
                      <a:solidFill>
                        <a:srgbClr val="BBC3B6"/>
                      </a:solidFill>
                      <a:prstDash val="solid"/>
                      <a:round/>
                      <a:headEnd type="none" w="med" len="med"/>
                      <a:tailEnd type="none" w="med" len="med"/>
                    </a:lnL>
                    <a:lnR w="12700" cap="flat" cmpd="sng" algn="ctr">
                      <a:solidFill>
                        <a:srgbClr val="BBC3B6"/>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BBC3B6"/>
                      </a:solidFill>
                      <a:prstDash val="solid"/>
                      <a:round/>
                      <a:headEnd type="none" w="med" len="med"/>
                      <a:tailEnd type="none" w="med" len="med"/>
                    </a:lnB>
                    <a:solidFill>
                      <a:srgbClr val="EAF4E4"/>
                    </a:solidFill>
                  </a:tcPr>
                </a:tc>
              </a:tr>
              <a:tr h="465038">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200–1000 °C</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hot to 600 °C: f′c −25%, no spalling, brittle bending from 200 °C; PVA melts from 230 °C</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425"/>
                        </a:lnSpc>
                        <a:buNone/>
                      </a:pPr>
                      <a:r>
                        <a:rPr lang="en-US" sz="1018" dirty="0">
                          <a:solidFill>
                            <a:srgbClr val="22272B"/>
                          </a:solidFill>
                          <a:latin typeface="Arial" pitchFamily="34" charset="0"/>
                          <a:ea typeface="Arial" pitchFamily="34" charset="-122"/>
                          <a:cs typeface="Arial" pitchFamily="34" charset="-120"/>
                        </a:rPr>
                        <a:t>Pourfalah 2018; Zhou 2023; Mohammed 2020</a:t>
                      </a:r>
                      <a:endParaRPr lang="en-US" sz="1018" dirty="0">
                        <a:latin typeface="Arial" charset="0"/>
                        <a:ea typeface="Arial" charset="0"/>
                        <a:cs typeface="Arial" charset="0"/>
                      </a:endParaRPr>
                    </a:p>
                  </a:txBody>
                  <a:tcPr marL="45228" marR="45228" marT="45228" marB="45228"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BC3B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5311378"/>
            <a:ext cx="11379200" cy="454422"/>
          </a:xfrm>
          <a:prstGeom prst="rect">
            <a:avLst/>
          </a:prstGeom>
          <a:noFill/>
          <a:ln/>
        </p:spPr>
        <p:txBody>
          <a:bodyPr wrap="square" lIns="0" tIns="0" rIns="0" bIns="0" rtlCol="0" anchor="t">
            <a:normAutofit/>
          </a:bodyPr>
          <a:lstStyle/>
          <a:p>
            <a:pPr algn="l" indent="0" marL="0">
              <a:lnSpc>
                <a:spcPts val="1712"/>
              </a:lnSpc>
              <a:buNone/>
            </a:pPr>
            <a:r>
              <a:rPr lang="en-US" sz="1223" dirty="0">
                <a:solidFill>
                  <a:srgbClr val="3E464C"/>
                </a:solidFill>
                <a:latin typeface="Arial" pitchFamily="34" charset="0"/>
                <a:ea typeface="Arial" pitchFamily="34" charset="-122"/>
                <a:cs typeface="Arial" pitchFamily="34" charset="-120"/>
              </a:rPr>
              <a:t>Green: Chinese HDC/HDCC. All on normal-strength ECC/HDC: none for HSHDC or UHDC; tension after exposure only for freeze–thaw (Yun 2013).</a:t>
            </a:r>
            <a:endParaRPr lang="en-US" sz="1223" dirty="0"/>
          </a:p>
        </p:txBody>
      </p:sp>
      <p:sp>
        <p:nvSpPr>
          <p:cNvPr id="9" name="Text 6"/>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Durability · sources as named per row · wiki: durability, freeze-thaw, permeability, self-healing, high-temperature-behaviour</a:t>
            </a:r>
            <a:endParaRPr lang="en-US" sz="1200" dirty="0"/>
          </a:p>
        </p:txBody>
      </p:sp>
      <p:sp>
        <p:nvSpPr>
          <p:cNvPr id="10" name="Shape 7"/>
          <p:cNvSpPr/>
          <p:nvPr/>
        </p:nvSpPr>
        <p:spPr>
          <a:xfrm>
            <a:off x="0" y="6350000"/>
            <a:ext cx="12192000" cy="12700"/>
          </a:xfrm>
          <a:prstGeom prst="rect">
            <a:avLst/>
          </a:prstGeom>
          <a:solidFill>
            <a:srgbClr val="A6A6A6"/>
          </a:solidFill>
          <a:ln/>
        </p:spPr>
      </p:sp>
      <p:sp>
        <p:nvSpPr>
          <p:cNvPr id="11" name="Text 8"/>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9"/>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34</a:t>
            </a:r>
            <a:endParaRPr lang="en-US" sz="1500" dirty="0"/>
          </a:p>
        </p:txBody>
      </p:sp>
      <p:pic>
        <p:nvPicPr>
          <p:cNvPr id="1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2.16. Where HDC is being used: primary structural data</a:t>
            </a:r>
            <a:endParaRPr lang="en-US" sz="2800" dirty="0"/>
          </a:p>
        </p:txBody>
      </p:sp>
      <p:sp>
        <p:nvSpPr>
          <p:cNvPr id="7" name="Shape 5"/>
          <p:cNvSpPr/>
          <p:nvPr/>
        </p:nvSpPr>
        <p:spPr>
          <a:xfrm>
            <a:off x="819150" y="1642070"/>
            <a:ext cx="3407767" cy="1755775"/>
          </a:xfrm>
          <a:prstGeom prst="roundRect">
            <a:avLst>
              <a:gd name="adj" fmla="val 3978"/>
            </a:avLst>
          </a:prstGeom>
          <a:solidFill>
            <a:srgbClr val="F4F8FC"/>
          </a:solidFill>
          <a:ln w="12700">
            <a:solidFill>
              <a:srgbClr val="0070C0"/>
            </a:solidFill>
            <a:prstDash val="solid"/>
          </a:ln>
        </p:spPr>
      </p:sp>
      <p:sp>
        <p:nvSpPr>
          <p:cNvPr id="8" name="Text 6"/>
          <p:cNvSpPr/>
          <p:nvPr/>
        </p:nvSpPr>
        <p:spPr>
          <a:xfrm>
            <a:off x="1003300" y="1826220"/>
            <a:ext cx="313065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RC beam strengthening</a:t>
            </a:r>
            <a:endParaRPr lang="en-US" sz="1500" dirty="0"/>
          </a:p>
        </p:txBody>
      </p:sp>
      <p:sp>
        <p:nvSpPr>
          <p:cNvPr id="9" name="Text 7"/>
          <p:cNvSpPr/>
          <p:nvPr/>
        </p:nvSpPr>
        <p:spPr>
          <a:xfrm>
            <a:off x="1003300" y="2118320"/>
            <a:ext cx="3130651" cy="901700"/>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Sprayed ECC side layers on stirrup-free beams: +20–89%, but every 40 mm layer debonded (Wang 2019). NSHSDC jackets: +8 / +29 / +40% (Yuan 2020).</a:t>
            </a:r>
            <a:endParaRPr lang="en-US" sz="1250" dirty="0"/>
          </a:p>
        </p:txBody>
      </p:sp>
      <p:sp>
        <p:nvSpPr>
          <p:cNvPr id="10" name="Shape 8"/>
          <p:cNvSpPr/>
          <p:nvPr/>
        </p:nvSpPr>
        <p:spPr>
          <a:xfrm>
            <a:off x="4392017" y="1642070"/>
            <a:ext cx="3407866" cy="1755775"/>
          </a:xfrm>
          <a:prstGeom prst="roundRect">
            <a:avLst>
              <a:gd name="adj" fmla="val 3978"/>
            </a:avLst>
          </a:prstGeom>
          <a:solidFill>
            <a:srgbClr val="F4F8FC"/>
          </a:solidFill>
          <a:ln w="12700">
            <a:solidFill>
              <a:srgbClr val="0070C0"/>
            </a:solidFill>
            <a:prstDash val="solid"/>
          </a:ln>
        </p:spPr>
      </p:sp>
      <p:sp>
        <p:nvSpPr>
          <p:cNvPr id="11" name="Text 9"/>
          <p:cNvSpPr/>
          <p:nvPr/>
        </p:nvSpPr>
        <p:spPr>
          <a:xfrm>
            <a:off x="4576167" y="1826220"/>
            <a:ext cx="313075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RC column jackets</a:t>
            </a:r>
            <a:endParaRPr lang="en-US" sz="1500" dirty="0"/>
          </a:p>
        </p:txBody>
      </p:sp>
      <p:sp>
        <p:nvSpPr>
          <p:cNvPr id="12" name="Text 10"/>
          <p:cNvSpPr/>
          <p:nvPr/>
        </p:nvSpPr>
        <p:spPr>
          <a:xfrm>
            <a:off x="4576167" y="2118320"/>
            <a:ext cx="3130753" cy="1120775"/>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30 mm PVA-HDC + bar mesh: brittle bend-shear → flexural hinge; ductility 7.9 vs 3.3, drift 4.7 vs 2.2% (Deng 2017). Caveat: jacketed columns carried higher axial load; one column per case.</a:t>
            </a:r>
            <a:endParaRPr lang="en-US" sz="1250" dirty="0"/>
          </a:p>
        </p:txBody>
      </p:sp>
      <p:sp>
        <p:nvSpPr>
          <p:cNvPr id="13" name="Shape 11"/>
          <p:cNvSpPr/>
          <p:nvPr/>
        </p:nvSpPr>
        <p:spPr>
          <a:xfrm>
            <a:off x="7964984" y="1642070"/>
            <a:ext cx="3407866" cy="1755775"/>
          </a:xfrm>
          <a:prstGeom prst="roundRect">
            <a:avLst>
              <a:gd name="adj" fmla="val 3978"/>
            </a:avLst>
          </a:prstGeom>
          <a:solidFill>
            <a:srgbClr val="F4F8FC"/>
          </a:solidFill>
          <a:ln w="12700">
            <a:solidFill>
              <a:srgbClr val="0070C0"/>
            </a:solidFill>
            <a:prstDash val="solid"/>
          </a:ln>
        </p:spPr>
      </p:sp>
      <p:sp>
        <p:nvSpPr>
          <p:cNvPr id="14" name="Text 12"/>
          <p:cNvSpPr/>
          <p:nvPr/>
        </p:nvSpPr>
        <p:spPr>
          <a:xfrm>
            <a:off x="8149134" y="1826220"/>
            <a:ext cx="313075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Whole-HDC members</a:t>
            </a:r>
            <a:endParaRPr lang="en-US" sz="1500" dirty="0"/>
          </a:p>
        </p:txBody>
      </p:sp>
      <p:sp>
        <p:nvSpPr>
          <p:cNvPr id="15" name="Text 13"/>
          <p:cNvSpPr/>
          <p:nvPr/>
        </p:nvSpPr>
        <p:spPr>
          <a:xfrm>
            <a:off x="8149134" y="2118320"/>
            <a:ext cx="3130753" cy="1120775"/>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Short columns: peak +24%, ductility +37% (Deng 2018). Beams with stirrups: ductile shear, no crushing; ACI 318-14 underestimates 2.0–5.3×, EN 1992 1.8–4.0× (Li 2021).</a:t>
            </a:r>
            <a:endParaRPr lang="en-US" sz="1250" dirty="0"/>
          </a:p>
        </p:txBody>
      </p:sp>
      <p:sp>
        <p:nvSpPr>
          <p:cNvPr id="16" name="Shape 14"/>
          <p:cNvSpPr/>
          <p:nvPr/>
        </p:nvSpPr>
        <p:spPr>
          <a:xfrm>
            <a:off x="819150" y="3562945"/>
            <a:ext cx="3407767" cy="1974850"/>
          </a:xfrm>
          <a:prstGeom prst="roundRect">
            <a:avLst>
              <a:gd name="adj" fmla="val 3537"/>
            </a:avLst>
          </a:prstGeom>
          <a:solidFill>
            <a:srgbClr val="F4F8FC"/>
          </a:solidFill>
          <a:ln w="12700">
            <a:solidFill>
              <a:srgbClr val="0070C0"/>
            </a:solidFill>
            <a:prstDash val="solid"/>
          </a:ln>
        </p:spPr>
      </p:sp>
      <p:sp>
        <p:nvSpPr>
          <p:cNvPr id="17" name="Text 15"/>
          <p:cNvSpPr/>
          <p:nvPr/>
        </p:nvSpPr>
        <p:spPr>
          <a:xfrm>
            <a:off x="1003300" y="3747095"/>
            <a:ext cx="313065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Masonry retrofit</a:t>
            </a:r>
            <a:endParaRPr lang="en-US" sz="1500" dirty="0"/>
          </a:p>
        </p:txBody>
      </p:sp>
      <p:sp>
        <p:nvSpPr>
          <p:cNvPr id="18" name="Text 16"/>
          <p:cNvSpPr/>
          <p:nvPr/>
        </p:nvSpPr>
        <p:spPr>
          <a:xfrm>
            <a:off x="1003300" y="4039195"/>
            <a:ext cx="3130651" cy="1339850"/>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Shake table to 1.171 g: 15 mm HDC overlay vs welded-wire mesh + mortar, frequency loss 10.9 vs 27.5% (E-W), no detachment; same model re-tested (Deng 2019). AAC walls: peak +17 / 28 / 31% (Deng 2020).</a:t>
            </a:r>
            <a:endParaRPr lang="en-US" sz="1250" dirty="0"/>
          </a:p>
        </p:txBody>
      </p:sp>
      <p:sp>
        <p:nvSpPr>
          <p:cNvPr id="19" name="Shape 17"/>
          <p:cNvSpPr/>
          <p:nvPr/>
        </p:nvSpPr>
        <p:spPr>
          <a:xfrm>
            <a:off x="4388842" y="3559770"/>
            <a:ext cx="3414216" cy="1981200"/>
          </a:xfrm>
          <a:prstGeom prst="roundRect">
            <a:avLst>
              <a:gd name="adj" fmla="val 3686"/>
            </a:avLst>
          </a:prstGeom>
          <a:solidFill>
            <a:srgbClr val="F4F8FC"/>
          </a:solidFill>
          <a:ln w="6350">
            <a:solidFill>
              <a:srgbClr val="C9D7E8"/>
            </a:solidFill>
            <a:prstDash val="solid"/>
          </a:ln>
        </p:spPr>
      </p:sp>
      <p:sp>
        <p:nvSpPr>
          <p:cNvPr id="20" name="Text 18"/>
          <p:cNvSpPr/>
          <p:nvPr/>
        </p:nvSpPr>
        <p:spPr>
          <a:xfrm>
            <a:off x="4569817" y="3740745"/>
            <a:ext cx="314383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Sprayed repair and field use</a:t>
            </a:r>
            <a:endParaRPr lang="en-US" sz="1500" dirty="0"/>
          </a:p>
        </p:txBody>
      </p:sp>
      <p:sp>
        <p:nvSpPr>
          <p:cNvPr id="21" name="Text 19"/>
          <p:cNvSpPr/>
          <p:nvPr/>
        </p:nvSpPr>
        <p:spPr>
          <a:xfrm>
            <a:off x="4569817" y="4032845"/>
            <a:ext cx="3143834" cy="901700"/>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First wet-sprayed ECC with &gt; 2% strain (Kanda 2003). Mihara Bridge deck, Mitaka Dam; ASR wall cracks ≤ 120 µm at 24 months vs 300 µm mortar (second-hand).</a:t>
            </a:r>
            <a:endParaRPr lang="en-US" sz="1250" dirty="0"/>
          </a:p>
        </p:txBody>
      </p:sp>
      <p:sp>
        <p:nvSpPr>
          <p:cNvPr id="22" name="Shape 20"/>
          <p:cNvSpPr/>
          <p:nvPr/>
        </p:nvSpPr>
        <p:spPr>
          <a:xfrm>
            <a:off x="7964984" y="3562945"/>
            <a:ext cx="3407866" cy="1974850"/>
          </a:xfrm>
          <a:prstGeom prst="roundRect">
            <a:avLst>
              <a:gd name="adj" fmla="val 3537"/>
            </a:avLst>
          </a:prstGeom>
          <a:solidFill>
            <a:srgbClr val="F4F8FC"/>
          </a:solidFill>
          <a:ln w="12700">
            <a:solidFill>
              <a:srgbClr val="0070C0"/>
            </a:solidFill>
            <a:prstDash val="solid"/>
          </a:ln>
        </p:spPr>
      </p:sp>
      <p:sp>
        <p:nvSpPr>
          <p:cNvPr id="23" name="Text 21"/>
          <p:cNvSpPr/>
          <p:nvPr/>
        </p:nvSpPr>
        <p:spPr>
          <a:xfrm>
            <a:off x="8149134" y="3747095"/>
            <a:ext cx="3130753"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2272B"/>
                </a:solidFill>
                <a:latin typeface="Arial" pitchFamily="34" charset="0"/>
                <a:ea typeface="Arial" pitchFamily="34" charset="-122"/>
                <a:cs typeface="Arial" pitchFamily="34" charset="-120"/>
              </a:rPr>
              <a:t>Impact skins and 3D printing</a:t>
            </a:r>
            <a:endParaRPr lang="en-US" sz="1500" dirty="0"/>
          </a:p>
        </p:txBody>
      </p:sp>
      <p:sp>
        <p:nvSpPr>
          <p:cNvPr id="24" name="Text 22"/>
          <p:cNvSpPr/>
          <p:nvPr/>
        </p:nvSpPr>
        <p:spPr>
          <a:xfrm>
            <a:off x="8149134" y="4039195"/>
            <a:ext cx="3130753" cy="1120775"/>
          </a:xfrm>
          <a:prstGeom prst="rect">
            <a:avLst/>
          </a:prstGeom>
          <a:noFill/>
          <a:ln/>
        </p:spPr>
        <p:txBody>
          <a:bodyPr wrap="square" lIns="0" tIns="0" rIns="0" bIns="0" rtlCol="0" anchor="t">
            <a:normAutofit/>
          </a:bodyPr>
          <a:lstStyle/>
          <a:p>
            <a:pPr algn="l" indent="0" marL="0">
              <a:lnSpc>
                <a:spcPts val="1725"/>
              </a:lnSpc>
              <a:buNone/>
            </a:pPr>
            <a:r>
              <a:rPr lang="en-US" sz="1250" dirty="0">
                <a:solidFill>
                  <a:srgbClr val="3E464C"/>
                </a:solidFill>
                <a:latin typeface="Arial" pitchFamily="34" charset="0"/>
                <a:ea typeface="Arial" pitchFamily="34" charset="-122"/>
                <a:cs typeface="Arial" pitchFamily="34" charset="-120"/>
              </a:rPr>
              <a:t>HSHDC slabs survive 20 drop-weight impacts (Ranade 2017); 5–20 mm HSDC skins on NC panels (Lee 2021). Printed PVA-SHCC only 0.15–0.31% (Chaves Figueiredo 2020).</a:t>
            </a:r>
            <a:endParaRPr lang="en-US" sz="1250" dirty="0"/>
          </a:p>
        </p:txBody>
      </p:sp>
      <p:sp>
        <p:nvSpPr>
          <p:cNvPr id="25" name="Text 23"/>
          <p:cNvSpPr/>
          <p:nvPr/>
        </p:nvSpPr>
        <p:spPr>
          <a:xfrm>
            <a:off x="812800" y="6035080"/>
            <a:ext cx="11379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Applications · blue border = primary data · sources named on each card · wiki: rc-member-strengthening, masonry-wall-retrofit, shear-behaviour</a:t>
            </a:r>
            <a:endParaRPr lang="en-US" sz="1200" dirty="0"/>
          </a:p>
        </p:txBody>
      </p:sp>
      <p:sp>
        <p:nvSpPr>
          <p:cNvPr id="26" name="Shape 24"/>
          <p:cNvSpPr/>
          <p:nvPr/>
        </p:nvSpPr>
        <p:spPr>
          <a:xfrm>
            <a:off x="0" y="6350000"/>
            <a:ext cx="12192000" cy="12700"/>
          </a:xfrm>
          <a:prstGeom prst="rect">
            <a:avLst/>
          </a:prstGeom>
          <a:solidFill>
            <a:srgbClr val="A6A6A6"/>
          </a:solidFill>
          <a:ln/>
        </p:spPr>
      </p:sp>
      <p:sp>
        <p:nvSpPr>
          <p:cNvPr id="27" name="Text 25"/>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8" name="Text 26"/>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35</a:t>
            </a:r>
            <a:endParaRPr lang="en-US" sz="1500" dirty="0"/>
          </a:p>
        </p:txBody>
      </p:sp>
      <p:pic>
        <p:nvPicPr>
          <p:cNvPr id="29"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2.17. Research gaps</a:t>
            </a:r>
            <a:endParaRPr lang="en-US" sz="2800" dirty="0"/>
          </a:p>
        </p:txBody>
      </p:sp>
      <p:sp>
        <p:nvSpPr>
          <p:cNvPr id="7" name="Shape 5"/>
          <p:cNvSpPr/>
          <p:nvPr/>
        </p:nvSpPr>
        <p:spPr>
          <a:xfrm>
            <a:off x="831850" y="1635720"/>
            <a:ext cx="0" cy="1356221"/>
          </a:xfrm>
          <a:prstGeom prst="line">
            <a:avLst/>
          </a:prstGeom>
          <a:noFill/>
          <a:ln w="38100">
            <a:solidFill>
              <a:srgbClr val="B8720C"/>
            </a:solidFill>
            <a:prstDash val="solid"/>
          </a:ln>
        </p:spPr>
      </p:sp>
      <p:sp>
        <p:nvSpPr>
          <p:cNvPr id="8" name="Text 6"/>
          <p:cNvSpPr/>
          <p:nvPr/>
        </p:nvSpPr>
        <p:spPr>
          <a:xfrm>
            <a:off x="1028700" y="1686520"/>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Durability of high-strength HDC</a:t>
            </a:r>
            <a:endParaRPr lang="en-US" sz="1600" dirty="0"/>
          </a:p>
        </p:txBody>
      </p:sp>
      <p:sp>
        <p:nvSpPr>
          <p:cNvPr id="9" name="Text 7"/>
          <p:cNvSpPr/>
          <p:nvPr/>
        </p:nvSpPr>
        <p:spPr>
          <a:xfrm>
            <a:off x="1028700" y="1981101"/>
            <a:ext cx="5140833" cy="985441"/>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Primary data cover freeze–thaw (with tension after 300 cycles), carbonation, chloride, permeability, sulfate and heat, but only normal-strength ECC/HDC; none for HSHDC, UHDC or cementless PE/AAS.</a:t>
            </a:r>
            <a:endParaRPr lang="en-US" sz="1350" dirty="0"/>
          </a:p>
        </p:txBody>
      </p:sp>
      <p:sp>
        <p:nvSpPr>
          <p:cNvPr id="10" name="Shape 8"/>
          <p:cNvSpPr/>
          <p:nvPr/>
        </p:nvSpPr>
        <p:spPr>
          <a:xfrm>
            <a:off x="6191250" y="1635720"/>
            <a:ext cx="0" cy="1356221"/>
          </a:xfrm>
          <a:prstGeom prst="line">
            <a:avLst/>
          </a:prstGeom>
          <a:noFill/>
          <a:ln w="38100">
            <a:solidFill>
              <a:srgbClr val="B8720C"/>
            </a:solidFill>
            <a:prstDash val="solid"/>
          </a:ln>
        </p:spPr>
      </p:sp>
      <p:sp>
        <p:nvSpPr>
          <p:cNvPr id="11" name="Text 9"/>
          <p:cNvSpPr/>
          <p:nvPr/>
        </p:nvSpPr>
        <p:spPr>
          <a:xfrm>
            <a:off x="6388100" y="1686520"/>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Tolerable crack width</a:t>
            </a:r>
            <a:endParaRPr lang="en-US" sz="1600" dirty="0"/>
          </a:p>
        </p:txBody>
      </p:sp>
      <p:sp>
        <p:nvSpPr>
          <p:cNvPr id="12" name="Text 10"/>
          <p:cNvSpPr/>
          <p:nvPr/>
        </p:nvSpPr>
        <p:spPr>
          <a:xfrm>
            <a:off x="6388100" y="1981101"/>
            <a:ext cx="5140833" cy="74543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Thresholds depend on exposure; the 100 µm target comes from concrete, and ECC permeability is known only at 50–63 µm; loaded widths are ≈ 2× residual.</a:t>
            </a:r>
            <a:endParaRPr lang="en-US" sz="1350" dirty="0"/>
          </a:p>
        </p:txBody>
      </p:sp>
      <p:sp>
        <p:nvSpPr>
          <p:cNvPr id="13" name="Shape 11"/>
          <p:cNvSpPr/>
          <p:nvPr/>
        </p:nvSpPr>
        <p:spPr>
          <a:xfrm>
            <a:off x="831850" y="3144341"/>
            <a:ext cx="0" cy="1116211"/>
          </a:xfrm>
          <a:prstGeom prst="line">
            <a:avLst/>
          </a:prstGeom>
          <a:noFill/>
          <a:ln w="38100">
            <a:solidFill>
              <a:srgbClr val="0070C0"/>
            </a:solidFill>
            <a:prstDash val="solid"/>
          </a:ln>
        </p:spPr>
      </p:sp>
      <p:sp>
        <p:nvSpPr>
          <p:cNvPr id="14" name="Text 12"/>
          <p:cNvSpPr/>
          <p:nvPr/>
        </p:nvSpPr>
        <p:spPr>
          <a:xfrm>
            <a:off x="1028700" y="3195141"/>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Fire</a:t>
            </a:r>
            <a:endParaRPr lang="en-US" sz="1600" dirty="0"/>
          </a:p>
        </p:txBody>
      </p:sp>
      <p:sp>
        <p:nvSpPr>
          <p:cNvPr id="15" name="Text 13"/>
          <p:cNvSpPr/>
          <p:nvPr/>
        </p:nvSpPr>
        <p:spPr>
          <a:xfrm>
            <a:off x="1028700" y="3489722"/>
            <a:ext cx="5140833" cy="74543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No fire design data and no hot tension tests; hot bending ductility is lost from ≈ 150 °C; PE loses hardening at 100–140 °C, PVA melts from 230 °C.</a:t>
            </a:r>
            <a:endParaRPr lang="en-US" sz="1350" dirty="0"/>
          </a:p>
        </p:txBody>
      </p:sp>
      <p:sp>
        <p:nvSpPr>
          <p:cNvPr id="16" name="Shape 14"/>
          <p:cNvSpPr/>
          <p:nvPr/>
        </p:nvSpPr>
        <p:spPr>
          <a:xfrm>
            <a:off x="6191250" y="3144341"/>
            <a:ext cx="0" cy="1116211"/>
          </a:xfrm>
          <a:prstGeom prst="line">
            <a:avLst/>
          </a:prstGeom>
          <a:noFill/>
          <a:ln w="38100">
            <a:solidFill>
              <a:srgbClr val="0070C0"/>
            </a:solidFill>
            <a:prstDash val="solid"/>
          </a:ln>
        </p:spPr>
      </p:sp>
      <p:sp>
        <p:nvSpPr>
          <p:cNvPr id="17" name="Text 15"/>
          <p:cNvSpPr/>
          <p:nvPr/>
        </p:nvSpPr>
        <p:spPr>
          <a:xfrm>
            <a:off x="6388100" y="3195141"/>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Tests and design criteria</a:t>
            </a:r>
            <a:endParaRPr lang="en-US" sz="1600" dirty="0"/>
          </a:p>
        </p:txBody>
      </p:sp>
      <p:sp>
        <p:nvSpPr>
          <p:cNvPr id="18" name="Text 16"/>
          <p:cNvSpPr/>
          <p:nvPr/>
        </p:nvSpPr>
        <p:spPr>
          <a:xfrm>
            <a:off x="6388100" y="3489722"/>
            <a:ext cx="5140833" cy="74543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One nominal XAUAT PVA-HDC mix: ≈ 3% (ultimate) to 0.34–0.45% (at peak); dogbone strain does not transfer to 50 mm members; JC/T 2461 and DBJ61/T112 not ingested.</a:t>
            </a:r>
            <a:endParaRPr lang="en-US" sz="1350" dirty="0"/>
          </a:p>
        </p:txBody>
      </p:sp>
      <p:sp>
        <p:nvSpPr>
          <p:cNvPr id="19" name="Shape 17"/>
          <p:cNvSpPr/>
          <p:nvPr/>
        </p:nvSpPr>
        <p:spPr>
          <a:xfrm>
            <a:off x="831850" y="4412952"/>
            <a:ext cx="0" cy="1116211"/>
          </a:xfrm>
          <a:prstGeom prst="line">
            <a:avLst/>
          </a:prstGeom>
          <a:noFill/>
          <a:ln w="38100">
            <a:solidFill>
              <a:srgbClr val="4E8A2A"/>
            </a:solidFill>
            <a:prstDash val="solid"/>
          </a:ln>
        </p:spPr>
      </p:sp>
      <p:sp>
        <p:nvSpPr>
          <p:cNvPr id="20" name="Text 18"/>
          <p:cNvSpPr/>
          <p:nvPr/>
        </p:nvSpPr>
        <p:spPr>
          <a:xfrm>
            <a:off x="1028700" y="4463752"/>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Structural scale</a:t>
            </a:r>
            <a:endParaRPr lang="en-US" sz="1600" dirty="0"/>
          </a:p>
        </p:txBody>
      </p:sp>
      <p:sp>
        <p:nvSpPr>
          <p:cNvPr id="21" name="Text 19"/>
          <p:cNvSpPr/>
          <p:nvPr/>
        </p:nvSpPr>
        <p:spPr>
          <a:xfrm>
            <a:off x="1028700" y="4758333"/>
            <a:ext cx="5140833" cy="74543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Masonry and column-jacket tests are now primary, but one specimen per case, no bond tests on brick or AAC, no crack widths; no PE-HSHDC members in shear.</a:t>
            </a:r>
            <a:endParaRPr lang="en-US" sz="1350" dirty="0"/>
          </a:p>
        </p:txBody>
      </p:sp>
      <p:sp>
        <p:nvSpPr>
          <p:cNvPr id="22" name="Shape 20"/>
          <p:cNvSpPr/>
          <p:nvPr/>
        </p:nvSpPr>
        <p:spPr>
          <a:xfrm>
            <a:off x="6191250" y="4412952"/>
            <a:ext cx="0" cy="1116211"/>
          </a:xfrm>
          <a:prstGeom prst="line">
            <a:avLst/>
          </a:prstGeom>
          <a:noFill/>
          <a:ln w="38100">
            <a:solidFill>
              <a:srgbClr val="4E8A2A"/>
            </a:solidFill>
            <a:prstDash val="solid"/>
          </a:ln>
        </p:spPr>
      </p:sp>
      <p:sp>
        <p:nvSpPr>
          <p:cNvPr id="23" name="Text 21"/>
          <p:cNvSpPr/>
          <p:nvPr/>
        </p:nvSpPr>
        <p:spPr>
          <a:xfrm>
            <a:off x="6388100" y="4463752"/>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2272B"/>
                </a:solidFill>
                <a:latin typeface="Arial" pitchFamily="34" charset="0"/>
                <a:ea typeface="Arial" pitchFamily="34" charset="-122"/>
                <a:cs typeface="Arial" pitchFamily="34" charset="-120"/>
              </a:rPr>
              <a:t>Time and field</a:t>
            </a:r>
            <a:endParaRPr lang="en-US" sz="1600" dirty="0"/>
          </a:p>
        </p:txBody>
      </p:sp>
      <p:sp>
        <p:nvSpPr>
          <p:cNvPr id="24" name="Text 22"/>
          <p:cNvSpPr/>
          <p:nvPr/>
        </p:nvSpPr>
        <p:spPr>
          <a:xfrm>
            <a:off x="6388100" y="4758333"/>
            <a:ext cx="5140833" cy="505420"/>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3E464C"/>
                </a:solidFill>
                <a:latin typeface="Arial" pitchFamily="34" charset="0"/>
                <a:ea typeface="Arial" pitchFamily="34" charset="-122"/>
                <a:cs typeface="Arial" pitchFamily="34" charset="-120"/>
              </a:rPr>
              <a:t>Most data at 28 days; longest outdoor exposure 12 months; field crack widths only second-hand, up to 24 months.</a:t>
            </a:r>
            <a:endParaRPr lang="en-US" sz="1350" dirty="0"/>
          </a:p>
        </p:txBody>
      </p:sp>
      <p:sp>
        <p:nvSpPr>
          <p:cNvPr id="25" name="Text 23"/>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378"/>
                </a:solidFill>
                <a:latin typeface="Arial" pitchFamily="34" charset="0"/>
                <a:ea typeface="Arial" pitchFamily="34" charset="-122"/>
                <a:cs typeface="Arial" pitchFamily="34" charset="-120"/>
              </a:rPr>
              <a:t>Part B · Gaps · wiki: gaps (64 logged conflicts) · lepech2009; ozbay2013; pourfalah2018; kunieda2010; deng2017, 2019, 2020; zhang2022 TR-HDC</a:t>
            </a:r>
            <a:endParaRPr lang="en-US" sz="1200" dirty="0"/>
          </a:p>
        </p:txBody>
      </p:sp>
      <p:sp>
        <p:nvSpPr>
          <p:cNvPr id="26" name="Shape 24"/>
          <p:cNvSpPr/>
          <p:nvPr/>
        </p:nvSpPr>
        <p:spPr>
          <a:xfrm>
            <a:off x="0" y="6350000"/>
            <a:ext cx="12192000" cy="12700"/>
          </a:xfrm>
          <a:prstGeom prst="rect">
            <a:avLst/>
          </a:prstGeom>
          <a:solidFill>
            <a:srgbClr val="A6A6A6"/>
          </a:solidFill>
          <a:ln/>
        </p:spPr>
      </p:sp>
      <p:sp>
        <p:nvSpPr>
          <p:cNvPr id="27" name="Text 25"/>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8" name="Text 26"/>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36</a:t>
            </a:r>
            <a:endParaRPr lang="en-US" sz="1500" dirty="0"/>
          </a:p>
        </p:txBody>
      </p:sp>
      <p:pic>
        <p:nvPicPr>
          <p:cNvPr id="29"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Part B: Literature review</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990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0" i="0" dirty="0">
                <a:solidFill>
                  <a:srgbClr val="0070C0"/>
                </a:solidFill>
                <a:latin typeface="Arial" pitchFamily="34" charset="0"/>
                <a:ea typeface="Arial" pitchFamily="34" charset="-122"/>
                <a:cs typeface="Arial" pitchFamily="34" charset="-120"/>
              </a:rPr>
              <a:t>2.18. Conclusions</a:t>
            </a:r>
            <a:endParaRPr lang="en-US" sz="2800" dirty="0"/>
          </a:p>
        </p:txBody>
      </p:sp>
      <p:sp>
        <p:nvSpPr>
          <p:cNvPr id="7" name="Shape 5"/>
          <p:cNvSpPr/>
          <p:nvPr/>
        </p:nvSpPr>
        <p:spPr>
          <a:xfrm>
            <a:off x="812800" y="1699220"/>
            <a:ext cx="5156200" cy="0"/>
          </a:xfrm>
          <a:prstGeom prst="line">
            <a:avLst/>
          </a:prstGeom>
          <a:noFill/>
          <a:ln w="25400">
            <a:solidFill>
              <a:srgbClr val="0070C0"/>
            </a:solidFill>
            <a:prstDash val="solid"/>
          </a:ln>
        </p:spPr>
      </p:sp>
      <p:sp>
        <p:nvSpPr>
          <p:cNvPr id="8" name="Text 6"/>
          <p:cNvSpPr/>
          <p:nvPr/>
        </p:nvSpPr>
        <p:spPr>
          <a:xfrm>
            <a:off x="812800" y="1864320"/>
            <a:ext cx="531088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4E79"/>
                </a:solidFill>
                <a:latin typeface="Arial" pitchFamily="34" charset="0"/>
                <a:ea typeface="Arial" pitchFamily="34" charset="-122"/>
                <a:cs typeface="Arial" pitchFamily="34" charset="-120"/>
              </a:rPr>
              <a:t>One family, many names</a:t>
            </a:r>
            <a:endParaRPr lang="en-US" sz="1800" dirty="0"/>
          </a:p>
        </p:txBody>
      </p:sp>
      <p:sp>
        <p:nvSpPr>
          <p:cNvPr id="9" name="Text 7"/>
          <p:cNvSpPr/>
          <p:nvPr/>
        </p:nvSpPr>
        <p:spPr>
          <a:xfrm>
            <a:off x="812800" y="2214761"/>
            <a:ext cx="531088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HDC, ECC and SHCC are defined by tensile strain hardening, not by name or fiber type.</a:t>
            </a:r>
            <a:endParaRPr lang="en-US" sz="1500" dirty="0"/>
          </a:p>
        </p:txBody>
      </p:sp>
      <p:sp>
        <p:nvSpPr>
          <p:cNvPr id="10" name="Shape 8"/>
          <p:cNvSpPr/>
          <p:nvPr/>
        </p:nvSpPr>
        <p:spPr>
          <a:xfrm>
            <a:off x="6223000" y="1699220"/>
            <a:ext cx="5156200" cy="0"/>
          </a:xfrm>
          <a:prstGeom prst="line">
            <a:avLst/>
          </a:prstGeom>
          <a:noFill/>
          <a:ln w="25400">
            <a:solidFill>
              <a:srgbClr val="0070C0"/>
            </a:solidFill>
            <a:prstDash val="solid"/>
          </a:ln>
        </p:spPr>
      </p:sp>
      <p:sp>
        <p:nvSpPr>
          <p:cNvPr id="11" name="Text 9"/>
          <p:cNvSpPr/>
          <p:nvPr/>
        </p:nvSpPr>
        <p:spPr>
          <a:xfrm>
            <a:off x="6223000" y="1864320"/>
            <a:ext cx="531088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4E79"/>
                </a:solidFill>
                <a:latin typeface="Arial" pitchFamily="34" charset="0"/>
                <a:ea typeface="Arial" pitchFamily="34" charset="-122"/>
                <a:cs typeface="Arial" pitchFamily="34" charset="-120"/>
              </a:rPr>
              <a:t>Ductility is designed at the interface</a:t>
            </a:r>
            <a:endParaRPr lang="en-US" sz="1800" dirty="0"/>
          </a:p>
        </p:txBody>
      </p:sp>
      <p:sp>
        <p:nvSpPr>
          <p:cNvPr id="12" name="Text 10"/>
          <p:cNvSpPr/>
          <p:nvPr/>
        </p:nvSpPr>
        <p:spPr>
          <a:xfrm>
            <a:off x="6223000" y="2214761"/>
            <a:ext cx="531088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Oil-coated PVA in normal matrices, PE in high-strength ones.</a:t>
            </a:r>
            <a:endParaRPr lang="en-US" sz="1500" dirty="0"/>
          </a:p>
        </p:txBody>
      </p:sp>
      <p:sp>
        <p:nvSpPr>
          <p:cNvPr id="13" name="Shape 11"/>
          <p:cNvSpPr/>
          <p:nvPr/>
        </p:nvSpPr>
        <p:spPr>
          <a:xfrm>
            <a:off x="812800" y="3014861"/>
            <a:ext cx="5156200" cy="0"/>
          </a:xfrm>
          <a:prstGeom prst="line">
            <a:avLst/>
          </a:prstGeom>
          <a:noFill/>
          <a:ln w="25400">
            <a:solidFill>
              <a:srgbClr val="B8720C"/>
            </a:solidFill>
            <a:prstDash val="solid"/>
          </a:ln>
        </p:spPr>
      </p:sp>
      <p:sp>
        <p:nvSpPr>
          <p:cNvPr id="14" name="Text 12"/>
          <p:cNvSpPr/>
          <p:nvPr/>
        </p:nvSpPr>
        <p:spPr>
          <a:xfrm>
            <a:off x="812800" y="3179961"/>
            <a:ext cx="531088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4E79"/>
                </a:solidFill>
                <a:latin typeface="Arial" pitchFamily="34" charset="0"/>
                <a:ea typeface="Arial" pitchFamily="34" charset="-122"/>
                <a:cs typeface="Arial" pitchFamily="34" charset="-120"/>
              </a:rPr>
              <a:t>Strength and ductility can coexist</a:t>
            </a:r>
            <a:endParaRPr lang="en-US" sz="1800" dirty="0"/>
          </a:p>
        </p:txBody>
      </p:sp>
      <p:sp>
        <p:nvSpPr>
          <p:cNvPr id="15" name="Text 13"/>
          <p:cNvSpPr/>
          <p:nvPr/>
        </p:nvSpPr>
        <p:spPr>
          <a:xfrm>
            <a:off x="812800" y="3530402"/>
            <a:ext cx="531088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Over 210 MPa with over 5% strain is reported; wider cracks and low heat resistance are the price of PE.</a:t>
            </a:r>
            <a:endParaRPr lang="en-US" sz="1500" dirty="0"/>
          </a:p>
        </p:txBody>
      </p:sp>
      <p:sp>
        <p:nvSpPr>
          <p:cNvPr id="16" name="Shape 14"/>
          <p:cNvSpPr/>
          <p:nvPr/>
        </p:nvSpPr>
        <p:spPr>
          <a:xfrm>
            <a:off x="6223000" y="3014861"/>
            <a:ext cx="5156200" cy="0"/>
          </a:xfrm>
          <a:prstGeom prst="line">
            <a:avLst/>
          </a:prstGeom>
          <a:noFill/>
          <a:ln w="25400">
            <a:solidFill>
              <a:srgbClr val="B8720C"/>
            </a:solidFill>
            <a:prstDash val="solid"/>
          </a:ln>
        </p:spPr>
      </p:sp>
      <p:sp>
        <p:nvSpPr>
          <p:cNvPr id="17" name="Text 15"/>
          <p:cNvSpPr/>
          <p:nvPr/>
        </p:nvSpPr>
        <p:spPr>
          <a:xfrm>
            <a:off x="6223000" y="3179961"/>
            <a:ext cx="531088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4E79"/>
                </a:solidFill>
                <a:latin typeface="Arial" pitchFamily="34" charset="0"/>
                <a:ea typeface="Arial" pitchFamily="34" charset="-122"/>
                <a:cs typeface="Arial" pitchFamily="34" charset="-120"/>
              </a:rPr>
              <a:t>The wiki made the gaps visible</a:t>
            </a:r>
            <a:endParaRPr lang="en-US" sz="1800" dirty="0"/>
          </a:p>
        </p:txBody>
      </p:sp>
      <p:sp>
        <p:nvSpPr>
          <p:cNvPr id="18" name="Text 16"/>
          <p:cNvSpPr/>
          <p:nvPr/>
        </p:nvSpPr>
        <p:spPr>
          <a:xfrm>
            <a:off x="6223000" y="3530402"/>
            <a:ext cx="531088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64C"/>
                </a:solidFill>
                <a:latin typeface="Arial" pitchFamily="34" charset="0"/>
                <a:ea typeface="Arial" pitchFamily="34" charset="-122"/>
                <a:cs typeface="Arial" pitchFamily="34" charset="-120"/>
              </a:rPr>
              <a:t>Every claim is traceable to a table or page, and every conflict is logged rather than smoothed over.</a:t>
            </a:r>
            <a:endParaRPr lang="en-US" sz="1500" dirty="0"/>
          </a:p>
        </p:txBody>
      </p:sp>
      <p:sp>
        <p:nvSpPr>
          <p:cNvPr id="19" name="Text 17"/>
          <p:cNvSpPr/>
          <p:nvPr/>
        </p:nvSpPr>
        <p:spPr>
          <a:xfrm>
            <a:off x="812800" y="60350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95959"/>
                </a:solidFill>
                <a:latin typeface="Arial" pitchFamily="34" charset="0"/>
                <a:ea typeface="Arial" pitchFamily="34" charset="-122"/>
                <a:cs typeface="Arial" pitchFamily="34" charset="-120"/>
              </a:rPr>
              <a:t>Conclusions · full evidence at conslmhoang.github.io/HDC-wiki</a:t>
            </a:r>
            <a:endParaRPr lang="en-US" sz="1200" dirty="0"/>
          </a:p>
        </p:txBody>
      </p:sp>
      <p:sp>
        <p:nvSpPr>
          <p:cNvPr id="20" name="Shape 18"/>
          <p:cNvSpPr/>
          <p:nvPr/>
        </p:nvSpPr>
        <p:spPr>
          <a:xfrm>
            <a:off x="0" y="6350000"/>
            <a:ext cx="12192000" cy="12700"/>
          </a:xfrm>
          <a:prstGeom prst="rect">
            <a:avLst/>
          </a:prstGeom>
          <a:solidFill>
            <a:srgbClr val="A6A6A6"/>
          </a:solidFill>
          <a:ln/>
        </p:spPr>
      </p:sp>
      <p:sp>
        <p:nvSpPr>
          <p:cNvPr id="21" name="Text 19"/>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22" name="Text 20"/>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37</a:t>
            </a:r>
            <a:endParaRPr lang="en-US" sz="1500" dirty="0"/>
          </a:p>
        </p:txBody>
      </p:sp>
      <p:pic>
        <p:nvPicPr>
          <p:cNvPr id="2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12172950" cy="768350"/>
          </a:xfrm>
          <a:prstGeom prst="rect">
            <a:avLst/>
          </a:prstGeom>
          <a:solidFill>
            <a:srgbClr val="FFFFFF"/>
          </a:solidFill>
          <a:ln w="19050">
            <a:solidFill>
              <a:srgbClr val="2F5597"/>
            </a:solidFill>
            <a:prstDash val="solid"/>
          </a:ln>
        </p:spPr>
      </p:sp>
      <p:sp>
        <p:nvSpPr>
          <p:cNvPr id="3" name="Text 1"/>
          <p:cNvSpPr/>
          <p:nvPr/>
        </p:nvSpPr>
        <p:spPr>
          <a:xfrm>
            <a:off x="203200" y="190500"/>
            <a:ext cx="6278880" cy="421580"/>
          </a:xfrm>
          <a:prstGeom prst="rect">
            <a:avLst/>
          </a:prstGeom>
          <a:noFill/>
          <a:ln/>
        </p:spPr>
        <p:txBody>
          <a:bodyPr wrap="square" lIns="0" tIns="0" rIns="0" bIns="0" rtlCol="0" anchor="t">
            <a:normAutofit/>
          </a:bodyPr>
          <a:lstStyle/>
          <a:p>
            <a:pPr algn="l" indent="0" marL="0">
              <a:lnSpc>
                <a:spcPts val="3120"/>
              </a:lnSpc>
              <a:buNone/>
            </a:pPr>
            <a:r>
              <a:rPr lang="en-US" sz="2600" dirty="0">
                <a:solidFill>
                  <a:srgbClr val="0070C0"/>
                </a:solidFill>
                <a:latin typeface="Arial" pitchFamily="34" charset="0"/>
                <a:ea typeface="Arial" pitchFamily="34" charset="-122"/>
                <a:cs typeface="Arial" pitchFamily="34" charset="-120"/>
              </a:rPr>
              <a:t>Discussion</a:t>
            </a:r>
            <a:endParaRPr lang="en-US" sz="2600" dirty="0"/>
          </a:p>
        </p:txBody>
      </p:sp>
      <p:sp>
        <p:nvSpPr>
          <p:cNvPr id="4" name="Text 2"/>
          <p:cNvSpPr/>
          <p:nvPr/>
        </p:nvSpPr>
        <p:spPr>
          <a:xfrm>
            <a:off x="6182360" y="1016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Department: Architecture and Civil Engineering</a:t>
            </a:r>
            <a:endParaRPr lang="en-US" sz="1500" dirty="0"/>
          </a:p>
        </p:txBody>
      </p:sp>
      <p:sp>
        <p:nvSpPr>
          <p:cNvPr id="5" name="Text 3"/>
          <p:cNvSpPr/>
          <p:nvPr/>
        </p:nvSpPr>
        <p:spPr>
          <a:xfrm>
            <a:off x="6182360" y="406400"/>
            <a:ext cx="5755640" cy="292100"/>
          </a:xfrm>
          <a:prstGeom prst="rect">
            <a:avLst/>
          </a:prstGeom>
          <a:noFill/>
          <a:ln/>
        </p:spPr>
        <p:txBody>
          <a:bodyPr wrap="square" lIns="0" tIns="0" rIns="0" bIns="0" rtlCol="0" anchor="t">
            <a:normAutofit/>
          </a:bodyPr>
          <a:lstStyle/>
          <a:p>
            <a:pPr algn="r" indent="0" marL="0">
              <a:lnSpc>
                <a:spcPts val="2100"/>
              </a:lnSpc>
              <a:buNone/>
            </a:pPr>
            <a:r>
              <a:rPr lang="en-US" sz="1500" b="1" i="1" dirty="0">
                <a:solidFill>
                  <a:srgbClr val="0070C0"/>
                </a:solidFill>
                <a:latin typeface="Arial" pitchFamily="34" charset="0"/>
                <a:ea typeface="Arial" pitchFamily="34" charset="-122"/>
                <a:cs typeface="Arial" pitchFamily="34" charset="-120"/>
              </a:rPr>
              <a:t>Course: Smart Concrete</a:t>
            </a:r>
            <a:endParaRPr lang="en-US" sz="1500" dirty="0"/>
          </a:p>
        </p:txBody>
      </p:sp>
      <p:sp>
        <p:nvSpPr>
          <p:cNvPr id="6" name="Text 4"/>
          <p:cNvSpPr/>
          <p:nvPr>
            <p:ph type="title"/>
          </p:nvPr>
        </p:nvSpPr>
        <p:spPr>
          <a:xfrm>
            <a:off x="812800" y="231398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0" i="0" dirty="0">
                <a:solidFill>
                  <a:srgbClr val="0070C0"/>
                </a:solidFill>
                <a:latin typeface="Arial" pitchFamily="34" charset="0"/>
                <a:ea typeface="Arial" pitchFamily="34" charset="-122"/>
                <a:cs typeface="Arial" pitchFamily="34" charset="-120"/>
              </a:rPr>
              <a:t>Questions</a:t>
            </a:r>
            <a:endParaRPr lang="en-US" sz="4800" dirty="0"/>
          </a:p>
        </p:txBody>
      </p:sp>
      <p:sp>
        <p:nvSpPr>
          <p:cNvPr id="7" name="Text 5"/>
          <p:cNvSpPr/>
          <p:nvPr/>
        </p:nvSpPr>
        <p:spPr>
          <a:xfrm>
            <a:off x="812800" y="320804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64C"/>
                </a:solidFill>
                <a:latin typeface="Arial" pitchFamily="34" charset="0"/>
                <a:ea typeface="Arial" pitchFamily="34" charset="-122"/>
                <a:cs typeface="Arial" pitchFamily="34" charset="-120"/>
              </a:rPr>
              <a:t>Wiki: conslmhoang.github.io/HDC-wiki</a:t>
            </a:r>
            <a:endParaRPr lang="en-US" sz="1600" dirty="0"/>
          </a:p>
        </p:txBody>
      </p:sp>
      <p:sp>
        <p:nvSpPr>
          <p:cNvPr id="8" name="Text 6"/>
          <p:cNvSpPr/>
          <p:nvPr/>
        </p:nvSpPr>
        <p:spPr>
          <a:xfrm>
            <a:off x="812800" y="3594100"/>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3E464C"/>
                </a:solidFill>
                <a:latin typeface="Arial" pitchFamily="34" charset="0"/>
                <a:ea typeface="Arial" pitchFamily="34" charset="-122"/>
                <a:cs typeface="Arial" pitchFamily="34" charset="-120"/>
              </a:rPr>
              <a:t>Code and notes: github.com/conslmhoang/HDC-wiki</a:t>
            </a:r>
            <a:endParaRPr lang="en-US" sz="1600" dirty="0"/>
          </a:p>
        </p:txBody>
      </p:sp>
      <p:sp>
        <p:nvSpPr>
          <p:cNvPr id="9" name="Text 7"/>
          <p:cNvSpPr/>
          <p:nvPr/>
        </p:nvSpPr>
        <p:spPr>
          <a:xfrm>
            <a:off x="812800" y="4132560"/>
            <a:ext cx="850265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0070C0"/>
                </a:solidFill>
                <a:latin typeface="Arial" pitchFamily="34" charset="0"/>
                <a:ea typeface="Arial" pitchFamily="34" charset="-122"/>
                <a:cs typeface="Arial" pitchFamily="34" charset="-120"/>
              </a:rPr>
              <a:t>Ask about any number: I can open its source note and the table it came from.</a:t>
            </a:r>
            <a:endParaRPr lang="en-US" sz="1600" dirty="0"/>
          </a:p>
        </p:txBody>
      </p:sp>
      <p:sp>
        <p:nvSpPr>
          <p:cNvPr id="10" name="Shape 8"/>
          <p:cNvSpPr/>
          <p:nvPr/>
        </p:nvSpPr>
        <p:spPr>
          <a:xfrm>
            <a:off x="0" y="6350000"/>
            <a:ext cx="12192000" cy="12700"/>
          </a:xfrm>
          <a:prstGeom prst="rect">
            <a:avLst/>
          </a:prstGeom>
          <a:solidFill>
            <a:srgbClr val="A6A6A6"/>
          </a:solidFill>
          <a:ln/>
        </p:spPr>
      </p:sp>
      <p:sp>
        <p:nvSpPr>
          <p:cNvPr id="11" name="Text 9"/>
          <p:cNvSpPr/>
          <p:nvPr/>
        </p:nvSpPr>
        <p:spPr>
          <a:xfrm>
            <a:off x="254000" y="6451600"/>
            <a:ext cx="5232400" cy="292100"/>
          </a:xfrm>
          <a:prstGeom prst="rect">
            <a:avLst/>
          </a:prstGeom>
          <a:noFill/>
          <a:ln/>
        </p:spPr>
        <p:txBody>
          <a:bodyPr wrap="square" lIns="0" tIns="0" rIns="0" bIns="0" rtlCol="0" anchor="t">
            <a:normAutofit/>
          </a:bodyPr>
          <a:lstStyle/>
          <a:p>
            <a:pPr algn="l" indent="0" marL="0">
              <a:lnSpc>
                <a:spcPts val="2100"/>
              </a:lnSpc>
              <a:buNone/>
            </a:pPr>
            <a:r>
              <a:rPr lang="en-US" sz="1500" i="1" dirty="0">
                <a:solidFill>
                  <a:srgbClr val="0070C0"/>
                </a:solidFill>
                <a:latin typeface="Arial" pitchFamily="34" charset="0"/>
                <a:ea typeface="Arial" pitchFamily="34" charset="-122"/>
                <a:cs typeface="Arial" pitchFamily="34" charset="-120"/>
              </a:rPr>
              <a:t>Chonnam National University</a:t>
            </a:r>
            <a:endParaRPr lang="en-US" sz="1500" dirty="0"/>
          </a:p>
        </p:txBody>
      </p:sp>
      <p:sp>
        <p:nvSpPr>
          <p:cNvPr id="12" name="Text 10"/>
          <p:cNvSpPr/>
          <p:nvPr/>
        </p:nvSpPr>
        <p:spPr>
          <a:xfrm>
            <a:off x="9340850" y="6451600"/>
            <a:ext cx="1962150" cy="292100"/>
          </a:xfrm>
          <a:prstGeom prst="rect">
            <a:avLst/>
          </a:prstGeom>
          <a:noFill/>
          <a:ln/>
        </p:spPr>
        <p:txBody>
          <a:bodyPr wrap="square" lIns="0" tIns="0" rIns="0" bIns="0" rtlCol="0" anchor="t">
            <a:normAutofit/>
          </a:bodyPr>
          <a:lstStyle/>
          <a:p>
            <a:pPr algn="r" indent="0" marL="0">
              <a:lnSpc>
                <a:spcPts val="2100"/>
              </a:lnSpc>
              <a:buNone/>
            </a:pPr>
            <a:r>
              <a:rPr lang="en-US" sz="1500" i="1" dirty="0">
                <a:solidFill>
                  <a:srgbClr val="0070C0"/>
                </a:solidFill>
                <a:latin typeface="Arial" pitchFamily="34" charset="0"/>
                <a:ea typeface="Arial" pitchFamily="34" charset="-122"/>
                <a:cs typeface="Arial" pitchFamily="34" charset="-120"/>
              </a:rPr>
              <a:t>Page 38</a:t>
            </a:r>
            <a:endParaRPr lang="en-US" sz="1500" dirty="0"/>
          </a:p>
        </p:txBody>
      </p:sp>
      <p:pic>
        <p:nvPicPr>
          <p:cNvPr id="13" name="Image 0" descr="">    </p:cNvPr>
          <p:cNvPicPr>
            <a:picLocks noChangeAspect="1"/>
          </p:cNvPicPr>
          <p:nvPr/>
        </p:nvPicPr>
        <p:blipFill>
          <a:blip r:embed="rId1">
            <a:alphaModFix amt="60000"/>
          </a:blip>
          <a:srcRect l="0" r="0" t="0" b="0"/>
          <a:stretch/>
        </p:blipFill>
        <p:spPr>
          <a:xfrm>
            <a:off x="11468100" y="6400800"/>
            <a:ext cx="431800" cy="431800"/>
          </a:xfrm>
          <a:prstGeom prst="rect">
            <a:avLst/>
          </a:prstGeom>
        </p:spPr>
      </p:pic>
    </p:spTree>
  </p:cSld>
  <p:clrMapOvr>
    <a:masterClrMapping/>
  </p:clrMapOvr>
</p:sld>
</file>

<file path=ppt/theme/theme1.xml><?xml version="1.0" encoding="utf-8"?>
<a:theme xmlns:a="http://schemas.openxmlformats.org/drawingml/2006/main" name="LLM Wiki for High Ductile Concrete">
  <a:themeElements>
    <a:clrScheme name="LLM Wiki for High Ductile Concrete">
      <a:dk1>
        <a:srgbClr val="0070C0"/>
      </a:dk1>
      <a:lt1>
        <a:srgbClr val="FFFFFF"/>
      </a:lt1>
      <a:dk2>
        <a:srgbClr val="4094D0"/>
      </a:dk2>
      <a:lt2>
        <a:srgbClr val="E6F1F9"/>
      </a:lt2>
      <a:accent1>
        <a:srgbClr val="1F4E79"/>
      </a:accent1>
      <a:accent2>
        <a:srgbClr val="B8720C"/>
      </a:accent2>
      <a:accent3>
        <a:srgbClr val="8A5509"/>
      </a:accent3>
      <a:accent4>
        <a:srgbClr val="4E8A2A"/>
      </a:accent4>
      <a:accent5>
        <a:srgbClr val="8FB8D6"/>
      </a:accent5>
      <a:accent6>
        <a:srgbClr val="E3B25E"/>
      </a:accent6>
      <a:hlink>
        <a:srgbClr val="0563C1"/>
      </a:hlink>
      <a:folHlink>
        <a:srgbClr val="954F72"/>
      </a:folHlink>
    </a:clrScheme>
    <a:fontScheme name="LLM Wiki for High Ductile Concre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Wiki for High Ductile Concrete</dc:title>
  <dc:subject/>
  <dc:creator/>
  <cp:lastModifiedBy/>
  <cp:revision>1</cp:revision>
  <dcterms:created xsi:type="dcterms:W3CDTF">2026-10-21T00:47:40Z</dcterms:created>
  <dcterms:modified xsi:type="dcterms:W3CDTF">2026-10-21T00:47:40Z</dcterms:modified>
</cp:coreProperties>
</file>