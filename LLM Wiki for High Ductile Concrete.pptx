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One-sentence summary: I built a wiki that an LLM writes and maintains from 11 papers on high ductile concrete, and I used it to write the literature review. The talk has two parts: 20 minutes on the system, 35 minutes on the review,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1 asked for an LLM wiki system on one smart-concrete topic; Project 2 asked for a literature review written with that system. I chose high ductile concrete. Part A shows how the system works; Part B is the review itself, and every claim in Part B comes from the wiki with a citation.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about 20 minutes. The core idea comes from Andrej Karpathy’s “LLM wiki” proposal: the model compiles knowledge into linked notes rather than re-reading raw sources for every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difference is when the thinking happens. RAG thinks at question time and forgets. The wiki thinks at ingest time and keeps the result, so the cross-paper comparison is already written when I need it for the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sources are the ground truth and are never touched. The wiki is entirely written by the LLM. The schema is the contract between us: I edit it only when we agree on a convention change, for example when I asked for batch ingest. Tool used: Claude Code working directly on the folder, with Obsidian to browse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this is deliberately low-tech. Obsidian opens the folder and draws the graph; GitHub stores the history. Datasets are three master tables: mix designs, mechanical results and micromechanical parameters, which is where the figures in Part B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part of the setup. Without these rules an LLM will happily average two numbers or fill a missing DOI from memory. A fifth rule, not shown: background knowledge without a source must be tagged “general knowledge — needs source”. Units are also fixed in the schema: MPa, %, µm, vol.%.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only type short commands. “ingest new” compares raw/ with the source notes, so I can drop many PDFs in at once. For the last batch of five papers, five sub-agents drafted the source notes in parallel, then one agent integrated them one at a time to keep the topic notes 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compounding effect. A single paper on PVA fibers changed the PVA, interface, strain-hardening, crack-width and tensile-strain pages, filled the biggest gap in the wiki (no normal-strength PVA source), and refined an earlier value: slip hardening β of 1.15–2.31 instead of the 0.6 quoted second-hand.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come from build_site.py and the dataset pages. The conflicts number is the one I want to stress: a reviewer would normally miss most of these because they sit in different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catches: text extraction turns the micro sign into “m” (28 µm printed as 28 mm), which the LLM checks by rendering the page image; a mis-citation between two reviews about freeze–thaw. The human still verifies: the LLM flags, I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site is a single static page generated from the Markdown. Git keeps the full history, so every change the LLM made is reviewable as a commit. The .gitignore excludes raw PDFs; only my notes and summaries are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browser. Colour shows note type: papers in steel blue, concepts in ochre, properties in plum. Node size is the number of links. Double-click a node to open its note. Keep the demo under three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demo is that the answer is short, cross-paper, and every sentence carries a source note and location. If the answer is reusable, the schema says the LLM should offer to save it as a synthesis page, so the next question starts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limits. The corpus is 11 papers and several come from the same research groups. The wiki makes that visible on the gaps page instead of hiding it. That is the bridge to Part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about 35 minutes. Everything that follows comes from the wiki pages; the source tags in each footer point to the source notes, which point to tables and pages in the PDFs.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primary studies and four reviews. The reviews widen coverage, especially for durability and applications, but their numbers are second-hand: in the wiki they are always marked “as cited”. Full references are on the Catalog page of the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for the audience: HDC is a regional name, not a separate material. Fiber type does not define it: Chinese groups use both PVA and PE. Thresholds are inconsistent: other reviews use more than 55 MPa and 4%, or more than 80 MPa and 2%. Under Zhang’s cut-off, the Xi’an PVA-HSHDC at about 94 MPa would not count as high-strength.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name the lineage when quoting “HSHDC” values. Michigan reaches high strength with heat curing; the Chinese groups use ambient-cured binders with fly ash or slag and finer PE fibers. GDUT f'c values were read from a bar chart, so they are approximate.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1992 paper is the foundation of every later ECC and HDC design. It also adds a flaw-size condition that the later PSH indices leave out, which matters two slides from now. Note: the paper’s Table 1 critical volumes could not be reproduced exactly from Eq. 17, flagged on the source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pseudo strain-hardening (PSH) indices used by every primary study in the corpus. Example: Michigan HSHDC at quasi-static rate has a strength ratio of about 1.8 and an energy ratio of about 39; at 10 per second the energy ratio drops to about 6 but strain hardening survives.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trade-off in the third panel: lower bond means a softer bridging curve, so cracks get wider (43 to 88 micrometres) while still staying under 100. Crack saturation starts at about 0.8% oil, exactly where the energy ratio passes 3. Commercial PVA for ECC uses 0.8–1.2% oil. Matrix: w/c 0.45, no fly ash, 2% PVA, 12 mm by 39 µm.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findings that only appeared because the wiki put the two papers side by side. It is labelled as synthesis, not as something either paper claims. It is also logged as an open question on the gaps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two strain rows: the same PVA fiber gives almost 5% in a normal matrix and 0.3% in a dense W/B 0.16 matrix, because the dense matrix makes the bond even stronger. PVA melting point values differ between sources, hence the warning mark. The low PE melting point is the price for its strength.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one controlled variable in one study, so effects are not additive across rows. The W/B result is the interesting one: too low and the bond is so strong that fibers rupture; too high and they slip. Rubber works by acting as weak spots that lower matrix toughness, but costs compressive strength.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figure of the review. My first version of the wiki concluded there was a fundamental trade-off. When the HSHDCC review was ingested, the wiki logged a conflict and revised the conclusion. Specimens and test setups differ between studies, so read the chart as qualitative. Xi’an PE mixes are not plotted because their composite f'c was not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Gauge lengths range from 80 to 185 mm and loading rates over orders of magnitude, so strain capacity values from different groups are not strictly comparable. The JSCE dogbone is the most common choice in the HSHDCC literature. The specimen-shape findings are from Kesner 2003, Mechtcherine 2011 and Rokugo 2007, as cited by Yu et al. 2018.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designers this is good news: lab-scale flexural strength may transfer to members. But the largest beam was only 150 mm deep; the authors themselves call for metre-scale tests. Note the table inconsistency in this paper on the mortar beam sizes, flagged earlier. The UHDC matrix here is weak (about 37 MPa) and fly-ash rich.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Michigan papers. The interface barely changes with rate because PE has no chemical bond; the fiber itself drives the rate effect. The impact message: first-impact peak force is similar for both materials, but damage tolerance under repeated impact comes from tensile ductility, not compressive strength. Rates above 10 per second, typical of blast, are untested.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 bars are PVA-based, orange bars PE-based. Thresholds come from reviews and measure different things: chloride ingress, self-healing speed, the ECC design target. The PE fiber’s lack of chemical bond is what makes cracks wider. Silica fume, rubber, longer fibers or hybrid steel all narrow them, so this is a design target, not a dead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et al. say almost all durability data are at 28 days, and that high-strength and ultra-high-ductility ECC lack durability data. Fire is the clearest weakness: PE melts around 124–150 °C, and PE-ECC loses strain hardening between 100 and 140 °C. PVA-ECC keeps some hardening to about 150–200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that five of these six come from one review paper, so they are second-hand. The primary source to read next would be Deng et al. 2019, Engineering Structures 197, on the masonry shake-table test. This is a limit of my corpus and is listed on the gaps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Colour groups: orange for material durability, blue for theory and standards, green for structural and long-term behaviour. All six are on the wiki’s gaps page with the sources behind them. A seventh, about my own corpus: no primary Chinese PVA-HDC study is included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Part B with the four messages. The first three are about the material; the last ties back to Part A: the method is what let a small corpus produce a review with explicit, checkable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How do you know the LLM did not invent numbers? (evidence rules, page images, to-verify lists, my checks). Why only 11 papers? (scope and time; the gaps page states the limits). Can the system scale? (yes, ingest new is batch; the professor’s wiki has about 860 papers). What would you add next? (primary Chinese PVA-HDC and durability studies of HSHDC).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90600"/>
            <a:ext cx="10566400" cy="391120"/>
          </a:xfrm>
          <a:prstGeom prst="rect">
            <a:avLst/>
          </a:prstGeom>
          <a:noFill/>
          <a:ln/>
        </p:spPr>
        <p:txBody>
          <a:bodyPr wrap="square" lIns="0" tIns="0" rIns="0" bIns="0" rtlCol="0" anchor="t"/>
          <a:lstStyle>
            <a:lvl1pPr algn="l" indent="0" marL="0">
              <a:lnSpc>
                <a:spcPct val="115000"/>
              </a:lnSpc>
              <a:buNone/>
              <a:defRPr lang="en-US" sz="2800" dirty="0">
                <a:solidFill>
                  <a:srgbClr val="0070C0"/>
                </a:solidFill>
                <a:latin typeface="Arial" pitchFamily="34" charset="0"/>
                <a:ea typeface="Arial" pitchFamily="34" charset="-122"/>
                <a:cs typeface="Arial"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686520"/>
            <a:ext cx="10566400" cy="4358680"/>
          </a:xfrm>
          <a:prstGeom prst="rect">
            <a:avLst/>
          </a:prstGeom>
          <a:noFill/>
          <a:ln/>
        </p:spPr>
        <p:txBody>
          <a:bodyPr wrap="square" lIns="0" tIns="0" rIns="0" bIns="0" rtlCol="0" anchor="t"/>
          <a:lstStyle>
            <a:lvl1pPr algn="l" indent="0" marL="0">
              <a:lnSpc>
                <a:spcPct val="140000"/>
              </a:lnSpc>
              <a:buNone/>
              <a:defRPr lang="en-US" sz="1600" dirty="0">
                <a:solidFill>
                  <a:srgbClr val="0070C0"/>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90600"/>
            <a:ext cx="10566400" cy="391120"/>
          </a:xfrm>
          <a:prstGeom prst="rect">
            <a:avLst/>
          </a:prstGeom>
          <a:noFill/>
          <a:ln/>
        </p:spPr>
        <p:txBody>
          <a:bodyPr wrap="square" lIns="0" tIns="0" rIns="0" bIns="0" rtlCol="0" anchor="t"/>
          <a:lstStyle>
            <a:lvl1pPr algn="l" indent="0" marL="0">
              <a:lnSpc>
                <a:spcPct val="115000"/>
              </a:lnSpc>
              <a:buNone/>
              <a:defRPr lang="en-US" sz="2800" dirty="0">
                <a:solidFill>
                  <a:srgbClr val="0070C0"/>
                </a:solidFill>
                <a:latin typeface="Arial" pitchFamily="34" charset="0"/>
                <a:ea typeface="Arial" pitchFamily="34" charset="-122"/>
                <a:cs typeface="Arial"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686520"/>
            <a:ext cx="10566400" cy="4358680"/>
          </a:xfrm>
          <a:prstGeom prst="rect">
            <a:avLst/>
          </a:prstGeom>
          <a:noFill/>
          <a:ln/>
        </p:spPr>
        <p:txBody>
          <a:bodyPr wrap="square" lIns="0" tIns="0" rIns="0" bIns="0" rtlCol="0" anchor="t"/>
          <a:lstStyle>
            <a:lvl1pPr algn="l" indent="0" marL="0">
              <a:lnSpc>
                <a:spcPct val="140000"/>
              </a:lnSpc>
              <a:buNone/>
              <a:defRPr lang="en-US" sz="1600" dirty="0">
                <a:solidFill>
                  <a:srgbClr val="0070C0"/>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honnam National University logo">    </p:cNvPr>
          <p:cNvPicPr>
            <a:picLocks noChangeAspect="1"/>
          </p:cNvPicPr>
          <p:nvPr/>
        </p:nvPicPr>
        <p:blipFill>
          <a:blip r:embed="rId1"/>
          <a:srcRect l="0" r="0" t="-14" b="-14"/>
          <a:stretch/>
        </p:blipFill>
        <p:spPr>
          <a:xfrm>
            <a:off x="355600" y="304800"/>
            <a:ext cx="3429000" cy="1060450"/>
          </a:xfrm>
          <a:prstGeom prst="rect">
            <a:avLst/>
          </a:prstGeom>
        </p:spPr>
      </p:pic>
      <p:sp>
        <p:nvSpPr>
          <p:cNvPr id="3" name="Text 0"/>
          <p:cNvSpPr/>
          <p:nvPr/>
        </p:nvSpPr>
        <p:spPr>
          <a:xfrm>
            <a:off x="3989705" y="330200"/>
            <a:ext cx="5101590" cy="878681"/>
          </a:xfrm>
          <a:prstGeom prst="rect">
            <a:avLst/>
          </a:prstGeom>
          <a:noFill/>
          <a:ln/>
        </p:spPr>
        <p:txBody>
          <a:bodyPr wrap="square" lIns="0" tIns="0" rIns="0" bIns="0" rtlCol="0" anchor="t">
            <a:normAutofit/>
          </a:bodyPr>
          <a:lstStyle/>
          <a:p>
            <a:pPr algn="ctr" indent="0" marL="0">
              <a:lnSpc>
                <a:spcPts val="3360"/>
              </a:lnSpc>
              <a:buNone/>
            </a:pPr>
            <a:r>
              <a:rPr lang="en-US" sz="2800" dirty="0">
                <a:solidFill>
                  <a:srgbClr val="0070C0"/>
                </a:solidFill>
                <a:latin typeface="Arial" pitchFamily="34" charset="0"/>
                <a:ea typeface="Arial" pitchFamily="34" charset="-122"/>
                <a:cs typeface="Arial" pitchFamily="34" charset="-120"/>
              </a:rPr>
              <a:t>BUILDING AN LLM WIKI FOR HIGH DUCTILE CONCRETE</a:t>
            </a:r>
            <a:endParaRPr lang="en-US" sz="2800" dirty="0"/>
          </a:p>
        </p:txBody>
      </p:sp>
      <p:sp>
        <p:nvSpPr>
          <p:cNvPr id="4" name="Text 1"/>
          <p:cNvSpPr/>
          <p:nvPr/>
        </p:nvSpPr>
        <p:spPr>
          <a:xfrm>
            <a:off x="9060180" y="381000"/>
            <a:ext cx="2877820" cy="594320"/>
          </a:xfrm>
          <a:prstGeom prst="rect">
            <a:avLst/>
          </a:prstGeom>
          <a:noFill/>
          <a:ln/>
        </p:spPr>
        <p:txBody>
          <a:bodyPr wrap="square" lIns="0" tIns="0" rIns="0" bIns="0" rtlCol="0" anchor="t">
            <a:normAutofit/>
          </a:bodyPr>
          <a:lstStyle/>
          <a:p>
            <a:pPr algn="r" indent="0" marL="0">
              <a:lnSpc>
                <a:spcPts val="2240"/>
              </a:lnSpc>
              <a:buNone/>
            </a:pPr>
            <a:r>
              <a:rPr lang="en-US" sz="1600" b="1" i="1" dirty="0">
                <a:solidFill>
                  <a:srgbClr val="0070C0"/>
                </a:solidFill>
                <a:latin typeface="Arial" pitchFamily="34" charset="0"/>
                <a:ea typeface="Arial" pitchFamily="34" charset="-122"/>
                <a:cs typeface="Arial" pitchFamily="34" charset="-120"/>
              </a:rPr>
              <a:t>Advisor: Prof. [Advisor name]</a:t>
            </a:r>
            <a:endParaRPr lang="en-US" sz="1600" dirty="0"/>
          </a:p>
        </p:txBody>
      </p:sp>
      <p:sp>
        <p:nvSpPr>
          <p:cNvPr id="5" name="Text 2"/>
          <p:cNvSpPr/>
          <p:nvPr/>
        </p:nvSpPr>
        <p:spPr>
          <a:xfrm>
            <a:off x="9060180" y="711200"/>
            <a:ext cx="2877820" cy="3098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0070C0"/>
                </a:solidFill>
                <a:latin typeface="Arial" pitchFamily="34" charset="0"/>
                <a:ea typeface="Arial" pitchFamily="34" charset="-122"/>
                <a:cs typeface="Arial" pitchFamily="34" charset="-120"/>
              </a:rPr>
              <a:t>Master’s Student: [Your name]</a:t>
            </a:r>
            <a:endParaRPr lang="en-US" sz="1600" dirty="0"/>
          </a:p>
        </p:txBody>
      </p:sp>
      <p:pic>
        <p:nvPicPr>
          <p:cNvPr id="6" name="Image 1" descr="Knowledge graph of the HDC wiki: 67 linked notes, papers labelled">    </p:cNvPr>
          <p:cNvPicPr>
            <a:picLocks noChangeAspect="1"/>
          </p:cNvPicPr>
          <p:nvPr/>
        </p:nvPicPr>
        <p:blipFill>
          <a:blip r:embed="rId2"/>
          <a:srcRect l="-464" r="-464" t="0" b="0"/>
          <a:stretch/>
        </p:blipFill>
        <p:spPr>
          <a:xfrm>
            <a:off x="889000" y="1905000"/>
            <a:ext cx="4572000" cy="4127500"/>
          </a:xfrm>
          <a:prstGeom prst="rect">
            <a:avLst/>
          </a:prstGeom>
        </p:spPr>
      </p:pic>
      <p:sp>
        <p:nvSpPr>
          <p:cNvPr id="7" name="Text 3"/>
          <p:cNvSpPr/>
          <p:nvPr/>
        </p:nvSpPr>
        <p:spPr>
          <a:xfrm>
            <a:off x="6223000" y="2095500"/>
            <a:ext cx="523240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F4E79"/>
                </a:solidFill>
                <a:latin typeface="Arial" pitchFamily="34" charset="0"/>
                <a:ea typeface="Arial" pitchFamily="34" charset="-122"/>
                <a:cs typeface="Arial" pitchFamily="34" charset="-120"/>
              </a:rPr>
              <a:t>Project 1 · LLM wiki system for a smart concrete</a:t>
            </a:r>
            <a:endParaRPr lang="en-US" sz="2000" dirty="0"/>
          </a:p>
        </p:txBody>
      </p:sp>
      <p:sp>
        <p:nvSpPr>
          <p:cNvPr id="8" name="Text 4"/>
          <p:cNvSpPr/>
          <p:nvPr/>
        </p:nvSpPr>
        <p:spPr>
          <a:xfrm>
            <a:off x="6223000" y="2794000"/>
            <a:ext cx="523240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F4E79"/>
                </a:solidFill>
                <a:latin typeface="Arial" pitchFamily="34" charset="0"/>
                <a:ea typeface="Arial" pitchFamily="34" charset="-122"/>
                <a:cs typeface="Arial" pitchFamily="34" charset="-120"/>
              </a:rPr>
              <a:t>Project 2 · Literature review of high ductile concrete with the wiki</a:t>
            </a:r>
            <a:endParaRPr lang="en-US" sz="2000" dirty="0"/>
          </a:p>
        </p:txBody>
      </p:sp>
      <p:sp>
        <p:nvSpPr>
          <p:cNvPr id="9" name="Text 5"/>
          <p:cNvSpPr/>
          <p:nvPr/>
        </p:nvSpPr>
        <p:spPr>
          <a:xfrm>
            <a:off x="6223000" y="3937000"/>
            <a:ext cx="52324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64C"/>
                </a:solidFill>
                <a:latin typeface="Arial" pitchFamily="34" charset="0"/>
                <a:ea typeface="Arial" pitchFamily="34" charset="-122"/>
                <a:cs typeface="Arial" pitchFamily="34" charset="-120"/>
              </a:rPr>
              <a:t>11 papers · 67 linked notes · 885 links</a:t>
            </a:r>
            <a:endParaRPr lang="en-US" sz="1600" dirty="0"/>
          </a:p>
        </p:txBody>
      </p:sp>
      <p:sp>
        <p:nvSpPr>
          <p:cNvPr id="10" name="Text 6"/>
          <p:cNvSpPr/>
          <p:nvPr/>
        </p:nvSpPr>
        <p:spPr>
          <a:xfrm>
            <a:off x="6223000" y="4381500"/>
            <a:ext cx="52324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64C"/>
                </a:solidFill>
                <a:latin typeface="Arial" pitchFamily="34" charset="0"/>
                <a:ea typeface="Arial" pitchFamily="34" charset="-122"/>
                <a:cs typeface="Arial" pitchFamily="34" charset="-120"/>
              </a:rPr>
              <a:t>conslmhoang.github.io/HDC-wiki</a:t>
            </a:r>
            <a:endParaRPr lang="en-US" sz="1600" dirty="0"/>
          </a:p>
        </p:txBody>
      </p:sp>
      <p:sp>
        <p:nvSpPr>
          <p:cNvPr id="11" name="Text 7"/>
          <p:cNvSpPr/>
          <p:nvPr/>
        </p:nvSpPr>
        <p:spPr>
          <a:xfrm>
            <a:off x="6223000" y="54610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of Architecture and Civil Engineering · [Date]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Overview</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Two projects, one system</a:t>
            </a:r>
            <a:endParaRPr lang="en-US" sz="2800" dirty="0"/>
          </a:p>
        </p:txBody>
      </p:sp>
      <p:sp>
        <p:nvSpPr>
          <p:cNvPr id="7" name="Shape 5"/>
          <p:cNvSpPr/>
          <p:nvPr/>
        </p:nvSpPr>
        <p:spPr>
          <a:xfrm>
            <a:off x="815975" y="1740495"/>
            <a:ext cx="3938290" cy="3996730"/>
          </a:xfrm>
          <a:prstGeom prst="roundRect">
            <a:avLst>
              <a:gd name="adj" fmla="val 1854"/>
            </a:avLst>
          </a:prstGeom>
          <a:solidFill>
            <a:srgbClr val="F4F8FC"/>
          </a:solidFill>
          <a:ln w="6350">
            <a:solidFill>
              <a:srgbClr val="C9D7E8"/>
            </a:solidFill>
            <a:prstDash val="solid"/>
          </a:ln>
        </p:spPr>
      </p:sp>
      <p:sp>
        <p:nvSpPr>
          <p:cNvPr id="8" name="Text 6"/>
          <p:cNvSpPr/>
          <p:nvPr/>
        </p:nvSpPr>
        <p:spPr>
          <a:xfrm>
            <a:off x="1123950" y="2048470"/>
            <a:ext cx="34220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070C0"/>
                </a:solidFill>
                <a:latin typeface="Arial" pitchFamily="34" charset="0"/>
                <a:ea typeface="Arial" pitchFamily="34" charset="-122"/>
                <a:cs typeface="Arial" pitchFamily="34" charset="-120"/>
              </a:rPr>
              <a:t>Part A · 20 min</a:t>
            </a:r>
            <a:endParaRPr lang="en-US" sz="1600" dirty="0"/>
          </a:p>
        </p:txBody>
      </p:sp>
      <p:sp>
        <p:nvSpPr>
          <p:cNvPr id="9" name="Text 7"/>
          <p:cNvSpPr/>
          <p:nvPr/>
        </p:nvSpPr>
        <p:spPr>
          <a:xfrm>
            <a:off x="1123950" y="2459930"/>
            <a:ext cx="342201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2272B"/>
                </a:solidFill>
                <a:latin typeface="Arial" pitchFamily="34" charset="0"/>
                <a:ea typeface="Arial" pitchFamily="34" charset="-122"/>
                <a:cs typeface="Arial" pitchFamily="34" charset="-120"/>
              </a:rPr>
              <a:t>Setting up the LLM wiki</a:t>
            </a:r>
            <a:endParaRPr lang="en-US" sz="2000" dirty="0"/>
          </a:p>
        </p:txBody>
      </p:sp>
      <p:sp>
        <p:nvSpPr>
          <p:cNvPr id="10" name="Text 8"/>
          <p:cNvSpPr/>
          <p:nvPr/>
        </p:nvSpPr>
        <p:spPr>
          <a:xfrm>
            <a:off x="1123950" y="2891730"/>
            <a:ext cx="3422010" cy="90914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E464C"/>
                </a:solidFill>
                <a:latin typeface="Arial" pitchFamily="34" charset="0"/>
                <a:ea typeface="Arial" pitchFamily="34" charset="-122"/>
                <a:cs typeface="Arial" pitchFamily="34" charset="-120"/>
              </a:rPr>
              <a:t>The idea, the three layers, the rules, the ingest workflow, quality control, publishing, two live demos.</a:t>
            </a:r>
            <a:endParaRPr lang="en-US" sz="1600" dirty="0"/>
          </a:p>
        </p:txBody>
      </p:sp>
      <p:sp>
        <p:nvSpPr>
          <p:cNvPr id="11" name="Shape 9"/>
          <p:cNvSpPr/>
          <p:nvPr/>
        </p:nvSpPr>
        <p:spPr>
          <a:xfrm>
            <a:off x="4963815" y="1740495"/>
            <a:ext cx="3938290" cy="3996730"/>
          </a:xfrm>
          <a:prstGeom prst="roundRect">
            <a:avLst>
              <a:gd name="adj" fmla="val 1854"/>
            </a:avLst>
          </a:prstGeom>
          <a:solidFill>
            <a:srgbClr val="F4F8FC"/>
          </a:solidFill>
          <a:ln w="6350">
            <a:solidFill>
              <a:srgbClr val="C9D7E8"/>
            </a:solidFill>
            <a:prstDash val="solid"/>
          </a:ln>
        </p:spPr>
      </p:sp>
      <p:sp>
        <p:nvSpPr>
          <p:cNvPr id="12" name="Text 10"/>
          <p:cNvSpPr/>
          <p:nvPr/>
        </p:nvSpPr>
        <p:spPr>
          <a:xfrm>
            <a:off x="5271790" y="2048470"/>
            <a:ext cx="34220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8720C"/>
                </a:solidFill>
                <a:latin typeface="Arial" pitchFamily="34" charset="0"/>
                <a:ea typeface="Arial" pitchFamily="34" charset="-122"/>
                <a:cs typeface="Arial" pitchFamily="34" charset="-120"/>
              </a:rPr>
              <a:t>Part B · 35 min</a:t>
            </a:r>
            <a:endParaRPr lang="en-US" sz="1600" dirty="0"/>
          </a:p>
        </p:txBody>
      </p:sp>
      <p:sp>
        <p:nvSpPr>
          <p:cNvPr id="13" name="Text 11"/>
          <p:cNvSpPr/>
          <p:nvPr/>
        </p:nvSpPr>
        <p:spPr>
          <a:xfrm>
            <a:off x="5271790" y="2459930"/>
            <a:ext cx="3422010"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2272B"/>
                </a:solidFill>
                <a:latin typeface="Arial" pitchFamily="34" charset="0"/>
                <a:ea typeface="Arial" pitchFamily="34" charset="-122"/>
                <a:cs typeface="Arial" pitchFamily="34" charset="-120"/>
              </a:rPr>
              <a:t>Literature review: high ductile concrete</a:t>
            </a:r>
            <a:endParaRPr lang="en-US" sz="2000" dirty="0"/>
          </a:p>
        </p:txBody>
      </p:sp>
      <p:sp>
        <p:nvSpPr>
          <p:cNvPr id="14" name="Text 12"/>
          <p:cNvSpPr/>
          <p:nvPr/>
        </p:nvSpPr>
        <p:spPr>
          <a:xfrm>
            <a:off x="5271790" y="3196530"/>
            <a:ext cx="3422010" cy="1203722"/>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E464C"/>
                </a:solidFill>
                <a:latin typeface="Arial" pitchFamily="34" charset="0"/>
                <a:ea typeface="Arial" pitchFamily="34" charset="-122"/>
                <a:cs typeface="Arial" pitchFamily="34" charset="-120"/>
              </a:rPr>
              <a:t>Terminology, design theory, materials, mechanical and dynamic behaviour, durability, applications, gaps.</a:t>
            </a:r>
            <a:endParaRPr lang="en-US" sz="1600" dirty="0"/>
          </a:p>
        </p:txBody>
      </p:sp>
      <p:sp>
        <p:nvSpPr>
          <p:cNvPr id="15" name="Shape 13"/>
          <p:cNvSpPr/>
          <p:nvPr/>
        </p:nvSpPr>
        <p:spPr>
          <a:xfrm>
            <a:off x="9108480" y="1737320"/>
            <a:ext cx="2270720" cy="4003080"/>
          </a:xfrm>
          <a:prstGeom prst="roundRect">
            <a:avLst>
              <a:gd name="adj" fmla="val 3356"/>
            </a:avLst>
          </a:prstGeom>
          <a:solidFill>
            <a:srgbClr val="EEF3F9"/>
          </a:solidFill>
          <a:ln/>
        </p:spPr>
      </p:sp>
      <p:sp>
        <p:nvSpPr>
          <p:cNvPr id="16" name="Text 14"/>
          <p:cNvSpPr/>
          <p:nvPr/>
        </p:nvSpPr>
        <p:spPr>
          <a:xfrm>
            <a:off x="9413280" y="2042120"/>
            <a:ext cx="171192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E464C"/>
                </a:solidFill>
                <a:latin typeface="Arial" pitchFamily="34" charset="0"/>
                <a:ea typeface="Arial" pitchFamily="34" charset="-122"/>
                <a:cs typeface="Arial" pitchFamily="34" charset="-120"/>
              </a:rPr>
              <a:t>5 min</a:t>
            </a:r>
            <a:endParaRPr lang="en-US" sz="1600" dirty="0"/>
          </a:p>
        </p:txBody>
      </p:sp>
      <p:sp>
        <p:nvSpPr>
          <p:cNvPr id="17" name="Text 15"/>
          <p:cNvSpPr/>
          <p:nvPr/>
        </p:nvSpPr>
        <p:spPr>
          <a:xfrm>
            <a:off x="9413280" y="2453580"/>
            <a:ext cx="171192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2272B"/>
                </a:solidFill>
                <a:latin typeface="Arial" pitchFamily="34" charset="0"/>
                <a:ea typeface="Arial" pitchFamily="34" charset="-122"/>
                <a:cs typeface="Arial" pitchFamily="34" charset="-120"/>
              </a:rPr>
              <a:t>Questions</a:t>
            </a:r>
            <a:endParaRPr lang="en-US" sz="2000" dirty="0"/>
          </a:p>
        </p:txBody>
      </p:sp>
      <p:sp>
        <p:nvSpPr>
          <p:cNvPr id="18" name="Text 16"/>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8"/>
                </a:solidFill>
                <a:latin typeface="Arial" pitchFamily="34" charset="0"/>
                <a:ea typeface="Arial" pitchFamily="34" charset="-122"/>
                <a:cs typeface="Arial" pitchFamily="34" charset="-120"/>
              </a:rPr>
              <a:t>Agenda</a:t>
            </a:r>
            <a:endParaRPr lang="en-US" sz="1200" dirty="0"/>
          </a:p>
        </p:txBody>
      </p:sp>
      <p:sp>
        <p:nvSpPr>
          <p:cNvPr id="19" name="Shape 17"/>
          <p:cNvSpPr/>
          <p:nvPr/>
        </p:nvSpPr>
        <p:spPr>
          <a:xfrm>
            <a:off x="0" y="6350000"/>
            <a:ext cx="12192000" cy="12700"/>
          </a:xfrm>
          <a:prstGeom prst="rect">
            <a:avLst/>
          </a:prstGeom>
          <a:solidFill>
            <a:srgbClr val="A6A6A6"/>
          </a:solidFill>
          <a:ln/>
        </p:spPr>
      </p:sp>
      <p:sp>
        <p:nvSpPr>
          <p:cNvPr id="20" name="Text 18"/>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21" name="Text 19"/>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2</a:t>
            </a:r>
            <a:endParaRPr lang="en-US" sz="1500" dirty="0"/>
          </a:p>
        </p:txBody>
      </p:sp>
      <p:pic>
        <p:nvPicPr>
          <p:cNvPr id="22" name="Image 0" descr="preencoded.png">    </p:cNvPr>
          <p:cNvPicPr>
            <a:picLocks noChangeAspect="1"/>
          </p:cNvPicPr>
          <p:nvPr/>
        </p:nvPicPr>
        <p:blipFill>
          <a:blip r:embed="rId1">
            <a:alphaModFix amt="60000"/>
          </a:blip>
          <a:srcRect l="0" r="0" t="0" b="0"/>
          <a:stretch/>
        </p:blipFill>
        <p:spPr>
          <a:xfrm>
            <a:off x="11468100" y="6400800"/>
            <a:ext cx="431800" cy="431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A: LLM wiki setup</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nvSpPr>
        <p:spPr>
          <a:xfrm>
            <a:off x="812800" y="23571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070C0"/>
                </a:solidFill>
                <a:latin typeface="Arial" pitchFamily="34" charset="0"/>
                <a:ea typeface="Arial" pitchFamily="34" charset="-122"/>
                <a:cs typeface="Arial" pitchFamily="34" charset="-120"/>
              </a:rPr>
              <a:t>Part A</a:t>
            </a:r>
            <a:endParaRPr lang="en-US" sz="1600" dirty="0"/>
          </a:p>
        </p:txBody>
      </p:sp>
      <p:sp>
        <p:nvSpPr>
          <p:cNvPr id="7" name="Text 5"/>
          <p:cNvSpPr/>
          <p:nvPr>
            <p:ph type="title"/>
          </p:nvPr>
        </p:nvSpPr>
        <p:spPr>
          <a:xfrm>
            <a:off x="812800" y="2844800"/>
            <a:ext cx="9156700" cy="665460"/>
          </a:xfrm>
          <a:prstGeom prst="rect">
            <a:avLst/>
          </a:prstGeom>
          <a:noFill/>
          <a:ln/>
        </p:spPr>
        <p:txBody>
          <a:bodyPr wrap="square" lIns="0" tIns="0" rIns="0" bIns="0" rtlCol="0" anchor="t">
            <a:normAutofit/>
          </a:bodyPr>
          <a:lstStyle/>
          <a:p>
            <a:pPr algn="l" indent="0" marL="0">
              <a:lnSpc>
                <a:spcPts val="5040"/>
              </a:lnSpc>
              <a:buNone/>
            </a:pPr>
            <a:r>
              <a:rPr lang="en-US" sz="4800" b="0" i="0" dirty="0">
                <a:solidFill>
                  <a:srgbClr val="0070C0"/>
                </a:solidFill>
                <a:latin typeface="Arial" pitchFamily="34" charset="0"/>
                <a:ea typeface="Arial" pitchFamily="34" charset="-122"/>
                <a:cs typeface="Arial" pitchFamily="34" charset="-120"/>
              </a:rPr>
              <a:t>Setting up the LLM wiki</a:t>
            </a:r>
            <a:endParaRPr lang="en-US" sz="4800" dirty="0"/>
          </a:p>
        </p:txBody>
      </p:sp>
      <p:sp>
        <p:nvSpPr>
          <p:cNvPr id="8" name="Text 6"/>
          <p:cNvSpPr/>
          <p:nvPr/>
        </p:nvSpPr>
        <p:spPr>
          <a:xfrm>
            <a:off x="812800" y="3688060"/>
            <a:ext cx="850265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3E464C"/>
                </a:solidFill>
                <a:latin typeface="Arial" pitchFamily="34" charset="0"/>
                <a:ea typeface="Arial" pitchFamily="34" charset="-122"/>
                <a:cs typeface="Arial" pitchFamily="34" charset="-120"/>
              </a:rPr>
              <a:t>Instead of asking an LLM to search papers every time, let it write and maintain a knowledge base once.</a:t>
            </a:r>
            <a:endParaRPr lang="en-US" sz="2000" dirty="0"/>
          </a:p>
        </p:txBody>
      </p:sp>
      <p:sp>
        <p:nvSpPr>
          <p:cNvPr id="9" name="Shape 7"/>
          <p:cNvSpPr/>
          <p:nvPr/>
        </p:nvSpPr>
        <p:spPr>
          <a:xfrm>
            <a:off x="0" y="6350000"/>
            <a:ext cx="12192000" cy="12700"/>
          </a:xfrm>
          <a:prstGeom prst="rect">
            <a:avLst/>
          </a:prstGeom>
          <a:solidFill>
            <a:srgbClr val="A6A6A6"/>
          </a:solidFill>
          <a:ln/>
        </p:spPr>
      </p:sp>
      <p:sp>
        <p:nvSpPr>
          <p:cNvPr id="10" name="Text 8"/>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11" name="Text 9"/>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3</a:t>
            </a:r>
            <a:endParaRPr lang="en-US" sz="1500" dirty="0"/>
          </a:p>
        </p:txBody>
      </p:sp>
      <p:pic>
        <p:nvPicPr>
          <p:cNvPr id="12" name="Image 0" descr="preencoded.png">    </p:cNvPr>
          <p:cNvPicPr>
            <a:picLocks noChangeAspect="1"/>
          </p:cNvPicPr>
          <p:nvPr/>
        </p:nvPicPr>
        <p:blipFill>
          <a:blip r:embed="rId1">
            <a:alphaModFix amt="60000"/>
          </a:blip>
          <a:srcRect l="0" r="0" t="0" b="0"/>
          <a:stretch/>
        </p:blipFill>
        <p:spPr>
          <a:xfrm>
            <a:off x="11468100" y="6400800"/>
            <a:ext cx="431800" cy="431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A: LLM wiki setup</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1.1. A literature review is a synthesis problem</a:t>
            </a:r>
            <a:endParaRPr lang="en-US" sz="2800" dirty="0"/>
          </a:p>
        </p:txBody>
      </p:sp>
      <p:sp>
        <p:nvSpPr>
          <p:cNvPr id="7" name="Shape 5"/>
          <p:cNvSpPr/>
          <p:nvPr/>
        </p:nvSpPr>
        <p:spPr>
          <a:xfrm>
            <a:off x="812800" y="1737320"/>
            <a:ext cx="5168900" cy="2245122"/>
          </a:xfrm>
          <a:prstGeom prst="roundRect">
            <a:avLst>
              <a:gd name="adj" fmla="val 3394"/>
            </a:avLst>
          </a:prstGeom>
          <a:solidFill>
            <a:srgbClr val="EEF3F9"/>
          </a:solidFill>
          <a:ln/>
        </p:spPr>
      </p:sp>
      <p:sp>
        <p:nvSpPr>
          <p:cNvPr id="8" name="Text 6"/>
          <p:cNvSpPr/>
          <p:nvPr/>
        </p:nvSpPr>
        <p:spPr>
          <a:xfrm>
            <a:off x="1117600" y="2042120"/>
            <a:ext cx="469607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2272B"/>
                </a:solidFill>
                <a:latin typeface="Arial" pitchFamily="34" charset="0"/>
                <a:ea typeface="Arial" pitchFamily="34" charset="-122"/>
                <a:cs typeface="Arial" pitchFamily="34" charset="-120"/>
              </a:rPr>
              <a:t>Search-and-answer (RAG)</a:t>
            </a:r>
            <a:endParaRPr lang="en-US" sz="2000" dirty="0"/>
          </a:p>
        </p:txBody>
      </p:sp>
      <p:sp>
        <p:nvSpPr>
          <p:cNvPr id="9" name="Text 7"/>
          <p:cNvSpPr/>
          <p:nvPr/>
        </p:nvSpPr>
        <p:spPr>
          <a:xfrm>
            <a:off x="1194308" y="2473920"/>
            <a:ext cx="4611751" cy="1203722"/>
          </a:xfrm>
          <a:prstGeom prst="rect">
            <a:avLst/>
          </a:prstGeom>
          <a:noFill/>
          <a:ln/>
        </p:spPr>
        <p:txBody>
          <a:bodyPr wrap="square" lIns="0" tIns="0" rIns="0" bIns="0" rtlCol="0" anchor="t">
            <a:normAutofit/>
          </a:bodyPr>
          <a:lstStyle/>
          <a:p>
            <a:pPr algn="l" marL="177292" indent="-177292">
              <a:lnSpc>
                <a:spcPts val="2320"/>
              </a:lnSpc>
              <a:buSzPct val="100000"/>
              <a:buChar char="•"/>
            </a:pPr>
            <a:r>
              <a:rPr lang="en-US" sz="1600" dirty="0">
                <a:solidFill>
                  <a:srgbClr val="3E464C"/>
                </a:solidFill>
                <a:latin typeface="Arial" pitchFamily="34" charset="0"/>
                <a:ea typeface="Arial" pitchFamily="34" charset="-122"/>
                <a:cs typeface="Arial" pitchFamily="34" charset="-120"/>
              </a:rPr>
              <a:t>Retrieves a few text chunks per question</a:t>
            </a:r>
            <a:endParaRPr lang="en-US" sz="1600" dirty="0"/>
          </a:p>
          <a:p>
            <a:pPr algn="l" marL="177292" indent="-177292">
              <a:lnSpc>
                <a:spcPts val="2320"/>
              </a:lnSpc>
              <a:buSzPct val="100000"/>
              <a:buChar char="•"/>
            </a:pPr>
            <a:r>
              <a:rPr lang="en-US" sz="1600" dirty="0">
                <a:solidFill>
                  <a:srgbClr val="3E464C"/>
                </a:solidFill>
                <a:latin typeface="Arial" pitchFamily="34" charset="0"/>
                <a:ea typeface="Arial" pitchFamily="34" charset="-122"/>
                <a:cs typeface="Arial" pitchFamily="34" charset="-120"/>
              </a:rPr>
              <a:t>Re-derives the answer from scratch every time</a:t>
            </a:r>
            <a:endParaRPr lang="en-US" sz="1600" dirty="0"/>
          </a:p>
          <a:p>
            <a:pPr algn="l" marL="177292" indent="-177292">
              <a:lnSpc>
                <a:spcPts val="2320"/>
              </a:lnSpc>
              <a:buSzPct val="100000"/>
              <a:buChar char="•"/>
            </a:pPr>
            <a:r>
              <a:rPr lang="en-US" sz="1600" dirty="0">
                <a:solidFill>
                  <a:srgbClr val="3E464C"/>
                </a:solidFill>
                <a:latin typeface="Arial" pitchFamily="34" charset="0"/>
                <a:ea typeface="Arial" pitchFamily="34" charset="-122"/>
                <a:cs typeface="Arial" pitchFamily="34" charset="-120"/>
              </a:rPr>
              <a:t>Nothing accumulates between questions</a:t>
            </a:r>
            <a:endParaRPr lang="en-US" sz="1600" dirty="0"/>
          </a:p>
          <a:p>
            <a:pPr algn="l" marL="177292" indent="-177292">
              <a:lnSpc>
                <a:spcPts val="2320"/>
              </a:lnSpc>
              <a:buSzPct val="100000"/>
              <a:buChar char="•"/>
            </a:pPr>
            <a:r>
              <a:rPr lang="en-US" sz="1600" dirty="0">
                <a:solidFill>
                  <a:srgbClr val="3E464C"/>
                </a:solidFill>
                <a:latin typeface="Arial" pitchFamily="34" charset="0"/>
                <a:ea typeface="Arial" pitchFamily="34" charset="-122"/>
                <a:cs typeface="Arial" pitchFamily="34" charset="-120"/>
              </a:rPr>
              <a:t>Weak at “compare 11 papers on one property”</a:t>
            </a:r>
            <a:endParaRPr lang="en-US" sz="1600" dirty="0"/>
          </a:p>
        </p:txBody>
      </p:sp>
      <p:sp>
        <p:nvSpPr>
          <p:cNvPr id="10" name="Shape 8"/>
          <p:cNvSpPr/>
          <p:nvPr/>
        </p:nvSpPr>
        <p:spPr>
          <a:xfrm>
            <a:off x="6191250" y="1743670"/>
            <a:ext cx="5181600" cy="2232422"/>
          </a:xfrm>
          <a:prstGeom prst="roundRect">
            <a:avLst>
              <a:gd name="adj" fmla="val 3129"/>
            </a:avLst>
          </a:prstGeom>
          <a:solidFill>
            <a:srgbClr val="F4F8FC"/>
          </a:solidFill>
          <a:ln w="12700">
            <a:solidFill>
              <a:srgbClr val="0070C0"/>
            </a:solidFill>
            <a:prstDash val="solid"/>
          </a:ln>
        </p:spPr>
      </p:sp>
      <p:sp>
        <p:nvSpPr>
          <p:cNvPr id="11" name="Text 9"/>
          <p:cNvSpPr/>
          <p:nvPr/>
        </p:nvSpPr>
        <p:spPr>
          <a:xfrm>
            <a:off x="6502400" y="2054820"/>
            <a:ext cx="469607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4E79"/>
                </a:solidFill>
                <a:latin typeface="Arial" pitchFamily="34" charset="0"/>
                <a:ea typeface="Arial" pitchFamily="34" charset="-122"/>
                <a:cs typeface="Arial" pitchFamily="34" charset="-120"/>
              </a:rPr>
              <a:t>Compiled wiki</a:t>
            </a:r>
            <a:endParaRPr lang="en-US" sz="2000" dirty="0"/>
          </a:p>
        </p:txBody>
      </p:sp>
      <p:sp>
        <p:nvSpPr>
          <p:cNvPr id="12" name="Text 10"/>
          <p:cNvSpPr/>
          <p:nvPr/>
        </p:nvSpPr>
        <p:spPr>
          <a:xfrm>
            <a:off x="6579108" y="2486620"/>
            <a:ext cx="4611751" cy="1203722"/>
          </a:xfrm>
          <a:prstGeom prst="rect">
            <a:avLst/>
          </a:prstGeom>
          <a:noFill/>
          <a:ln/>
        </p:spPr>
        <p:txBody>
          <a:bodyPr wrap="square" lIns="0" tIns="0" rIns="0" bIns="0" rtlCol="0" anchor="t">
            <a:normAutofit/>
          </a:bodyPr>
          <a:lstStyle/>
          <a:p>
            <a:pPr algn="l" marL="177292" indent="-177292">
              <a:lnSpc>
                <a:spcPts val="2320"/>
              </a:lnSpc>
              <a:buSzPct val="100000"/>
              <a:buChar char="•"/>
            </a:pPr>
            <a:r>
              <a:rPr lang="en-US" sz="1600" dirty="0">
                <a:solidFill>
                  <a:srgbClr val="3E464C"/>
                </a:solidFill>
                <a:latin typeface="Arial" pitchFamily="34" charset="0"/>
                <a:ea typeface="Arial" pitchFamily="34" charset="-122"/>
                <a:cs typeface="Arial" pitchFamily="34" charset="-120"/>
              </a:rPr>
              <a:t>Each paper is read once, in full</a:t>
            </a:r>
            <a:endParaRPr lang="en-US" sz="1600" dirty="0"/>
          </a:p>
          <a:p>
            <a:pPr algn="l" marL="177292" indent="-177292">
              <a:lnSpc>
                <a:spcPts val="2320"/>
              </a:lnSpc>
              <a:buSzPct val="100000"/>
              <a:buChar char="•"/>
            </a:pPr>
            <a:r>
              <a:rPr lang="en-US" sz="1600" dirty="0">
                <a:solidFill>
                  <a:srgbClr val="3E464C"/>
                </a:solidFill>
                <a:latin typeface="Arial" pitchFamily="34" charset="0"/>
                <a:ea typeface="Arial" pitchFamily="34" charset="-122"/>
                <a:cs typeface="Arial" pitchFamily="34" charset="-120"/>
              </a:rPr>
              <a:t>Knowledge goes into linked topic notes</a:t>
            </a:r>
            <a:endParaRPr lang="en-US" sz="1600" dirty="0"/>
          </a:p>
          <a:p>
            <a:pPr algn="l" marL="177292" indent="-177292">
              <a:lnSpc>
                <a:spcPts val="2320"/>
              </a:lnSpc>
              <a:buSzPct val="100000"/>
              <a:buChar char="•"/>
            </a:pPr>
            <a:r>
              <a:rPr lang="en-US" sz="1600" dirty="0">
                <a:solidFill>
                  <a:srgbClr val="3E464C"/>
                </a:solidFill>
                <a:latin typeface="Arial" pitchFamily="34" charset="0"/>
                <a:ea typeface="Arial" pitchFamily="34" charset="-122"/>
                <a:cs typeface="Arial" pitchFamily="34" charset="-120"/>
              </a:rPr>
              <a:t>Every new paper updates the existing notes</a:t>
            </a:r>
            <a:endParaRPr lang="en-US" sz="1600" dirty="0"/>
          </a:p>
          <a:p>
            <a:pPr algn="l" marL="177292" indent="-177292">
              <a:lnSpc>
                <a:spcPts val="2320"/>
              </a:lnSpc>
              <a:buSzPct val="100000"/>
              <a:buChar char="•"/>
            </a:pPr>
            <a:r>
              <a:rPr lang="en-US" sz="1600" dirty="0">
                <a:solidFill>
                  <a:srgbClr val="3E464C"/>
                </a:solidFill>
                <a:latin typeface="Arial" pitchFamily="34" charset="0"/>
                <a:ea typeface="Arial" pitchFamily="34" charset="-122"/>
                <a:cs typeface="Arial" pitchFamily="34" charset="-120"/>
              </a:rPr>
              <a:t>Conflicts and gaps are recorded as they appear</a:t>
            </a:r>
            <a:endParaRPr lang="en-US" sz="1600" dirty="0"/>
          </a:p>
        </p:txBody>
      </p:sp>
      <p:sp>
        <p:nvSpPr>
          <p:cNvPr id="13" name="Text 11"/>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8"/>
                </a:solidFill>
                <a:latin typeface="Arial" pitchFamily="34" charset="0"/>
                <a:ea typeface="Arial" pitchFamily="34" charset="-122"/>
                <a:cs typeface="Arial" pitchFamily="34" charset="-120"/>
              </a:rPr>
              <a:t>Part A · Why a wiki</a:t>
            </a:r>
            <a:endParaRPr lang="en-US" sz="1200" dirty="0"/>
          </a:p>
        </p:txBody>
      </p:sp>
      <p:sp>
        <p:nvSpPr>
          <p:cNvPr id="14" name="Shape 12"/>
          <p:cNvSpPr/>
          <p:nvPr/>
        </p:nvSpPr>
        <p:spPr>
          <a:xfrm>
            <a:off x="0" y="6350000"/>
            <a:ext cx="12192000" cy="12700"/>
          </a:xfrm>
          <a:prstGeom prst="rect">
            <a:avLst/>
          </a:prstGeom>
          <a:solidFill>
            <a:srgbClr val="A6A6A6"/>
          </a:solidFill>
          <a:ln/>
        </p:spPr>
      </p:sp>
      <p:sp>
        <p:nvSpPr>
          <p:cNvPr id="15" name="Text 13"/>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16" name="Text 14"/>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4</a:t>
            </a:r>
            <a:endParaRPr lang="en-US" sz="1500" dirty="0"/>
          </a:p>
        </p:txBody>
      </p:sp>
      <p:pic>
        <p:nvPicPr>
          <p:cNvPr id="17" name="Image 0" descr="preencoded.png">    </p:cNvPr>
          <p:cNvPicPr>
            <a:picLocks noChangeAspect="1"/>
          </p:cNvPicPr>
          <p:nvPr/>
        </p:nvPicPr>
        <p:blipFill>
          <a:blip r:embed="rId1">
            <a:alphaModFix amt="60000"/>
          </a:blip>
          <a:srcRect l="0" r="0" t="0" b="0"/>
          <a:stretch/>
        </p:blipFill>
        <p:spPr>
          <a:xfrm>
            <a:off x="11468100" y="6400800"/>
            <a:ext cx="431800" cy="431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A: LLM wiki setup</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1.2. Three layers, three owners</a:t>
            </a:r>
            <a:endParaRPr lang="en-US" sz="2800" dirty="0"/>
          </a:p>
        </p:txBody>
      </p:sp>
      <p:sp>
        <p:nvSpPr>
          <p:cNvPr id="7" name="Shape 5"/>
          <p:cNvSpPr/>
          <p:nvPr/>
        </p:nvSpPr>
        <p:spPr>
          <a:xfrm>
            <a:off x="812800" y="2067520"/>
            <a:ext cx="2849563" cy="2064941"/>
          </a:xfrm>
          <a:prstGeom prst="roundRect">
            <a:avLst>
              <a:gd name="adj" fmla="val 3690"/>
            </a:avLst>
          </a:prstGeom>
          <a:solidFill>
            <a:srgbClr val="EEF3F9"/>
          </a:solidFill>
          <a:ln/>
        </p:spPr>
      </p:sp>
      <p:sp>
        <p:nvSpPr>
          <p:cNvPr id="8" name="Text 6"/>
          <p:cNvSpPr/>
          <p:nvPr/>
        </p:nvSpPr>
        <p:spPr>
          <a:xfrm>
            <a:off x="1066800" y="2321520"/>
            <a:ext cx="241180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B7378"/>
                </a:solidFill>
                <a:latin typeface="Arial" pitchFamily="34" charset="0"/>
                <a:ea typeface="Arial" pitchFamily="34" charset="-122"/>
                <a:cs typeface="Arial" pitchFamily="34" charset="-120"/>
              </a:rPr>
              <a:t>raw/ · owned by me</a:t>
            </a:r>
            <a:endParaRPr lang="en-US" sz="1400" dirty="0"/>
          </a:p>
        </p:txBody>
      </p:sp>
      <p:sp>
        <p:nvSpPr>
          <p:cNvPr id="9" name="Text 7"/>
          <p:cNvSpPr/>
          <p:nvPr/>
        </p:nvSpPr>
        <p:spPr>
          <a:xfrm>
            <a:off x="1066800" y="2671961"/>
            <a:ext cx="241180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2272B"/>
                </a:solidFill>
                <a:latin typeface="Arial" pitchFamily="34" charset="0"/>
                <a:ea typeface="Arial" pitchFamily="34" charset="-122"/>
                <a:cs typeface="Arial" pitchFamily="34" charset="-120"/>
              </a:rPr>
              <a:t>Raw sources</a:t>
            </a:r>
            <a:endParaRPr lang="en-US" sz="2000" dirty="0"/>
          </a:p>
        </p:txBody>
      </p:sp>
      <p:sp>
        <p:nvSpPr>
          <p:cNvPr id="10" name="Text 8"/>
          <p:cNvSpPr/>
          <p:nvPr/>
        </p:nvSpPr>
        <p:spPr>
          <a:xfrm>
            <a:off x="1066800" y="3078361"/>
            <a:ext cx="241180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64C"/>
                </a:solidFill>
                <a:latin typeface="Arial" pitchFamily="34" charset="0"/>
                <a:ea typeface="Arial" pitchFamily="34" charset="-122"/>
                <a:cs typeface="Arial" pitchFamily="34" charset="-120"/>
              </a:rPr>
              <a:t>11 PDF papers. Read-only: never edited, renamed or deleted by the LLM.</a:t>
            </a:r>
            <a:endParaRPr lang="en-US" sz="1500" dirty="0"/>
          </a:p>
        </p:txBody>
      </p:sp>
      <p:pic>
        <p:nvPicPr>
          <p:cNvPr id="11" name="Image 0" descr="arrow-right">    </p:cNvPr>
          <p:cNvPicPr>
            <a:picLocks noChangeAspect="1"/>
          </p:cNvPicPr>
          <p:nvPr/>
        </p:nvPicPr>
        <p:blipFill>
          <a:blip r:embed="rId1"/>
          <a:srcRect l="0" r="0" t="0" b="0"/>
          <a:stretch/>
        </p:blipFill>
        <p:spPr>
          <a:xfrm>
            <a:off x="3814763" y="2985691"/>
            <a:ext cx="457200" cy="228600"/>
          </a:xfrm>
          <a:prstGeom prst="rect">
            <a:avLst/>
          </a:prstGeom>
        </p:spPr>
      </p:pic>
      <p:sp>
        <p:nvSpPr>
          <p:cNvPr id="12" name="Shape 9"/>
          <p:cNvSpPr/>
          <p:nvPr/>
        </p:nvSpPr>
        <p:spPr>
          <a:xfrm>
            <a:off x="4430713" y="1794470"/>
            <a:ext cx="3330575" cy="2611041"/>
          </a:xfrm>
          <a:prstGeom prst="roundRect">
            <a:avLst>
              <a:gd name="adj" fmla="val 2675"/>
            </a:avLst>
          </a:prstGeom>
          <a:solidFill>
            <a:srgbClr val="F4F8FC"/>
          </a:solidFill>
          <a:ln w="12700">
            <a:solidFill>
              <a:srgbClr val="0070C0"/>
            </a:solidFill>
            <a:prstDash val="solid"/>
          </a:ln>
        </p:spPr>
      </p:sp>
      <p:sp>
        <p:nvSpPr>
          <p:cNvPr id="13" name="Text 10"/>
          <p:cNvSpPr/>
          <p:nvPr/>
        </p:nvSpPr>
        <p:spPr>
          <a:xfrm>
            <a:off x="4691063" y="2054820"/>
            <a:ext cx="289417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70C0"/>
                </a:solidFill>
                <a:latin typeface="Arial" pitchFamily="34" charset="0"/>
                <a:ea typeface="Arial" pitchFamily="34" charset="-122"/>
                <a:cs typeface="Arial" pitchFamily="34" charset="-120"/>
              </a:rPr>
              <a:t>wiki/ · owned by the LLM</a:t>
            </a:r>
            <a:endParaRPr lang="en-US" sz="1400" dirty="0"/>
          </a:p>
        </p:txBody>
      </p:sp>
      <p:sp>
        <p:nvSpPr>
          <p:cNvPr id="14" name="Text 11"/>
          <p:cNvSpPr/>
          <p:nvPr/>
        </p:nvSpPr>
        <p:spPr>
          <a:xfrm>
            <a:off x="4691063" y="2405261"/>
            <a:ext cx="289417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2272B"/>
                </a:solidFill>
                <a:latin typeface="Arial" pitchFamily="34" charset="0"/>
                <a:ea typeface="Arial" pitchFamily="34" charset="-122"/>
                <a:cs typeface="Arial" pitchFamily="34" charset="-120"/>
              </a:rPr>
              <a:t>Wiki</a:t>
            </a:r>
            <a:endParaRPr lang="en-US" sz="2000" dirty="0"/>
          </a:p>
        </p:txBody>
      </p:sp>
      <p:sp>
        <p:nvSpPr>
          <p:cNvPr id="15" name="Text 12"/>
          <p:cNvSpPr/>
          <p:nvPr/>
        </p:nvSpPr>
        <p:spPr>
          <a:xfrm>
            <a:off x="4691063" y="2811661"/>
            <a:ext cx="2894171"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64C"/>
                </a:solidFill>
                <a:latin typeface="Arial" pitchFamily="34" charset="0"/>
                <a:ea typeface="Arial" pitchFamily="34" charset="-122"/>
                <a:cs typeface="Arial" pitchFamily="34" charset="-120"/>
              </a:rPr>
              <a:t>67 Markdown notes with 885 links: one per paper, plus concepts, materials, properties, tests, applications and data tables.</a:t>
            </a:r>
            <a:endParaRPr lang="en-US" sz="1500" dirty="0"/>
          </a:p>
        </p:txBody>
      </p:sp>
      <p:pic>
        <p:nvPicPr>
          <p:cNvPr id="16" name="Image 1" descr="arrow-left">    </p:cNvPr>
          <p:cNvPicPr>
            <a:picLocks noChangeAspect="1"/>
          </p:cNvPicPr>
          <p:nvPr/>
        </p:nvPicPr>
        <p:blipFill>
          <a:blip r:embed="rId2"/>
          <a:srcRect l="0" r="0" t="0" b="0"/>
          <a:stretch/>
        </p:blipFill>
        <p:spPr>
          <a:xfrm>
            <a:off x="7920038" y="2985691"/>
            <a:ext cx="457200" cy="228600"/>
          </a:xfrm>
          <a:prstGeom prst="rect">
            <a:avLst/>
          </a:prstGeom>
        </p:spPr>
      </p:pic>
      <p:sp>
        <p:nvSpPr>
          <p:cNvPr id="17" name="Shape 13"/>
          <p:cNvSpPr/>
          <p:nvPr/>
        </p:nvSpPr>
        <p:spPr>
          <a:xfrm>
            <a:off x="8529638" y="1943100"/>
            <a:ext cx="2849563" cy="2313781"/>
          </a:xfrm>
          <a:prstGeom prst="roundRect">
            <a:avLst>
              <a:gd name="adj" fmla="val 3293"/>
            </a:avLst>
          </a:prstGeom>
          <a:solidFill>
            <a:srgbClr val="EEF3F9"/>
          </a:solidFill>
          <a:ln/>
        </p:spPr>
      </p:sp>
      <p:sp>
        <p:nvSpPr>
          <p:cNvPr id="18" name="Text 14"/>
          <p:cNvSpPr/>
          <p:nvPr/>
        </p:nvSpPr>
        <p:spPr>
          <a:xfrm>
            <a:off x="8783638" y="2197100"/>
            <a:ext cx="2411809"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B7378"/>
                </a:solidFill>
                <a:latin typeface="Arial" pitchFamily="34" charset="0"/>
                <a:ea typeface="Arial" pitchFamily="34" charset="-122"/>
                <a:cs typeface="Arial" pitchFamily="34" charset="-120"/>
              </a:rPr>
              <a:t>CLAUDE.md · agreed together</a:t>
            </a:r>
            <a:endParaRPr lang="en-US" sz="1400" dirty="0"/>
          </a:p>
        </p:txBody>
      </p:sp>
      <p:sp>
        <p:nvSpPr>
          <p:cNvPr id="19" name="Text 15"/>
          <p:cNvSpPr/>
          <p:nvPr/>
        </p:nvSpPr>
        <p:spPr>
          <a:xfrm>
            <a:off x="8783638" y="2796381"/>
            <a:ext cx="241180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2272B"/>
                </a:solidFill>
                <a:latin typeface="Arial" pitchFamily="34" charset="0"/>
                <a:ea typeface="Arial" pitchFamily="34" charset="-122"/>
                <a:cs typeface="Arial" pitchFamily="34" charset="-120"/>
              </a:rPr>
              <a:t>Schema</a:t>
            </a:r>
            <a:endParaRPr lang="en-US" sz="2000" dirty="0"/>
          </a:p>
        </p:txBody>
      </p:sp>
      <p:sp>
        <p:nvSpPr>
          <p:cNvPr id="20" name="Text 16"/>
          <p:cNvSpPr/>
          <p:nvPr/>
        </p:nvSpPr>
        <p:spPr>
          <a:xfrm>
            <a:off x="8783638" y="3202781"/>
            <a:ext cx="241180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64C"/>
                </a:solidFill>
                <a:latin typeface="Arial" pitchFamily="34" charset="0"/>
                <a:ea typeface="Arial" pitchFamily="34" charset="-122"/>
                <a:cs typeface="Arial" pitchFamily="34" charset="-120"/>
              </a:rPr>
              <a:t>The rules the LLM must follow: structure, units, citations, conflict handling.</a:t>
            </a:r>
            <a:endParaRPr lang="en-US" sz="1500" dirty="0"/>
          </a:p>
        </p:txBody>
      </p:sp>
      <p:sp>
        <p:nvSpPr>
          <p:cNvPr id="21" name="Text 17"/>
          <p:cNvSpPr/>
          <p:nvPr/>
        </p:nvSpPr>
        <p:spPr>
          <a:xfrm>
            <a:off x="812800" y="4818261"/>
            <a:ext cx="9810750" cy="61456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E464C"/>
                </a:solidFill>
                <a:latin typeface="Arial" pitchFamily="34" charset="0"/>
                <a:ea typeface="Arial" pitchFamily="34" charset="-122"/>
                <a:cs typeface="Arial" pitchFamily="34" charset="-120"/>
              </a:rPr>
              <a:t>The human curates sources and checks results. The LLM does the reading, summarising, cross-linking and bookkeeping that people usually abandon.</a:t>
            </a:r>
            <a:endParaRPr lang="en-US" sz="1600" dirty="0"/>
          </a:p>
        </p:txBody>
      </p:sp>
      <p:sp>
        <p:nvSpPr>
          <p:cNvPr id="22" name="Text 18"/>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8"/>
                </a:solidFill>
                <a:latin typeface="Arial" pitchFamily="34" charset="0"/>
                <a:ea typeface="Arial" pitchFamily="34" charset="-122"/>
                <a:cs typeface="Arial" pitchFamily="34" charset="-120"/>
              </a:rPr>
              <a:t>Part A · Architecture</a:t>
            </a:r>
            <a:endParaRPr lang="en-US" sz="1200" dirty="0"/>
          </a:p>
        </p:txBody>
      </p:sp>
      <p:sp>
        <p:nvSpPr>
          <p:cNvPr id="23" name="Shape 19"/>
          <p:cNvSpPr/>
          <p:nvPr/>
        </p:nvSpPr>
        <p:spPr>
          <a:xfrm>
            <a:off x="0" y="6350000"/>
            <a:ext cx="12192000" cy="12700"/>
          </a:xfrm>
          <a:prstGeom prst="rect">
            <a:avLst/>
          </a:prstGeom>
          <a:solidFill>
            <a:srgbClr val="A6A6A6"/>
          </a:solidFill>
          <a:ln/>
        </p:spPr>
      </p:sp>
      <p:sp>
        <p:nvSpPr>
          <p:cNvPr id="24" name="Text 20"/>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25" name="Text 21"/>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5</a:t>
            </a:r>
            <a:endParaRPr lang="en-US" sz="1500" dirty="0"/>
          </a:p>
        </p:txBody>
      </p:sp>
      <p:pic>
        <p:nvPicPr>
          <p:cNvPr id="26" name="Image 2" descr="preencoded.png">    </p:cNvPr>
          <p:cNvPicPr>
            <a:picLocks noChangeAspect="1"/>
          </p:cNvPicPr>
          <p:nvPr/>
        </p:nvPicPr>
        <p:blipFill>
          <a:blip r:embed="rId3">
            <a:alphaModFix amt="60000"/>
          </a:blip>
          <a:srcRect l="0" r="0" t="0" b="0"/>
          <a:stretch/>
        </p:blipFill>
        <p:spPr>
          <a:xfrm>
            <a:off x="11468100" y="6400800"/>
            <a:ext cx="431800" cy="431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A: LLM wiki setup</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1.3. The wiki is just a folder of linked notes</a:t>
            </a:r>
            <a:endParaRPr lang="en-US" sz="2800" dirty="0"/>
          </a:p>
        </p:txBody>
      </p:sp>
      <p:sp>
        <p:nvSpPr>
          <p:cNvPr id="7" name="Text 5"/>
          <p:cNvSpPr/>
          <p:nvPr/>
        </p:nvSpPr>
        <p:spPr>
          <a:xfrm>
            <a:off x="812800" y="1686520"/>
            <a:ext cx="5384800" cy="3708400"/>
          </a:xfrm>
          <a:prstGeom prst="roundRect">
            <a:avLst>
              <a:gd name="adj" fmla="val 2055"/>
            </a:avLst>
          </a:prstGeom>
          <a:solidFill>
            <a:srgbClr val="1F4E79"/>
          </a:solidFill>
          <a:ln/>
        </p:spPr>
        <p:txBody>
          <a:bodyPr wrap="square" lIns="231682" tIns="231682" rIns="85378" bIns="206282" rtlCol="0" anchor="t">
            <a:normAutofit/>
          </a:bodyPr>
          <a:lstStyle/>
          <a:p>
            <a:pPr algn="l" indent="0" marL="0">
              <a:lnSpc>
                <a:spcPts val="2100"/>
              </a:lnSpc>
              <a:buNone/>
            </a:pPr>
            <a:r>
              <a:rPr lang="en-US" sz="1400" dirty="0">
                <a:solidFill>
                  <a:srgbClr val="E9EBE8"/>
                </a:solidFill>
                <a:latin typeface="Courier New" pitchFamily="49" charset="0"/>
                <a:ea typeface="Courier New" pitchFamily="49" charset="-122"/>
                <a:cs typeface="Courier New" pitchFamily="49" charset="-120"/>
              </a:rPr>
              <a:t>wiki/</a:t>
            </a:r>
            <a:endParaRPr lang="en-US" sz="1400" dirty="0"/>
          </a:p>
          <a:p>
            <a:pPr algn="l" indent="0" marL="0">
              <a:lnSpc>
                <a:spcPts val="2100"/>
              </a:lnSpc>
              <a:buNone/>
            </a:pPr>
            <a:r>
              <a:rPr lang="en-US" sz="1400" dirty="0">
                <a:solidFill>
                  <a:srgbClr val="E9EBE8"/>
                </a:solidFill>
                <a:latin typeface="Courier New" pitchFamily="49" charset="0"/>
                <a:ea typeface="Courier New" pitchFamily="49" charset="-122"/>
                <a:cs typeface="Courier New" pitchFamily="49" charset="-120"/>
              </a:rPr>
              <a:t>├─ index.md · catalogue, read first</a:t>
            </a:r>
            <a:endParaRPr lang="en-US" sz="1400" dirty="0"/>
          </a:p>
          <a:p>
            <a:pPr algn="l" indent="0" marL="0">
              <a:lnSpc>
                <a:spcPts val="2100"/>
              </a:lnSpc>
              <a:buNone/>
            </a:pPr>
            <a:r>
              <a:rPr lang="en-US" sz="1400" dirty="0">
                <a:solidFill>
                  <a:srgbClr val="E9EBE8"/>
                </a:solidFill>
                <a:latin typeface="Courier New" pitchFamily="49" charset="0"/>
                <a:ea typeface="Courier New" pitchFamily="49" charset="-122"/>
                <a:cs typeface="Courier New" pitchFamily="49" charset="-120"/>
              </a:rPr>
              <a:t>├─ log.md · every operation</a:t>
            </a:r>
            <a:endParaRPr lang="en-US" sz="1400" dirty="0"/>
          </a:p>
          <a:p>
            <a:pPr algn="l" indent="0" marL="0">
              <a:lnSpc>
                <a:spcPts val="2100"/>
              </a:lnSpc>
              <a:buNone/>
            </a:pPr>
            <a:r>
              <a:rPr lang="en-US" sz="1400" dirty="0">
                <a:solidFill>
                  <a:srgbClr val="E9EBE8"/>
                </a:solidFill>
                <a:latin typeface="Courier New" pitchFamily="49" charset="0"/>
                <a:ea typeface="Courier New" pitchFamily="49" charset="-122"/>
                <a:cs typeface="Courier New" pitchFamily="49" charset="-120"/>
              </a:rPr>
              <a:t>├─ gaps.md · conflicts, open questions</a:t>
            </a:r>
            <a:endParaRPr lang="en-US" sz="1400" dirty="0"/>
          </a:p>
          <a:p>
            <a:pPr algn="l" indent="0" marL="0">
              <a:lnSpc>
                <a:spcPts val="2100"/>
              </a:lnSpc>
              <a:buNone/>
            </a:pPr>
            <a:r>
              <a:rPr lang="en-US" sz="1400" dirty="0">
                <a:solidFill>
                  <a:srgbClr val="E9EBE8"/>
                </a:solidFill>
                <a:latin typeface="Courier New" pitchFamily="49" charset="0"/>
                <a:ea typeface="Courier New" pitchFamily="49" charset="-122"/>
                <a:cs typeface="Courier New" pitchFamily="49" charset="-120"/>
              </a:rPr>
              <a:t>├─ sources/ · 11, one per paper</a:t>
            </a:r>
            <a:endParaRPr lang="en-US" sz="1400" dirty="0"/>
          </a:p>
          <a:p>
            <a:pPr algn="l" indent="0" marL="0">
              <a:lnSpc>
                <a:spcPts val="2100"/>
              </a:lnSpc>
              <a:buNone/>
            </a:pPr>
            <a:r>
              <a:rPr lang="en-US" sz="1400" dirty="0">
                <a:solidFill>
                  <a:srgbClr val="E9EBE8"/>
                </a:solidFill>
                <a:latin typeface="Courier New" pitchFamily="49" charset="0"/>
                <a:ea typeface="Courier New" pitchFamily="49" charset="-122"/>
                <a:cs typeface="Courier New" pitchFamily="49" charset="-120"/>
              </a:rPr>
              <a:t>├─ concepts/ · 18</a:t>
            </a:r>
            <a:endParaRPr lang="en-US" sz="1400" dirty="0"/>
          </a:p>
          <a:p>
            <a:pPr algn="l" indent="0" marL="0">
              <a:lnSpc>
                <a:spcPts val="2100"/>
              </a:lnSpc>
              <a:buNone/>
            </a:pPr>
            <a:r>
              <a:rPr lang="en-US" sz="1400" dirty="0">
                <a:solidFill>
                  <a:srgbClr val="E9EBE8"/>
                </a:solidFill>
                <a:latin typeface="Courier New" pitchFamily="49" charset="0"/>
                <a:ea typeface="Courier New" pitchFamily="49" charset="-122"/>
                <a:cs typeface="Courier New" pitchFamily="49" charset="-120"/>
              </a:rPr>
              <a:t>├─ materials/ · 6</a:t>
            </a:r>
            <a:endParaRPr lang="en-US" sz="1400" dirty="0"/>
          </a:p>
          <a:p>
            <a:pPr algn="l" indent="0" marL="0">
              <a:lnSpc>
                <a:spcPts val="2100"/>
              </a:lnSpc>
              <a:buNone/>
            </a:pPr>
            <a:r>
              <a:rPr lang="en-US" sz="1400" dirty="0">
                <a:solidFill>
                  <a:srgbClr val="E9EBE8"/>
                </a:solidFill>
                <a:latin typeface="Courier New" pitchFamily="49" charset="0"/>
                <a:ea typeface="Courier New" pitchFamily="49" charset="-122"/>
                <a:cs typeface="Courier New" pitchFamily="49" charset="-120"/>
              </a:rPr>
              <a:t>├─ properties/ · 14</a:t>
            </a:r>
            <a:endParaRPr lang="en-US" sz="1400" dirty="0"/>
          </a:p>
          <a:p>
            <a:pPr algn="l" indent="0" marL="0">
              <a:lnSpc>
                <a:spcPts val="2100"/>
              </a:lnSpc>
              <a:buNone/>
            </a:pPr>
            <a:r>
              <a:rPr lang="en-US" sz="1400" dirty="0">
                <a:solidFill>
                  <a:srgbClr val="E9EBE8"/>
                </a:solidFill>
                <a:latin typeface="Courier New" pitchFamily="49" charset="0"/>
                <a:ea typeface="Courier New" pitchFamily="49" charset="-122"/>
                <a:cs typeface="Courier New" pitchFamily="49" charset="-120"/>
              </a:rPr>
              <a:t>├─ test-methods/ · 6</a:t>
            </a:r>
            <a:endParaRPr lang="en-US" sz="1400" dirty="0"/>
          </a:p>
          <a:p>
            <a:pPr algn="l" indent="0" marL="0">
              <a:lnSpc>
                <a:spcPts val="2100"/>
              </a:lnSpc>
              <a:buNone/>
            </a:pPr>
            <a:r>
              <a:rPr lang="en-US" sz="1400" dirty="0">
                <a:solidFill>
                  <a:srgbClr val="E9EBE8"/>
                </a:solidFill>
                <a:latin typeface="Courier New" pitchFamily="49" charset="0"/>
                <a:ea typeface="Courier New" pitchFamily="49" charset="-122"/>
                <a:cs typeface="Courier New" pitchFamily="49" charset="-120"/>
              </a:rPr>
              <a:t>├─ applications/ · 5</a:t>
            </a:r>
            <a:endParaRPr lang="en-US" sz="1400" dirty="0"/>
          </a:p>
          <a:p>
            <a:pPr algn="l" indent="0" marL="0">
              <a:lnSpc>
                <a:spcPts val="2100"/>
              </a:lnSpc>
              <a:buNone/>
            </a:pPr>
            <a:r>
              <a:rPr lang="en-US" sz="1400" dirty="0">
                <a:solidFill>
                  <a:srgbClr val="E9EBE8"/>
                </a:solidFill>
                <a:latin typeface="Courier New" pitchFamily="49" charset="0"/>
                <a:ea typeface="Courier New" pitchFamily="49" charset="-122"/>
                <a:cs typeface="Courier New" pitchFamily="49" charset="-120"/>
              </a:rPr>
              <a:t>├─ datasets/ · 3 master tables</a:t>
            </a:r>
            <a:endParaRPr lang="en-US" sz="1400" dirty="0"/>
          </a:p>
          <a:p>
            <a:pPr algn="l" indent="0" marL="0">
              <a:lnSpc>
                <a:spcPts val="2100"/>
              </a:lnSpc>
              <a:buNone/>
            </a:pPr>
            <a:r>
              <a:rPr lang="en-US" sz="1400" dirty="0">
                <a:solidFill>
                  <a:srgbClr val="E9EBE8"/>
                </a:solidFill>
                <a:latin typeface="Courier New" pitchFamily="49" charset="0"/>
                <a:ea typeface="Courier New" pitchFamily="49" charset="-122"/>
                <a:cs typeface="Courier New" pitchFamily="49" charset="-120"/>
              </a:rPr>
              <a:t>└─ synthesis/ · review outline</a:t>
            </a:r>
            <a:endParaRPr lang="en-US" sz="1400" dirty="0"/>
          </a:p>
        </p:txBody>
      </p:sp>
      <p:sp>
        <p:nvSpPr>
          <p:cNvPr id="8" name="Text 6"/>
          <p:cNvSpPr/>
          <p:nvPr/>
        </p:nvSpPr>
        <p:spPr>
          <a:xfrm>
            <a:off x="6502400" y="1686520"/>
            <a:ext cx="502310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2272B"/>
                </a:solidFill>
                <a:latin typeface="Arial" pitchFamily="34" charset="0"/>
                <a:ea typeface="Arial" pitchFamily="34" charset="-122"/>
                <a:cs typeface="Arial" pitchFamily="34" charset="-120"/>
              </a:rPr>
              <a:t>Plain Markdown</a:t>
            </a:r>
            <a:endParaRPr lang="en-US" sz="1800" dirty="0"/>
          </a:p>
        </p:txBody>
      </p:sp>
      <p:sp>
        <p:nvSpPr>
          <p:cNvPr id="9" name="Text 7"/>
          <p:cNvSpPr/>
          <p:nvPr/>
        </p:nvSpPr>
        <p:spPr>
          <a:xfrm>
            <a:off x="6502400" y="2011561"/>
            <a:ext cx="56896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64C"/>
                </a:solidFill>
                <a:latin typeface="Arial" pitchFamily="34" charset="0"/>
                <a:ea typeface="Arial" pitchFamily="34" charset="-122"/>
                <a:cs typeface="Arial" pitchFamily="34" charset="-120"/>
              </a:rPr>
              <a:t>Readable in any editor, versioned with Git, no database.</a:t>
            </a:r>
            <a:endParaRPr lang="en-US" sz="1500" dirty="0"/>
          </a:p>
        </p:txBody>
      </p:sp>
      <p:sp>
        <p:nvSpPr>
          <p:cNvPr id="10" name="Text 8"/>
          <p:cNvSpPr/>
          <p:nvPr/>
        </p:nvSpPr>
        <p:spPr>
          <a:xfrm>
            <a:off x="6502400" y="2456061"/>
            <a:ext cx="502310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2272B"/>
                </a:solidFill>
                <a:latin typeface="Arial" pitchFamily="34" charset="0"/>
                <a:ea typeface="Arial" pitchFamily="34" charset="-122"/>
                <a:cs typeface="Arial" pitchFamily="34" charset="-120"/>
              </a:rPr>
              <a:t>Wikilinks</a:t>
            </a:r>
            <a:endParaRPr lang="en-US" sz="1800" dirty="0"/>
          </a:p>
        </p:txBody>
      </p:sp>
      <p:sp>
        <p:nvSpPr>
          <p:cNvPr id="11" name="Text 9"/>
          <p:cNvSpPr/>
          <p:nvPr/>
        </p:nvSpPr>
        <p:spPr>
          <a:xfrm>
            <a:off x="6502400" y="2781102"/>
            <a:ext cx="502310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64C"/>
                </a:solidFill>
                <a:latin typeface="Arial" pitchFamily="34" charset="0"/>
                <a:ea typeface="Arial" pitchFamily="34" charset="-122"/>
                <a:cs typeface="Arial" pitchFamily="34" charset="-120"/>
              </a:rPr>
              <a:t>[[pva-fiber]] style links. Every page links in and out.</a:t>
            </a:r>
            <a:endParaRPr lang="en-US" sz="1500" dirty="0"/>
          </a:p>
        </p:txBody>
      </p:sp>
      <p:sp>
        <p:nvSpPr>
          <p:cNvPr id="12" name="Text 10"/>
          <p:cNvSpPr/>
          <p:nvPr/>
        </p:nvSpPr>
        <p:spPr>
          <a:xfrm>
            <a:off x="6502400" y="3225602"/>
            <a:ext cx="502310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2272B"/>
                </a:solidFill>
                <a:latin typeface="Arial" pitchFamily="34" charset="0"/>
                <a:ea typeface="Arial" pitchFamily="34" charset="-122"/>
                <a:cs typeface="Arial" pitchFamily="34" charset="-120"/>
              </a:rPr>
              <a:t>Templates</a:t>
            </a:r>
            <a:endParaRPr lang="en-US" sz="1800" dirty="0"/>
          </a:p>
        </p:txBody>
      </p:sp>
      <p:sp>
        <p:nvSpPr>
          <p:cNvPr id="13" name="Text 11"/>
          <p:cNvSpPr/>
          <p:nvPr/>
        </p:nvSpPr>
        <p:spPr>
          <a:xfrm>
            <a:off x="6502400" y="3550642"/>
            <a:ext cx="502310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64C"/>
                </a:solidFill>
                <a:latin typeface="Arial" pitchFamily="34" charset="0"/>
                <a:ea typeface="Arial" pitchFamily="34" charset="-122"/>
                <a:cs typeface="Arial" pitchFamily="34" charset="-120"/>
              </a:rPr>
              <a:t>Each source note has the same fields: mix design, test methods, results with table location, limitations, items to verify.</a:t>
            </a:r>
            <a:endParaRPr lang="en-US" sz="1500" dirty="0"/>
          </a:p>
        </p:txBody>
      </p:sp>
      <p:sp>
        <p:nvSpPr>
          <p:cNvPr id="14" name="Text 12"/>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8"/>
                </a:solidFill>
                <a:latin typeface="Arial" pitchFamily="34" charset="0"/>
                <a:ea typeface="Arial" pitchFamily="34" charset="-122"/>
                <a:cs typeface="Arial" pitchFamily="34" charset="-120"/>
              </a:rPr>
              <a:t>Part A · Structure</a:t>
            </a:r>
            <a:endParaRPr lang="en-US" sz="1200" dirty="0"/>
          </a:p>
        </p:txBody>
      </p:sp>
      <p:sp>
        <p:nvSpPr>
          <p:cNvPr id="15" name="Shape 13"/>
          <p:cNvSpPr/>
          <p:nvPr/>
        </p:nvSpPr>
        <p:spPr>
          <a:xfrm>
            <a:off x="0" y="6350000"/>
            <a:ext cx="12192000" cy="12700"/>
          </a:xfrm>
          <a:prstGeom prst="rect">
            <a:avLst/>
          </a:prstGeom>
          <a:solidFill>
            <a:srgbClr val="A6A6A6"/>
          </a:solidFill>
          <a:ln/>
        </p:spPr>
      </p:sp>
      <p:sp>
        <p:nvSpPr>
          <p:cNvPr id="16" name="Text 14"/>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17" name="Text 15"/>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6</a:t>
            </a:r>
            <a:endParaRPr lang="en-US" sz="1500" dirty="0"/>
          </a:p>
        </p:txBody>
      </p:sp>
      <p:pic>
        <p:nvPicPr>
          <p:cNvPr id="18" name="Image 0" descr="preencoded.png">    </p:cNvPr>
          <p:cNvPicPr>
            <a:picLocks noChangeAspect="1"/>
          </p:cNvPicPr>
          <p:nvPr/>
        </p:nvPicPr>
        <p:blipFill>
          <a:blip r:embed="rId1">
            <a:alphaModFix amt="60000"/>
          </a:blip>
          <a:srcRect l="0" r="0" t="0" b="0"/>
          <a:stretch/>
        </p:blipFill>
        <p:spPr>
          <a:xfrm>
            <a:off x="11468100" y="6400800"/>
            <a:ext cx="431800" cy="431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A: LLM wiki setup</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1.4. Evidence rules keep the LLM honest</a:t>
            </a:r>
            <a:endParaRPr lang="en-US" sz="2800" dirty="0"/>
          </a:p>
        </p:txBody>
      </p:sp>
      <p:sp>
        <p:nvSpPr>
          <p:cNvPr id="7" name="Shape 5"/>
          <p:cNvSpPr/>
          <p:nvPr/>
        </p:nvSpPr>
        <p:spPr>
          <a:xfrm>
            <a:off x="815975" y="1689695"/>
            <a:ext cx="5187950" cy="1347391"/>
          </a:xfrm>
          <a:prstGeom prst="roundRect">
            <a:avLst>
              <a:gd name="adj" fmla="val 5420"/>
            </a:avLst>
          </a:prstGeom>
          <a:solidFill>
            <a:srgbClr val="F4F8FC"/>
          </a:solidFill>
          <a:ln w="6350">
            <a:solidFill>
              <a:srgbClr val="C9D7E8"/>
            </a:solidFill>
            <a:prstDash val="solid"/>
          </a:ln>
        </p:spPr>
      </p:sp>
      <p:sp>
        <p:nvSpPr>
          <p:cNvPr id="8" name="Text 6"/>
          <p:cNvSpPr/>
          <p:nvPr/>
        </p:nvSpPr>
        <p:spPr>
          <a:xfrm>
            <a:off x="1047750" y="1921470"/>
            <a:ext cx="486613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2272B"/>
                </a:solidFill>
                <a:latin typeface="Arial" pitchFamily="34" charset="0"/>
                <a:ea typeface="Arial" pitchFamily="34" charset="-122"/>
                <a:cs typeface="Arial" pitchFamily="34" charset="-120"/>
              </a:rPr>
              <a:t>Every number is cited</a:t>
            </a:r>
            <a:endParaRPr lang="en-US" sz="1800" dirty="0"/>
          </a:p>
        </p:txBody>
      </p:sp>
      <p:sp>
        <p:nvSpPr>
          <p:cNvPr id="9" name="Text 7"/>
          <p:cNvSpPr/>
          <p:nvPr/>
        </p:nvSpPr>
        <p:spPr>
          <a:xfrm>
            <a:off x="1047750" y="2271911"/>
            <a:ext cx="486613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64C"/>
                </a:solidFill>
                <a:latin typeface="Arial" pitchFamily="34" charset="0"/>
                <a:ea typeface="Arial" pitchFamily="34" charset="-122"/>
                <a:cs typeface="Arial" pitchFamily="34" charset="-120"/>
              </a:rPr>
              <a:t>Source note plus table, figure or page, so any value can be checked in the PDF in seconds.</a:t>
            </a:r>
            <a:endParaRPr lang="en-US" sz="1500" dirty="0"/>
          </a:p>
        </p:txBody>
      </p:sp>
      <p:sp>
        <p:nvSpPr>
          <p:cNvPr id="10" name="Shape 8"/>
          <p:cNvSpPr/>
          <p:nvPr/>
        </p:nvSpPr>
        <p:spPr>
          <a:xfrm>
            <a:off x="6188075" y="1689695"/>
            <a:ext cx="5187950" cy="1347391"/>
          </a:xfrm>
          <a:prstGeom prst="roundRect">
            <a:avLst>
              <a:gd name="adj" fmla="val 5420"/>
            </a:avLst>
          </a:prstGeom>
          <a:solidFill>
            <a:srgbClr val="F4F8FC"/>
          </a:solidFill>
          <a:ln w="6350">
            <a:solidFill>
              <a:srgbClr val="C9D7E8"/>
            </a:solidFill>
            <a:prstDash val="solid"/>
          </a:ln>
        </p:spPr>
      </p:sp>
      <p:sp>
        <p:nvSpPr>
          <p:cNvPr id="11" name="Text 9"/>
          <p:cNvSpPr/>
          <p:nvPr/>
        </p:nvSpPr>
        <p:spPr>
          <a:xfrm>
            <a:off x="6419850" y="1921470"/>
            <a:ext cx="486613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2272B"/>
                </a:solidFill>
                <a:latin typeface="Arial" pitchFamily="34" charset="0"/>
                <a:ea typeface="Arial" pitchFamily="34" charset="-122"/>
                <a:cs typeface="Arial" pitchFamily="34" charset="-120"/>
              </a:rPr>
              <a:t>Never invent</a:t>
            </a:r>
            <a:endParaRPr lang="en-US" sz="1800" dirty="0"/>
          </a:p>
        </p:txBody>
      </p:sp>
      <p:sp>
        <p:nvSpPr>
          <p:cNvPr id="12" name="Text 10"/>
          <p:cNvSpPr/>
          <p:nvPr/>
        </p:nvSpPr>
        <p:spPr>
          <a:xfrm>
            <a:off x="6419850" y="2271911"/>
            <a:ext cx="486613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64C"/>
                </a:solidFill>
                <a:latin typeface="Arial" pitchFamily="34" charset="0"/>
                <a:ea typeface="Arial" pitchFamily="34" charset="-122"/>
                <a:cs typeface="Arial" pitchFamily="34" charset="-120"/>
              </a:rPr>
              <a:t>No made-up numbers, authors or DOIs. Doubtful items get ⚠ and a “to verify” entry.</a:t>
            </a:r>
            <a:endParaRPr lang="en-US" sz="1500" dirty="0"/>
          </a:p>
        </p:txBody>
      </p:sp>
      <p:sp>
        <p:nvSpPr>
          <p:cNvPr id="13" name="Shape 11"/>
          <p:cNvSpPr/>
          <p:nvPr/>
        </p:nvSpPr>
        <p:spPr>
          <a:xfrm>
            <a:off x="815975" y="3221236"/>
            <a:ext cx="5187950" cy="1347391"/>
          </a:xfrm>
          <a:prstGeom prst="roundRect">
            <a:avLst>
              <a:gd name="adj" fmla="val 5420"/>
            </a:avLst>
          </a:prstGeom>
          <a:solidFill>
            <a:srgbClr val="F4F8FC"/>
          </a:solidFill>
          <a:ln w="6350">
            <a:solidFill>
              <a:srgbClr val="C9D7E8"/>
            </a:solidFill>
            <a:prstDash val="solid"/>
          </a:ln>
        </p:spPr>
      </p:sp>
      <p:sp>
        <p:nvSpPr>
          <p:cNvPr id="14" name="Text 12"/>
          <p:cNvSpPr/>
          <p:nvPr/>
        </p:nvSpPr>
        <p:spPr>
          <a:xfrm>
            <a:off x="1047750" y="3453011"/>
            <a:ext cx="486613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2272B"/>
                </a:solidFill>
                <a:latin typeface="Arial" pitchFamily="34" charset="0"/>
                <a:ea typeface="Arial" pitchFamily="34" charset="-122"/>
                <a:cs typeface="Arial" pitchFamily="34" charset="-120"/>
              </a:rPr>
              <a:t>Reported vs interpreted</a:t>
            </a:r>
            <a:endParaRPr lang="en-US" sz="1800" dirty="0"/>
          </a:p>
        </p:txBody>
      </p:sp>
      <p:sp>
        <p:nvSpPr>
          <p:cNvPr id="15" name="Text 13"/>
          <p:cNvSpPr/>
          <p:nvPr/>
        </p:nvSpPr>
        <p:spPr>
          <a:xfrm>
            <a:off x="1047750" y="3803452"/>
            <a:ext cx="486613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64C"/>
                </a:solidFill>
                <a:latin typeface="Arial" pitchFamily="34" charset="0"/>
                <a:ea typeface="Arial" pitchFamily="34" charset="-122"/>
                <a:cs typeface="Arial" pitchFamily="34" charset="-120"/>
              </a:rPr>
              <a:t>The LLM’s own cross-paper reasoning is marked “Synthesis”, separate from what papers state.</a:t>
            </a:r>
            <a:endParaRPr lang="en-US" sz="1500" dirty="0"/>
          </a:p>
        </p:txBody>
      </p:sp>
      <p:sp>
        <p:nvSpPr>
          <p:cNvPr id="16" name="Shape 14"/>
          <p:cNvSpPr/>
          <p:nvPr/>
        </p:nvSpPr>
        <p:spPr>
          <a:xfrm>
            <a:off x="6188075" y="3221236"/>
            <a:ext cx="5187950" cy="1347391"/>
          </a:xfrm>
          <a:prstGeom prst="roundRect">
            <a:avLst>
              <a:gd name="adj" fmla="val 5420"/>
            </a:avLst>
          </a:prstGeom>
          <a:solidFill>
            <a:srgbClr val="F4F8FC"/>
          </a:solidFill>
          <a:ln w="6350">
            <a:solidFill>
              <a:srgbClr val="C9D7E8"/>
            </a:solidFill>
            <a:prstDash val="solid"/>
          </a:ln>
        </p:spPr>
      </p:sp>
      <p:sp>
        <p:nvSpPr>
          <p:cNvPr id="17" name="Text 15"/>
          <p:cNvSpPr/>
          <p:nvPr/>
        </p:nvSpPr>
        <p:spPr>
          <a:xfrm>
            <a:off x="6419850" y="3453011"/>
            <a:ext cx="486613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2272B"/>
                </a:solidFill>
                <a:latin typeface="Arial" pitchFamily="34" charset="0"/>
                <a:ea typeface="Arial" pitchFamily="34" charset="-122"/>
                <a:cs typeface="Arial" pitchFamily="34" charset="-120"/>
              </a:rPr>
              <a:t>Keep both sides of a conflict</a:t>
            </a:r>
            <a:endParaRPr lang="en-US" sz="1800" dirty="0"/>
          </a:p>
        </p:txBody>
      </p:sp>
      <p:sp>
        <p:nvSpPr>
          <p:cNvPr id="18" name="Text 16"/>
          <p:cNvSpPr/>
          <p:nvPr/>
        </p:nvSpPr>
        <p:spPr>
          <a:xfrm>
            <a:off x="6419850" y="3803452"/>
            <a:ext cx="486613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64C"/>
                </a:solidFill>
                <a:latin typeface="Arial" pitchFamily="34" charset="0"/>
                <a:ea typeface="Arial" pitchFamily="34" charset="-122"/>
                <a:cs typeface="Arial" pitchFamily="34" charset="-120"/>
              </a:rPr>
              <a:t>Disagreeing values are never averaged. Both stay, and the conflict goes on the gaps page.</a:t>
            </a:r>
            <a:endParaRPr lang="en-US" sz="1500" dirty="0"/>
          </a:p>
        </p:txBody>
      </p:sp>
      <p:sp>
        <p:nvSpPr>
          <p:cNvPr id="19" name="Text 17"/>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8"/>
                </a:solidFill>
                <a:latin typeface="Arial" pitchFamily="34" charset="0"/>
                <a:ea typeface="Arial" pitchFamily="34" charset="-122"/>
                <a:cs typeface="Arial" pitchFamily="34" charset="-120"/>
              </a:rPr>
              <a:t>Part A · Schema rules (CLAUDE.md §4)</a:t>
            </a:r>
            <a:endParaRPr lang="en-US" sz="1200" dirty="0"/>
          </a:p>
        </p:txBody>
      </p:sp>
      <p:sp>
        <p:nvSpPr>
          <p:cNvPr id="20" name="Shape 18"/>
          <p:cNvSpPr/>
          <p:nvPr/>
        </p:nvSpPr>
        <p:spPr>
          <a:xfrm>
            <a:off x="0" y="6350000"/>
            <a:ext cx="12192000" cy="12700"/>
          </a:xfrm>
          <a:prstGeom prst="rect">
            <a:avLst/>
          </a:prstGeom>
          <a:solidFill>
            <a:srgbClr val="A6A6A6"/>
          </a:solidFill>
          <a:ln/>
        </p:spPr>
      </p:sp>
      <p:sp>
        <p:nvSpPr>
          <p:cNvPr id="21" name="Text 19"/>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22" name="Text 20"/>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7</a:t>
            </a:r>
            <a:endParaRPr lang="en-US" sz="1500" dirty="0"/>
          </a:p>
        </p:txBody>
      </p:sp>
      <p:pic>
        <p:nvPicPr>
          <p:cNvPr id="23" name="Image 0" descr="preencoded.png">    </p:cNvPr>
          <p:cNvPicPr>
            <a:picLocks noChangeAspect="1"/>
          </p:cNvPicPr>
          <p:nvPr/>
        </p:nvPicPr>
        <p:blipFill>
          <a:blip r:embed="rId1">
            <a:alphaModFix amt="60000"/>
          </a:blip>
          <a:srcRect l="0" r="0" t="0" b="0"/>
          <a:stretch/>
        </p:blipFill>
        <p:spPr>
          <a:xfrm>
            <a:off x="11468100" y="6400800"/>
            <a:ext cx="431800" cy="431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A: LLM wiki setup</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1.5. Four operations run the wiki</a:t>
            </a:r>
            <a:endParaRPr lang="en-US" sz="2800" dirty="0"/>
          </a:p>
        </p:txBody>
      </p:sp>
      <p:sp>
        <p:nvSpPr>
          <p:cNvPr id="7" name="Shape 5"/>
          <p:cNvSpPr/>
          <p:nvPr/>
        </p:nvSpPr>
        <p:spPr>
          <a:xfrm>
            <a:off x="815975" y="1740495"/>
            <a:ext cx="2540000" cy="1994793"/>
          </a:xfrm>
          <a:prstGeom prst="roundRect">
            <a:avLst>
              <a:gd name="adj" fmla="val 3661"/>
            </a:avLst>
          </a:prstGeom>
          <a:solidFill>
            <a:srgbClr val="F4F8FC"/>
          </a:solidFill>
          <a:ln w="6350">
            <a:solidFill>
              <a:srgbClr val="C9D7E8"/>
            </a:solidFill>
            <a:prstDash val="solid"/>
          </a:ln>
        </p:spPr>
      </p:sp>
      <p:sp>
        <p:nvSpPr>
          <p:cNvPr id="8" name="Text 6"/>
          <p:cNvSpPr/>
          <p:nvPr/>
        </p:nvSpPr>
        <p:spPr>
          <a:xfrm>
            <a:off x="1047750" y="1972270"/>
            <a:ext cx="213874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70C0"/>
                </a:solidFill>
                <a:latin typeface="Arial" pitchFamily="34" charset="0"/>
                <a:ea typeface="Arial" pitchFamily="34" charset="-122"/>
                <a:cs typeface="Arial" pitchFamily="34" charset="-120"/>
              </a:rPr>
              <a:t>1 · Ingest</a:t>
            </a:r>
            <a:endParaRPr lang="en-US" sz="1400" dirty="0"/>
          </a:p>
        </p:txBody>
      </p:sp>
      <p:sp>
        <p:nvSpPr>
          <p:cNvPr id="9" name="Text 7"/>
          <p:cNvSpPr/>
          <p:nvPr/>
        </p:nvSpPr>
        <p:spPr>
          <a:xfrm>
            <a:off x="1047750" y="2322711"/>
            <a:ext cx="2076450" cy="332680"/>
          </a:xfrm>
          <a:prstGeom prst="roundRect">
            <a:avLst>
              <a:gd name="adj" fmla="val 11452"/>
            </a:avLst>
          </a:prstGeom>
          <a:solidFill>
            <a:srgbClr val="EEF3F9"/>
          </a:solidFill>
          <a:ln/>
        </p:spPr>
        <p:txBody>
          <a:bodyPr wrap="square" lIns="65041" tIns="39641" rIns="7319" bIns="14241" rtlCol="0" anchor="t">
            <a:normAutofit/>
          </a:bodyPr>
          <a:lstStyle/>
          <a:p>
            <a:pPr algn="l" indent="0" marL="0">
              <a:lnSpc>
                <a:spcPts val="1820"/>
              </a:lnSpc>
              <a:buNone/>
            </a:pPr>
            <a:r>
              <a:rPr lang="en-US" sz="1300" dirty="0">
                <a:solidFill>
                  <a:srgbClr val="22272B"/>
                </a:solidFill>
                <a:latin typeface="Courier New" pitchFamily="49" charset="0"/>
                <a:ea typeface="Courier New" pitchFamily="49" charset="-122"/>
                <a:cs typeface="Courier New" pitchFamily="49" charset="-120"/>
              </a:rPr>
              <a:t>ingest new</a:t>
            </a:r>
            <a:endParaRPr lang="en-US" sz="1300" dirty="0"/>
          </a:p>
        </p:txBody>
      </p:sp>
      <p:sp>
        <p:nvSpPr>
          <p:cNvPr id="10" name="Text 8"/>
          <p:cNvSpPr/>
          <p:nvPr/>
        </p:nvSpPr>
        <p:spPr>
          <a:xfrm>
            <a:off x="1047750" y="2756991"/>
            <a:ext cx="2138744"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64C"/>
                </a:solidFill>
                <a:latin typeface="Arial" pitchFamily="34" charset="0"/>
                <a:ea typeface="Arial" pitchFamily="34" charset="-122"/>
                <a:cs typeface="Arial" pitchFamily="34" charset="-120"/>
              </a:rPr>
              <a:t>Find unread PDFs, read each in full, write its source note.</a:t>
            </a:r>
            <a:endParaRPr lang="en-US" sz="1400" dirty="0"/>
          </a:p>
        </p:txBody>
      </p:sp>
      <p:sp>
        <p:nvSpPr>
          <p:cNvPr id="11" name="Shape 9"/>
          <p:cNvSpPr/>
          <p:nvPr/>
        </p:nvSpPr>
        <p:spPr>
          <a:xfrm>
            <a:off x="3489325" y="1740495"/>
            <a:ext cx="2540000" cy="1994793"/>
          </a:xfrm>
          <a:prstGeom prst="roundRect">
            <a:avLst>
              <a:gd name="adj" fmla="val 3661"/>
            </a:avLst>
          </a:prstGeom>
          <a:solidFill>
            <a:srgbClr val="F4F8FC"/>
          </a:solidFill>
          <a:ln w="6350">
            <a:solidFill>
              <a:srgbClr val="C9D7E8"/>
            </a:solidFill>
            <a:prstDash val="solid"/>
          </a:ln>
        </p:spPr>
      </p:sp>
      <p:sp>
        <p:nvSpPr>
          <p:cNvPr id="12" name="Text 10"/>
          <p:cNvSpPr/>
          <p:nvPr/>
        </p:nvSpPr>
        <p:spPr>
          <a:xfrm>
            <a:off x="3721100" y="1972270"/>
            <a:ext cx="213874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70C0"/>
                </a:solidFill>
                <a:latin typeface="Arial" pitchFamily="34" charset="0"/>
                <a:ea typeface="Arial" pitchFamily="34" charset="-122"/>
                <a:cs typeface="Arial" pitchFamily="34" charset="-120"/>
              </a:rPr>
              <a:t>2 · Integrate</a:t>
            </a:r>
            <a:endParaRPr lang="en-US" sz="1400" dirty="0"/>
          </a:p>
        </p:txBody>
      </p:sp>
      <p:sp>
        <p:nvSpPr>
          <p:cNvPr id="13" name="Text 11"/>
          <p:cNvSpPr/>
          <p:nvPr/>
        </p:nvSpPr>
        <p:spPr>
          <a:xfrm>
            <a:off x="3721100" y="2322711"/>
            <a:ext cx="2076450" cy="332680"/>
          </a:xfrm>
          <a:prstGeom prst="roundRect">
            <a:avLst>
              <a:gd name="adj" fmla="val 11452"/>
            </a:avLst>
          </a:prstGeom>
          <a:solidFill>
            <a:srgbClr val="EEF3F9"/>
          </a:solidFill>
          <a:ln/>
        </p:spPr>
        <p:txBody>
          <a:bodyPr wrap="square" lIns="65041" tIns="39641" rIns="7319" bIns="14241" rtlCol="0" anchor="t">
            <a:normAutofit/>
          </a:bodyPr>
          <a:lstStyle/>
          <a:p>
            <a:pPr algn="l" indent="0" marL="0">
              <a:lnSpc>
                <a:spcPts val="1820"/>
              </a:lnSpc>
              <a:buNone/>
            </a:pPr>
            <a:r>
              <a:rPr lang="en-US" sz="1300" dirty="0">
                <a:solidFill>
                  <a:srgbClr val="22272B"/>
                </a:solidFill>
                <a:latin typeface="Courier New" pitchFamily="49" charset="0"/>
                <a:ea typeface="Courier New" pitchFamily="49" charset="-122"/>
                <a:cs typeface="Courier New" pitchFamily="49" charset="-120"/>
              </a:rPr>
              <a:t>(automatic)</a:t>
            </a:r>
            <a:endParaRPr lang="en-US" sz="1300" dirty="0"/>
          </a:p>
        </p:txBody>
      </p:sp>
      <p:sp>
        <p:nvSpPr>
          <p:cNvPr id="14" name="Text 12"/>
          <p:cNvSpPr/>
          <p:nvPr/>
        </p:nvSpPr>
        <p:spPr>
          <a:xfrm>
            <a:off x="3721100" y="2756991"/>
            <a:ext cx="2138744"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64C"/>
                </a:solidFill>
                <a:latin typeface="Arial" pitchFamily="34" charset="0"/>
                <a:ea typeface="Arial" pitchFamily="34" charset="-122"/>
                <a:cs typeface="Arial" pitchFamily="34" charset="-120"/>
              </a:rPr>
              <a:t>Update 5–15 topic notes and the data tables; log conflicts.</a:t>
            </a:r>
            <a:endParaRPr lang="en-US" sz="1400" dirty="0"/>
          </a:p>
        </p:txBody>
      </p:sp>
      <p:sp>
        <p:nvSpPr>
          <p:cNvPr id="15" name="Shape 13"/>
          <p:cNvSpPr/>
          <p:nvPr/>
        </p:nvSpPr>
        <p:spPr>
          <a:xfrm>
            <a:off x="6162675" y="1740495"/>
            <a:ext cx="2540000" cy="1994793"/>
          </a:xfrm>
          <a:prstGeom prst="roundRect">
            <a:avLst>
              <a:gd name="adj" fmla="val 3661"/>
            </a:avLst>
          </a:prstGeom>
          <a:solidFill>
            <a:srgbClr val="F4F8FC"/>
          </a:solidFill>
          <a:ln w="6350">
            <a:solidFill>
              <a:srgbClr val="C9D7E8"/>
            </a:solidFill>
            <a:prstDash val="solid"/>
          </a:ln>
        </p:spPr>
      </p:sp>
      <p:sp>
        <p:nvSpPr>
          <p:cNvPr id="16" name="Text 14"/>
          <p:cNvSpPr/>
          <p:nvPr/>
        </p:nvSpPr>
        <p:spPr>
          <a:xfrm>
            <a:off x="6394450" y="1972270"/>
            <a:ext cx="213874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70C0"/>
                </a:solidFill>
                <a:latin typeface="Arial" pitchFamily="34" charset="0"/>
                <a:ea typeface="Arial" pitchFamily="34" charset="-122"/>
                <a:cs typeface="Arial" pitchFamily="34" charset="-120"/>
              </a:rPr>
              <a:t>3 · Lint</a:t>
            </a:r>
            <a:endParaRPr lang="en-US" sz="1400" dirty="0"/>
          </a:p>
        </p:txBody>
      </p:sp>
      <p:sp>
        <p:nvSpPr>
          <p:cNvPr id="17" name="Text 15"/>
          <p:cNvSpPr/>
          <p:nvPr/>
        </p:nvSpPr>
        <p:spPr>
          <a:xfrm>
            <a:off x="6394450" y="2322711"/>
            <a:ext cx="2076450" cy="332680"/>
          </a:xfrm>
          <a:prstGeom prst="roundRect">
            <a:avLst>
              <a:gd name="adj" fmla="val 11452"/>
            </a:avLst>
          </a:prstGeom>
          <a:solidFill>
            <a:srgbClr val="EEF3F9"/>
          </a:solidFill>
          <a:ln/>
        </p:spPr>
        <p:txBody>
          <a:bodyPr wrap="square" lIns="65041" tIns="39641" rIns="7319" bIns="14241" rtlCol="0" anchor="t">
            <a:normAutofit/>
          </a:bodyPr>
          <a:lstStyle/>
          <a:p>
            <a:pPr algn="l" indent="0" marL="0">
              <a:lnSpc>
                <a:spcPts val="1820"/>
              </a:lnSpc>
              <a:buNone/>
            </a:pPr>
            <a:r>
              <a:rPr lang="en-US" sz="1300" dirty="0">
                <a:solidFill>
                  <a:srgbClr val="22272B"/>
                </a:solidFill>
                <a:latin typeface="Courier New" pitchFamily="49" charset="0"/>
                <a:ea typeface="Courier New" pitchFamily="49" charset="-122"/>
                <a:cs typeface="Courier New" pitchFamily="49" charset="-120"/>
              </a:rPr>
              <a:t>lint</a:t>
            </a:r>
            <a:endParaRPr lang="en-US" sz="1300" dirty="0"/>
          </a:p>
        </p:txBody>
      </p:sp>
      <p:sp>
        <p:nvSpPr>
          <p:cNvPr id="18" name="Text 16"/>
          <p:cNvSpPr/>
          <p:nvPr/>
        </p:nvSpPr>
        <p:spPr>
          <a:xfrm>
            <a:off x="6394450" y="2756991"/>
            <a:ext cx="2138744"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64C"/>
                </a:solidFill>
                <a:latin typeface="Arial" pitchFamily="34" charset="0"/>
                <a:ea typeface="Arial" pitchFamily="34" charset="-122"/>
                <a:cs typeface="Arial" pitchFamily="34" charset="-120"/>
              </a:rPr>
              <a:t>Broken links, orphan pages, uncited claims, missing topics.</a:t>
            </a:r>
            <a:endParaRPr lang="en-US" sz="1400" dirty="0"/>
          </a:p>
        </p:txBody>
      </p:sp>
      <p:sp>
        <p:nvSpPr>
          <p:cNvPr id="19" name="Shape 17"/>
          <p:cNvSpPr/>
          <p:nvPr/>
        </p:nvSpPr>
        <p:spPr>
          <a:xfrm>
            <a:off x="8836025" y="1740495"/>
            <a:ext cx="2540000" cy="1994793"/>
          </a:xfrm>
          <a:prstGeom prst="roundRect">
            <a:avLst>
              <a:gd name="adj" fmla="val 3661"/>
            </a:avLst>
          </a:prstGeom>
          <a:solidFill>
            <a:srgbClr val="F4F8FC"/>
          </a:solidFill>
          <a:ln w="6350">
            <a:solidFill>
              <a:srgbClr val="C9D7E8"/>
            </a:solidFill>
            <a:prstDash val="solid"/>
          </a:ln>
        </p:spPr>
      </p:sp>
      <p:sp>
        <p:nvSpPr>
          <p:cNvPr id="20" name="Text 18"/>
          <p:cNvSpPr/>
          <p:nvPr/>
        </p:nvSpPr>
        <p:spPr>
          <a:xfrm>
            <a:off x="9067800" y="1972270"/>
            <a:ext cx="213874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70C0"/>
                </a:solidFill>
                <a:latin typeface="Arial" pitchFamily="34" charset="0"/>
                <a:ea typeface="Arial" pitchFamily="34" charset="-122"/>
                <a:cs typeface="Arial" pitchFamily="34" charset="-120"/>
              </a:rPr>
              <a:t>4 · Query and draft</a:t>
            </a:r>
            <a:endParaRPr lang="en-US" sz="1400" dirty="0"/>
          </a:p>
        </p:txBody>
      </p:sp>
      <p:sp>
        <p:nvSpPr>
          <p:cNvPr id="21" name="Text 19"/>
          <p:cNvSpPr/>
          <p:nvPr/>
        </p:nvSpPr>
        <p:spPr>
          <a:xfrm>
            <a:off x="9067800" y="2322711"/>
            <a:ext cx="2076450" cy="332680"/>
          </a:xfrm>
          <a:prstGeom prst="roundRect">
            <a:avLst>
              <a:gd name="adj" fmla="val 11452"/>
            </a:avLst>
          </a:prstGeom>
          <a:solidFill>
            <a:srgbClr val="EEF3F9"/>
          </a:solidFill>
          <a:ln/>
        </p:spPr>
        <p:txBody>
          <a:bodyPr wrap="square" lIns="65041" tIns="39641" rIns="7319" bIns="14241" rtlCol="0" anchor="t">
            <a:normAutofit/>
          </a:bodyPr>
          <a:lstStyle/>
          <a:p>
            <a:pPr algn="l" indent="0" marL="0">
              <a:lnSpc>
                <a:spcPts val="1820"/>
              </a:lnSpc>
              <a:buNone/>
            </a:pPr>
            <a:r>
              <a:rPr lang="en-US" sz="1300" dirty="0">
                <a:solidFill>
                  <a:srgbClr val="22272B"/>
                </a:solidFill>
                <a:latin typeface="Courier New" pitchFamily="49" charset="0"/>
                <a:ea typeface="Courier New" pitchFamily="49" charset="-122"/>
                <a:cs typeface="Courier New" pitchFamily="49" charset="-120"/>
              </a:rPr>
              <a:t>draft chapter 5</a:t>
            </a:r>
            <a:endParaRPr lang="en-US" sz="1300" dirty="0"/>
          </a:p>
        </p:txBody>
      </p:sp>
      <p:sp>
        <p:nvSpPr>
          <p:cNvPr id="22" name="Text 20"/>
          <p:cNvSpPr/>
          <p:nvPr/>
        </p:nvSpPr>
        <p:spPr>
          <a:xfrm>
            <a:off x="9067800" y="2756991"/>
            <a:ext cx="2138744"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64C"/>
                </a:solidFill>
                <a:latin typeface="Arial" pitchFamily="34" charset="0"/>
                <a:ea typeface="Arial" pitchFamily="34" charset="-122"/>
                <a:cs typeface="Arial" pitchFamily="34" charset="-120"/>
              </a:rPr>
              <a:t>Answers and review prose that cite source notes only.</a:t>
            </a:r>
            <a:endParaRPr lang="en-US" sz="1400" dirty="0"/>
          </a:p>
        </p:txBody>
      </p:sp>
      <p:sp>
        <p:nvSpPr>
          <p:cNvPr id="23" name="Text 21"/>
          <p:cNvSpPr/>
          <p:nvPr/>
        </p:nvSpPr>
        <p:spPr>
          <a:xfrm>
            <a:off x="812800" y="4094063"/>
            <a:ext cx="10464800" cy="3199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E464C"/>
                </a:solidFill>
                <a:latin typeface="Arial" pitchFamily="34" charset="0"/>
                <a:ea typeface="Arial" pitchFamily="34" charset="-122"/>
                <a:cs typeface="Arial" pitchFamily="34" charset="-120"/>
              </a:rPr>
              <a:t>Each operation is defined in the schema, so the same command gives the same procedure in every session.</a:t>
            </a:r>
            <a:endParaRPr lang="en-US" sz="1600" dirty="0"/>
          </a:p>
        </p:txBody>
      </p:sp>
      <p:sp>
        <p:nvSpPr>
          <p:cNvPr id="24" name="Text 22"/>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8"/>
                </a:solidFill>
                <a:latin typeface="Arial" pitchFamily="34" charset="0"/>
                <a:ea typeface="Arial" pitchFamily="34" charset="-122"/>
                <a:cs typeface="Arial" pitchFamily="34" charset="-120"/>
              </a:rPr>
              <a:t>Part A · Workflow</a:t>
            </a:r>
            <a:endParaRPr lang="en-US" sz="1200" dirty="0"/>
          </a:p>
        </p:txBody>
      </p:sp>
      <p:sp>
        <p:nvSpPr>
          <p:cNvPr id="25" name="Shape 23"/>
          <p:cNvSpPr/>
          <p:nvPr/>
        </p:nvSpPr>
        <p:spPr>
          <a:xfrm>
            <a:off x="0" y="6350000"/>
            <a:ext cx="12192000" cy="12700"/>
          </a:xfrm>
          <a:prstGeom prst="rect">
            <a:avLst/>
          </a:prstGeom>
          <a:solidFill>
            <a:srgbClr val="A6A6A6"/>
          </a:solidFill>
          <a:ln/>
        </p:spPr>
      </p:sp>
      <p:sp>
        <p:nvSpPr>
          <p:cNvPr id="26" name="Text 24"/>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27" name="Text 25"/>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8</a:t>
            </a:r>
            <a:endParaRPr lang="en-US" sz="1500" dirty="0"/>
          </a:p>
        </p:txBody>
      </p:sp>
      <p:pic>
        <p:nvPicPr>
          <p:cNvPr id="28" name="Image 0" descr="preencoded.png">    </p:cNvPr>
          <p:cNvPicPr>
            <a:picLocks noChangeAspect="1"/>
          </p:cNvPicPr>
          <p:nvPr/>
        </p:nvPicPr>
        <p:blipFill>
          <a:blip r:embed="rId1">
            <a:alphaModFix amt="60000"/>
          </a:blip>
          <a:srcRect l="0" r="0" t="0" b="0"/>
          <a:stretch/>
        </p:blipFill>
        <p:spPr>
          <a:xfrm>
            <a:off x="11468100" y="6400800"/>
            <a:ext cx="431800" cy="431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A: LLM wiki setup</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1.6. What one paper turns into</a:t>
            </a:r>
            <a:endParaRPr lang="en-US" sz="2800" dirty="0"/>
          </a:p>
        </p:txBody>
      </p:sp>
      <p:sp>
        <p:nvSpPr>
          <p:cNvPr id="7" name="Shape 5"/>
          <p:cNvSpPr/>
          <p:nvPr/>
        </p:nvSpPr>
        <p:spPr>
          <a:xfrm>
            <a:off x="815975" y="1689695"/>
            <a:ext cx="5616773" cy="3188891"/>
          </a:xfrm>
          <a:prstGeom prst="roundRect">
            <a:avLst>
              <a:gd name="adj" fmla="val 2290"/>
            </a:avLst>
          </a:prstGeom>
          <a:solidFill>
            <a:srgbClr val="F4F8FC"/>
          </a:solidFill>
          <a:ln w="6350">
            <a:solidFill>
              <a:srgbClr val="C9D7E8"/>
            </a:solidFill>
            <a:prstDash val="solid"/>
          </a:ln>
        </p:spPr>
      </p:sp>
      <p:sp>
        <p:nvSpPr>
          <p:cNvPr id="8" name="Text 6"/>
          <p:cNvSpPr/>
          <p:nvPr/>
        </p:nvSpPr>
        <p:spPr>
          <a:xfrm>
            <a:off x="1073150" y="1946870"/>
            <a:ext cx="525549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B7378"/>
                </a:solidFill>
                <a:latin typeface="Arial" pitchFamily="34" charset="0"/>
                <a:ea typeface="Arial" pitchFamily="34" charset="-122"/>
                <a:cs typeface="Arial" pitchFamily="34" charset="-120"/>
              </a:rPr>
              <a:t>Example: Li et al. 2002, PVA-ECC interface tailoring</a:t>
            </a:r>
            <a:endParaRPr lang="en-US" sz="1400" dirty="0"/>
          </a:p>
        </p:txBody>
      </p:sp>
      <p:sp>
        <p:nvSpPr>
          <p:cNvPr id="9" name="Text 7"/>
          <p:cNvSpPr/>
          <p:nvPr/>
        </p:nvSpPr>
        <p:spPr>
          <a:xfrm>
            <a:off x="1073150" y="2322711"/>
            <a:ext cx="525549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2272B"/>
                </a:solidFill>
                <a:latin typeface="Arial" pitchFamily="34" charset="0"/>
                <a:ea typeface="Arial" pitchFamily="34" charset="-122"/>
                <a:cs typeface="Arial" pitchFamily="34" charset="-120"/>
              </a:rPr>
              <a:t>The source note holds</a:t>
            </a:r>
            <a:endParaRPr lang="en-US" sz="1800" dirty="0"/>
          </a:p>
        </p:txBody>
      </p:sp>
      <p:sp>
        <p:nvSpPr>
          <p:cNvPr id="10" name="Text 8"/>
          <p:cNvSpPr/>
          <p:nvPr/>
        </p:nvSpPr>
        <p:spPr>
          <a:xfrm>
            <a:off x="1156970" y="2723952"/>
            <a:ext cx="5164056" cy="1682750"/>
          </a:xfrm>
          <a:prstGeom prst="rect">
            <a:avLst/>
          </a:prstGeom>
          <a:noFill/>
          <a:ln/>
        </p:spPr>
        <p:txBody>
          <a:bodyPr wrap="square" lIns="0" tIns="0" rIns="0" bIns="0" rtlCol="0" anchor="t">
            <a:normAutofit/>
          </a:bodyPr>
          <a:lstStyle/>
          <a:p>
            <a:pPr algn="l" marL="170180" indent="-170180">
              <a:lnSpc>
                <a:spcPts val="2175"/>
              </a:lnSpc>
              <a:buSzPct val="100000"/>
              <a:buChar char="•"/>
            </a:pPr>
            <a:r>
              <a:rPr lang="en-US" sz="1500" dirty="0">
                <a:solidFill>
                  <a:srgbClr val="3E464C"/>
                </a:solidFill>
                <a:latin typeface="Arial" pitchFamily="34" charset="0"/>
                <a:ea typeface="Arial" pitchFamily="34" charset="-122"/>
                <a:cs typeface="Arial" pitchFamily="34" charset="-120"/>
              </a:rPr>
              <a:t>Bibliography, material term used by the authors</a:t>
            </a:r>
            <a:endParaRPr lang="en-US" sz="1500" dirty="0"/>
          </a:p>
          <a:p>
            <a:pPr algn="l" marL="170180" indent="-170180">
              <a:lnSpc>
                <a:spcPts val="2175"/>
              </a:lnSpc>
              <a:buSzPct val="100000"/>
              <a:buChar char="•"/>
            </a:pPr>
            <a:r>
              <a:rPr lang="en-US" sz="1500" dirty="0">
                <a:solidFill>
                  <a:srgbClr val="3E464C"/>
                </a:solidFill>
                <a:latin typeface="Arial" pitchFamily="34" charset="0"/>
                <a:ea typeface="Arial" pitchFamily="34" charset="-122"/>
                <a:cs typeface="Arial" pitchFamily="34" charset="-120"/>
              </a:rPr>
              <a:t>Mix design and fiber properties</a:t>
            </a:r>
            <a:endParaRPr lang="en-US" sz="1500" dirty="0"/>
          </a:p>
          <a:p>
            <a:pPr algn="l" marL="170180" indent="-170180">
              <a:lnSpc>
                <a:spcPts val="2175"/>
              </a:lnSpc>
              <a:buSzPct val="100000"/>
              <a:buChar char="•"/>
            </a:pPr>
            <a:r>
              <a:rPr lang="en-US" sz="1500" dirty="0">
                <a:solidFill>
                  <a:srgbClr val="3E464C"/>
                </a:solidFill>
                <a:latin typeface="Arial" pitchFamily="34" charset="0"/>
                <a:ea typeface="Arial" pitchFamily="34" charset="-122"/>
                <a:cs typeface="Arial" pitchFamily="34" charset="-120"/>
              </a:rPr>
              <a:t>Test methods, curing and age</a:t>
            </a:r>
            <a:endParaRPr lang="en-US" sz="1500" dirty="0"/>
          </a:p>
          <a:p>
            <a:pPr algn="l" marL="170180" indent="-170180">
              <a:lnSpc>
                <a:spcPts val="2175"/>
              </a:lnSpc>
              <a:buSzPct val="100000"/>
              <a:buChar char="•"/>
            </a:pPr>
            <a:r>
              <a:rPr lang="en-US" sz="1500" dirty="0">
                <a:solidFill>
                  <a:srgbClr val="3E464C"/>
                </a:solidFill>
                <a:latin typeface="Arial" pitchFamily="34" charset="0"/>
                <a:ea typeface="Arial" pitchFamily="34" charset="-122"/>
                <a:cs typeface="Arial" pitchFamily="34" charset="-120"/>
              </a:rPr>
              <a:t>Results with table and figure numbers</a:t>
            </a:r>
            <a:endParaRPr lang="en-US" sz="1500" dirty="0"/>
          </a:p>
          <a:p>
            <a:pPr algn="l" marL="170180" indent="-170180">
              <a:lnSpc>
                <a:spcPts val="2175"/>
              </a:lnSpc>
              <a:buSzPct val="100000"/>
              <a:buChar char="•"/>
            </a:pPr>
            <a:r>
              <a:rPr lang="en-US" sz="1500" dirty="0">
                <a:solidFill>
                  <a:srgbClr val="3E464C"/>
                </a:solidFill>
                <a:latin typeface="Arial" pitchFamily="34" charset="0"/>
                <a:ea typeface="Arial" pitchFamily="34" charset="-122"/>
                <a:cs typeface="Arial" pitchFamily="34" charset="-120"/>
              </a:rPr>
              <a:t>Mechanisms, limitations, relation to other papers</a:t>
            </a:r>
            <a:endParaRPr lang="en-US" sz="1500" dirty="0"/>
          </a:p>
          <a:p>
            <a:pPr algn="l" marL="170180" indent="-170180">
              <a:lnSpc>
                <a:spcPts val="2175"/>
              </a:lnSpc>
              <a:buSzPct val="100000"/>
              <a:buChar char="•"/>
            </a:pPr>
            <a:r>
              <a:rPr lang="en-US" sz="1500" dirty="0">
                <a:solidFill>
                  <a:srgbClr val="3E464C"/>
                </a:solidFill>
                <a:latin typeface="Arial" pitchFamily="34" charset="0"/>
                <a:ea typeface="Arial" pitchFamily="34" charset="-122"/>
                <a:cs typeface="Arial" pitchFamily="34" charset="-120"/>
              </a:rPr>
              <a:t>A checklist of items to verify</a:t>
            </a:r>
            <a:endParaRPr lang="en-US" sz="1500" dirty="0"/>
          </a:p>
        </p:txBody>
      </p:sp>
      <p:sp>
        <p:nvSpPr>
          <p:cNvPr id="11" name="Shape 9"/>
          <p:cNvSpPr/>
          <p:nvPr/>
        </p:nvSpPr>
        <p:spPr>
          <a:xfrm>
            <a:off x="6740723" y="1686520"/>
            <a:ext cx="2243038" cy="1521420"/>
          </a:xfrm>
          <a:prstGeom prst="roundRect">
            <a:avLst>
              <a:gd name="adj" fmla="val 5008"/>
            </a:avLst>
          </a:prstGeom>
          <a:solidFill>
            <a:srgbClr val="EEF3F9"/>
          </a:solidFill>
          <a:ln/>
        </p:spPr>
      </p:sp>
      <p:sp>
        <p:nvSpPr>
          <p:cNvPr id="12" name="Text 10"/>
          <p:cNvSpPr/>
          <p:nvPr/>
        </p:nvSpPr>
        <p:spPr>
          <a:xfrm>
            <a:off x="6943923" y="1889720"/>
            <a:ext cx="189173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F4E79"/>
                </a:solidFill>
                <a:latin typeface="Arial" pitchFamily="34" charset="0"/>
                <a:ea typeface="Arial" pitchFamily="34" charset="-122"/>
                <a:cs typeface="Arial" pitchFamily="34" charset="-120"/>
              </a:rPr>
              <a:t>12</a:t>
            </a:r>
            <a:endParaRPr lang="en-US" sz="4800" dirty="0"/>
          </a:p>
        </p:txBody>
      </p:sp>
      <p:sp>
        <p:nvSpPr>
          <p:cNvPr id="13" name="Text 11"/>
          <p:cNvSpPr/>
          <p:nvPr/>
        </p:nvSpPr>
        <p:spPr>
          <a:xfrm>
            <a:off x="6943923" y="2524720"/>
            <a:ext cx="1891737"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E464C"/>
                </a:solidFill>
                <a:latin typeface="Arial" pitchFamily="34" charset="0"/>
                <a:ea typeface="Arial" pitchFamily="34" charset="-122"/>
                <a:cs typeface="Arial" pitchFamily="34" charset="-120"/>
              </a:rPr>
              <a:t>topic notes updated or created</a:t>
            </a:r>
            <a:endParaRPr lang="en-US" sz="1400" dirty="0"/>
          </a:p>
        </p:txBody>
      </p:sp>
      <p:sp>
        <p:nvSpPr>
          <p:cNvPr id="14" name="Shape 12"/>
          <p:cNvSpPr/>
          <p:nvPr/>
        </p:nvSpPr>
        <p:spPr>
          <a:xfrm>
            <a:off x="9136162" y="1686520"/>
            <a:ext cx="2243038" cy="1521420"/>
          </a:xfrm>
          <a:prstGeom prst="roundRect">
            <a:avLst>
              <a:gd name="adj" fmla="val 5008"/>
            </a:avLst>
          </a:prstGeom>
          <a:solidFill>
            <a:srgbClr val="EEF3F9"/>
          </a:solidFill>
          <a:ln/>
        </p:spPr>
      </p:sp>
      <p:sp>
        <p:nvSpPr>
          <p:cNvPr id="15" name="Text 13"/>
          <p:cNvSpPr/>
          <p:nvPr/>
        </p:nvSpPr>
        <p:spPr>
          <a:xfrm>
            <a:off x="9339362" y="1889720"/>
            <a:ext cx="189173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F4E79"/>
                </a:solidFill>
                <a:latin typeface="Arial" pitchFamily="34" charset="0"/>
                <a:ea typeface="Arial" pitchFamily="34" charset="-122"/>
                <a:cs typeface="Arial" pitchFamily="34" charset="-120"/>
              </a:rPr>
              <a:t>11</a:t>
            </a:r>
            <a:endParaRPr lang="en-US" sz="4800" dirty="0"/>
          </a:p>
        </p:txBody>
      </p:sp>
      <p:sp>
        <p:nvSpPr>
          <p:cNvPr id="16" name="Text 14"/>
          <p:cNvSpPr/>
          <p:nvPr/>
        </p:nvSpPr>
        <p:spPr>
          <a:xfrm>
            <a:off x="9339362" y="2524720"/>
            <a:ext cx="1891737"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E464C"/>
                </a:solidFill>
                <a:latin typeface="Arial" pitchFamily="34" charset="0"/>
                <a:ea typeface="Arial" pitchFamily="34" charset="-122"/>
                <a:cs typeface="Arial" pitchFamily="34" charset="-120"/>
              </a:rPr>
              <a:t>rows added to the data tables</a:t>
            </a:r>
            <a:endParaRPr lang="en-US" sz="1400" dirty="0"/>
          </a:p>
        </p:txBody>
      </p:sp>
      <p:sp>
        <p:nvSpPr>
          <p:cNvPr id="17" name="Shape 15"/>
          <p:cNvSpPr/>
          <p:nvPr/>
        </p:nvSpPr>
        <p:spPr>
          <a:xfrm>
            <a:off x="6740723" y="3360341"/>
            <a:ext cx="2243038" cy="1521420"/>
          </a:xfrm>
          <a:prstGeom prst="roundRect">
            <a:avLst>
              <a:gd name="adj" fmla="val 5008"/>
            </a:avLst>
          </a:prstGeom>
          <a:solidFill>
            <a:srgbClr val="EEF3F9"/>
          </a:solidFill>
          <a:ln/>
        </p:spPr>
      </p:sp>
      <p:sp>
        <p:nvSpPr>
          <p:cNvPr id="18" name="Text 16"/>
          <p:cNvSpPr/>
          <p:nvPr/>
        </p:nvSpPr>
        <p:spPr>
          <a:xfrm>
            <a:off x="6943923" y="3563541"/>
            <a:ext cx="189173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F4E79"/>
                </a:solidFill>
                <a:latin typeface="Arial" pitchFamily="34" charset="0"/>
                <a:ea typeface="Arial" pitchFamily="34" charset="-122"/>
                <a:cs typeface="Arial" pitchFamily="34" charset="-120"/>
              </a:rPr>
              <a:t>2</a:t>
            </a:r>
            <a:endParaRPr lang="en-US" sz="4800" dirty="0"/>
          </a:p>
        </p:txBody>
      </p:sp>
      <p:sp>
        <p:nvSpPr>
          <p:cNvPr id="19" name="Text 17"/>
          <p:cNvSpPr/>
          <p:nvPr/>
        </p:nvSpPr>
        <p:spPr>
          <a:xfrm>
            <a:off x="6943923" y="4198541"/>
            <a:ext cx="1891737"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E464C"/>
                </a:solidFill>
                <a:latin typeface="Arial" pitchFamily="34" charset="0"/>
                <a:ea typeface="Arial" pitchFamily="34" charset="-122"/>
                <a:cs typeface="Arial" pitchFamily="34" charset="-120"/>
              </a:rPr>
              <a:t>conflicts or refinements logged</a:t>
            </a:r>
            <a:endParaRPr lang="en-US" sz="1400" dirty="0"/>
          </a:p>
        </p:txBody>
      </p:sp>
      <p:sp>
        <p:nvSpPr>
          <p:cNvPr id="20" name="Shape 18"/>
          <p:cNvSpPr/>
          <p:nvPr/>
        </p:nvSpPr>
        <p:spPr>
          <a:xfrm>
            <a:off x="9136162" y="3360341"/>
            <a:ext cx="2243038" cy="1521420"/>
          </a:xfrm>
          <a:prstGeom prst="roundRect">
            <a:avLst>
              <a:gd name="adj" fmla="val 5008"/>
            </a:avLst>
          </a:prstGeom>
          <a:solidFill>
            <a:srgbClr val="EEF3F9"/>
          </a:solidFill>
          <a:ln/>
        </p:spPr>
      </p:sp>
      <p:sp>
        <p:nvSpPr>
          <p:cNvPr id="21" name="Text 19"/>
          <p:cNvSpPr/>
          <p:nvPr/>
        </p:nvSpPr>
        <p:spPr>
          <a:xfrm>
            <a:off x="9339362" y="3563541"/>
            <a:ext cx="189173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F4E79"/>
                </a:solidFill>
                <a:latin typeface="Arial" pitchFamily="34" charset="0"/>
                <a:ea typeface="Arial" pitchFamily="34" charset="-122"/>
                <a:cs typeface="Arial" pitchFamily="34" charset="-120"/>
              </a:rPr>
              <a:t>8</a:t>
            </a:r>
            <a:endParaRPr lang="en-US" sz="4800" dirty="0"/>
          </a:p>
        </p:txBody>
      </p:sp>
      <p:sp>
        <p:nvSpPr>
          <p:cNvPr id="22" name="Text 20"/>
          <p:cNvSpPr/>
          <p:nvPr/>
        </p:nvSpPr>
        <p:spPr>
          <a:xfrm>
            <a:off x="9339362" y="4198541"/>
            <a:ext cx="1891737"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E464C"/>
                </a:solidFill>
                <a:latin typeface="Arial" pitchFamily="34" charset="0"/>
                <a:ea typeface="Arial" pitchFamily="34" charset="-122"/>
                <a:cs typeface="Arial" pitchFamily="34" charset="-120"/>
              </a:rPr>
              <a:t>items flagged for me to verify</a:t>
            </a:r>
            <a:endParaRPr lang="en-US" sz="1400" dirty="0"/>
          </a:p>
        </p:txBody>
      </p:sp>
      <p:sp>
        <p:nvSpPr>
          <p:cNvPr id="23" name="Text 21"/>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8"/>
                </a:solidFill>
                <a:latin typeface="Arial" pitchFamily="34" charset="0"/>
                <a:ea typeface="Arial" pitchFamily="34" charset="-122"/>
                <a:cs typeface="Arial" pitchFamily="34" charset="-120"/>
              </a:rPr>
              <a:t>Part A · One ingest · source: wiki/log.md</a:t>
            </a:r>
            <a:endParaRPr lang="en-US" sz="1200" dirty="0"/>
          </a:p>
        </p:txBody>
      </p:sp>
      <p:sp>
        <p:nvSpPr>
          <p:cNvPr id="24" name="Shape 22"/>
          <p:cNvSpPr/>
          <p:nvPr/>
        </p:nvSpPr>
        <p:spPr>
          <a:xfrm>
            <a:off x="0" y="6350000"/>
            <a:ext cx="12192000" cy="12700"/>
          </a:xfrm>
          <a:prstGeom prst="rect">
            <a:avLst/>
          </a:prstGeom>
          <a:solidFill>
            <a:srgbClr val="A6A6A6"/>
          </a:solidFill>
          <a:ln/>
        </p:spPr>
      </p:sp>
      <p:sp>
        <p:nvSpPr>
          <p:cNvPr id="25" name="Text 23"/>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26" name="Text 24"/>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9</a:t>
            </a:r>
            <a:endParaRPr lang="en-US" sz="1500" dirty="0"/>
          </a:p>
        </p:txBody>
      </p:sp>
      <p:pic>
        <p:nvPicPr>
          <p:cNvPr id="27" name="Image 0" descr="preencoded.png">    </p:cNvPr>
          <p:cNvPicPr>
            <a:picLocks noChangeAspect="1"/>
          </p:cNvPicPr>
          <p:nvPr/>
        </p:nvPicPr>
        <p:blipFill>
          <a:blip r:embed="rId1">
            <a:alphaModFix amt="60000"/>
          </a:blip>
          <a:srcRect l="0" r="0" t="0" b="0"/>
          <a:stretch/>
        </p:blipFill>
        <p:spPr>
          <a:xfrm>
            <a:off x="11468100" y="6400800"/>
            <a:ext cx="431800" cy="431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A: LLM wiki setup</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2265065"/>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1.7. From 11 papers to a connected knowledge base</a:t>
            </a:r>
            <a:endParaRPr lang="en-US" sz="2800" dirty="0"/>
          </a:p>
        </p:txBody>
      </p:sp>
      <p:sp>
        <p:nvSpPr>
          <p:cNvPr id="7" name="Shape 5"/>
          <p:cNvSpPr/>
          <p:nvPr/>
        </p:nvSpPr>
        <p:spPr>
          <a:xfrm>
            <a:off x="812800" y="3126085"/>
            <a:ext cx="1991320" cy="0"/>
          </a:xfrm>
          <a:prstGeom prst="line">
            <a:avLst/>
          </a:prstGeom>
          <a:noFill/>
          <a:ln w="25400">
            <a:solidFill>
              <a:srgbClr val="0070C0"/>
            </a:solidFill>
            <a:prstDash val="solid"/>
          </a:ln>
        </p:spPr>
      </p:sp>
      <p:sp>
        <p:nvSpPr>
          <p:cNvPr id="8" name="Text 6"/>
          <p:cNvSpPr/>
          <p:nvPr/>
        </p:nvSpPr>
        <p:spPr>
          <a:xfrm>
            <a:off x="812800" y="3291185"/>
            <a:ext cx="205106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F4E79"/>
                </a:solidFill>
                <a:latin typeface="Arial" pitchFamily="34" charset="0"/>
                <a:ea typeface="Arial" pitchFamily="34" charset="-122"/>
                <a:cs typeface="Arial" pitchFamily="34" charset="-120"/>
              </a:rPr>
              <a:t>11</a:t>
            </a:r>
            <a:endParaRPr lang="en-US" sz="4800" dirty="0"/>
          </a:p>
        </p:txBody>
      </p:sp>
      <p:sp>
        <p:nvSpPr>
          <p:cNvPr id="9" name="Text 7"/>
          <p:cNvSpPr/>
          <p:nvPr/>
        </p:nvSpPr>
        <p:spPr>
          <a:xfrm>
            <a:off x="812800" y="3951585"/>
            <a:ext cx="205106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E464C"/>
                </a:solidFill>
                <a:latin typeface="Arial" pitchFamily="34" charset="0"/>
                <a:ea typeface="Arial" pitchFamily="34" charset="-122"/>
                <a:cs typeface="Arial" pitchFamily="34" charset="-120"/>
              </a:rPr>
              <a:t>papers read in full</a:t>
            </a:r>
            <a:endParaRPr lang="en-US" sz="1500" dirty="0"/>
          </a:p>
        </p:txBody>
      </p:sp>
      <p:sp>
        <p:nvSpPr>
          <p:cNvPr id="10" name="Shape 8"/>
          <p:cNvSpPr/>
          <p:nvPr/>
        </p:nvSpPr>
        <p:spPr>
          <a:xfrm>
            <a:off x="2956520" y="3126085"/>
            <a:ext cx="1991420" cy="0"/>
          </a:xfrm>
          <a:prstGeom prst="line">
            <a:avLst/>
          </a:prstGeom>
          <a:noFill/>
          <a:ln w="25400">
            <a:solidFill>
              <a:srgbClr val="0070C0"/>
            </a:solidFill>
            <a:prstDash val="solid"/>
          </a:ln>
        </p:spPr>
      </p:sp>
      <p:sp>
        <p:nvSpPr>
          <p:cNvPr id="11" name="Text 9"/>
          <p:cNvSpPr/>
          <p:nvPr/>
        </p:nvSpPr>
        <p:spPr>
          <a:xfrm>
            <a:off x="2956520" y="3291185"/>
            <a:ext cx="205116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F4E79"/>
                </a:solidFill>
                <a:latin typeface="Arial" pitchFamily="34" charset="0"/>
                <a:ea typeface="Arial" pitchFamily="34" charset="-122"/>
                <a:cs typeface="Arial" pitchFamily="34" charset="-120"/>
              </a:rPr>
              <a:t>67</a:t>
            </a:r>
            <a:endParaRPr lang="en-US" sz="4800" dirty="0"/>
          </a:p>
        </p:txBody>
      </p:sp>
      <p:sp>
        <p:nvSpPr>
          <p:cNvPr id="12" name="Text 10"/>
          <p:cNvSpPr/>
          <p:nvPr/>
        </p:nvSpPr>
        <p:spPr>
          <a:xfrm>
            <a:off x="2956520" y="3951585"/>
            <a:ext cx="205116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E464C"/>
                </a:solidFill>
                <a:latin typeface="Arial" pitchFamily="34" charset="0"/>
                <a:ea typeface="Arial" pitchFamily="34" charset="-122"/>
                <a:cs typeface="Arial" pitchFamily="34" charset="-120"/>
              </a:rPr>
              <a:t>wiki notes</a:t>
            </a:r>
            <a:endParaRPr lang="en-US" sz="1500" dirty="0"/>
          </a:p>
        </p:txBody>
      </p:sp>
      <p:sp>
        <p:nvSpPr>
          <p:cNvPr id="13" name="Shape 11"/>
          <p:cNvSpPr/>
          <p:nvPr/>
        </p:nvSpPr>
        <p:spPr>
          <a:xfrm>
            <a:off x="5100340" y="3126085"/>
            <a:ext cx="1991320" cy="0"/>
          </a:xfrm>
          <a:prstGeom prst="line">
            <a:avLst/>
          </a:prstGeom>
          <a:noFill/>
          <a:ln w="25400">
            <a:solidFill>
              <a:srgbClr val="0070C0"/>
            </a:solidFill>
            <a:prstDash val="solid"/>
          </a:ln>
        </p:spPr>
      </p:sp>
      <p:sp>
        <p:nvSpPr>
          <p:cNvPr id="14" name="Text 12"/>
          <p:cNvSpPr/>
          <p:nvPr/>
        </p:nvSpPr>
        <p:spPr>
          <a:xfrm>
            <a:off x="5100340" y="3291185"/>
            <a:ext cx="205106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F4E79"/>
                </a:solidFill>
                <a:latin typeface="Arial" pitchFamily="34" charset="0"/>
                <a:ea typeface="Arial" pitchFamily="34" charset="-122"/>
                <a:cs typeface="Arial" pitchFamily="34" charset="-120"/>
              </a:rPr>
              <a:t>885</a:t>
            </a:r>
            <a:endParaRPr lang="en-US" sz="4800" dirty="0"/>
          </a:p>
        </p:txBody>
      </p:sp>
      <p:sp>
        <p:nvSpPr>
          <p:cNvPr id="15" name="Text 13"/>
          <p:cNvSpPr/>
          <p:nvPr/>
        </p:nvSpPr>
        <p:spPr>
          <a:xfrm>
            <a:off x="5100340" y="3951585"/>
            <a:ext cx="205106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E464C"/>
                </a:solidFill>
                <a:latin typeface="Arial" pitchFamily="34" charset="0"/>
                <a:ea typeface="Arial" pitchFamily="34" charset="-122"/>
                <a:cs typeface="Arial" pitchFamily="34" charset="-120"/>
              </a:rPr>
              <a:t>links between notes</a:t>
            </a:r>
            <a:endParaRPr lang="en-US" sz="1500" dirty="0"/>
          </a:p>
        </p:txBody>
      </p:sp>
      <p:sp>
        <p:nvSpPr>
          <p:cNvPr id="16" name="Shape 14"/>
          <p:cNvSpPr/>
          <p:nvPr/>
        </p:nvSpPr>
        <p:spPr>
          <a:xfrm>
            <a:off x="7244060" y="3126085"/>
            <a:ext cx="1991420" cy="0"/>
          </a:xfrm>
          <a:prstGeom prst="line">
            <a:avLst/>
          </a:prstGeom>
          <a:noFill/>
          <a:ln w="25400">
            <a:solidFill>
              <a:srgbClr val="0070C0"/>
            </a:solidFill>
            <a:prstDash val="solid"/>
          </a:ln>
        </p:spPr>
      </p:sp>
      <p:sp>
        <p:nvSpPr>
          <p:cNvPr id="17" name="Text 15"/>
          <p:cNvSpPr/>
          <p:nvPr/>
        </p:nvSpPr>
        <p:spPr>
          <a:xfrm>
            <a:off x="7244060" y="3291185"/>
            <a:ext cx="205116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F4E79"/>
                </a:solidFill>
                <a:latin typeface="Arial" pitchFamily="34" charset="0"/>
                <a:ea typeface="Arial" pitchFamily="34" charset="-122"/>
                <a:cs typeface="Arial" pitchFamily="34" charset="-120"/>
              </a:rPr>
              <a:t>44</a:t>
            </a:r>
            <a:endParaRPr lang="en-US" sz="4800" dirty="0"/>
          </a:p>
        </p:txBody>
      </p:sp>
      <p:sp>
        <p:nvSpPr>
          <p:cNvPr id="18" name="Text 16"/>
          <p:cNvSpPr/>
          <p:nvPr/>
        </p:nvSpPr>
        <p:spPr>
          <a:xfrm>
            <a:off x="7244060" y="3951585"/>
            <a:ext cx="205116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E464C"/>
                </a:solidFill>
                <a:latin typeface="Arial" pitchFamily="34" charset="0"/>
                <a:ea typeface="Arial" pitchFamily="34" charset="-122"/>
                <a:cs typeface="Arial" pitchFamily="34" charset="-120"/>
              </a:rPr>
              <a:t>rows of mechanical results</a:t>
            </a:r>
            <a:endParaRPr lang="en-US" sz="1500" dirty="0"/>
          </a:p>
        </p:txBody>
      </p:sp>
      <p:sp>
        <p:nvSpPr>
          <p:cNvPr id="19" name="Shape 17"/>
          <p:cNvSpPr/>
          <p:nvPr/>
        </p:nvSpPr>
        <p:spPr>
          <a:xfrm>
            <a:off x="9387880" y="3126085"/>
            <a:ext cx="1991320" cy="0"/>
          </a:xfrm>
          <a:prstGeom prst="line">
            <a:avLst/>
          </a:prstGeom>
          <a:noFill/>
          <a:ln w="25400">
            <a:solidFill>
              <a:srgbClr val="B8720C"/>
            </a:solidFill>
            <a:prstDash val="solid"/>
          </a:ln>
        </p:spPr>
      </p:sp>
      <p:sp>
        <p:nvSpPr>
          <p:cNvPr id="20" name="Text 18"/>
          <p:cNvSpPr/>
          <p:nvPr/>
        </p:nvSpPr>
        <p:spPr>
          <a:xfrm>
            <a:off x="9387880" y="3291185"/>
            <a:ext cx="205106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F4E79"/>
                </a:solidFill>
                <a:latin typeface="Arial" pitchFamily="34" charset="0"/>
                <a:ea typeface="Arial" pitchFamily="34" charset="-122"/>
                <a:cs typeface="Arial" pitchFamily="34" charset="-120"/>
              </a:rPr>
              <a:t>14</a:t>
            </a:r>
            <a:endParaRPr lang="en-US" sz="4800" dirty="0"/>
          </a:p>
        </p:txBody>
      </p:sp>
      <p:sp>
        <p:nvSpPr>
          <p:cNvPr id="21" name="Text 19"/>
          <p:cNvSpPr/>
          <p:nvPr/>
        </p:nvSpPr>
        <p:spPr>
          <a:xfrm>
            <a:off x="9387880" y="3951585"/>
            <a:ext cx="205106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E464C"/>
                </a:solidFill>
                <a:latin typeface="Arial" pitchFamily="34" charset="0"/>
                <a:ea typeface="Arial" pitchFamily="34" charset="-122"/>
                <a:cs typeface="Arial" pitchFamily="34" charset="-120"/>
              </a:rPr>
              <a:t>conflicts between papers logged</a:t>
            </a:r>
            <a:endParaRPr lang="en-US" sz="1500" dirty="0"/>
          </a:p>
        </p:txBody>
      </p:sp>
      <p:sp>
        <p:nvSpPr>
          <p:cNvPr id="22" name="Text 20"/>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5959"/>
                </a:solidFill>
                <a:latin typeface="Arial" pitchFamily="34" charset="0"/>
                <a:ea typeface="Arial" pitchFamily="34" charset="-122"/>
                <a:cs typeface="Arial" pitchFamily="34" charset="-120"/>
              </a:rPr>
              <a:t>Part A · Scale · counts from the site build, 16 Oct 2026</a:t>
            </a:r>
            <a:endParaRPr lang="en-US" sz="1200" dirty="0"/>
          </a:p>
        </p:txBody>
      </p:sp>
      <p:sp>
        <p:nvSpPr>
          <p:cNvPr id="23" name="Shape 21"/>
          <p:cNvSpPr/>
          <p:nvPr/>
        </p:nvSpPr>
        <p:spPr>
          <a:xfrm>
            <a:off x="0" y="6350000"/>
            <a:ext cx="12192000" cy="12700"/>
          </a:xfrm>
          <a:prstGeom prst="rect">
            <a:avLst/>
          </a:prstGeom>
          <a:solidFill>
            <a:srgbClr val="A6A6A6"/>
          </a:solidFill>
          <a:ln/>
        </p:spPr>
      </p:sp>
      <p:sp>
        <p:nvSpPr>
          <p:cNvPr id="24" name="Text 22"/>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25" name="Text 23"/>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10</a:t>
            </a:r>
            <a:endParaRPr lang="en-US" sz="1500" dirty="0"/>
          </a:p>
        </p:txBody>
      </p:sp>
      <p:pic>
        <p:nvPicPr>
          <p:cNvPr id="26" name="Image 0" descr="preencoded.png">    </p:cNvPr>
          <p:cNvPicPr>
            <a:picLocks noChangeAspect="1"/>
          </p:cNvPicPr>
          <p:nvPr/>
        </p:nvPicPr>
        <p:blipFill>
          <a:blip r:embed="rId1">
            <a:alphaModFix amt="60000"/>
          </a:blip>
          <a:srcRect l="0" r="0" t="0" b="0"/>
          <a:stretch/>
        </p:blipFill>
        <p:spPr>
          <a:xfrm>
            <a:off x="11468100" y="6400800"/>
            <a:ext cx="431800" cy="4318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A: LLM wiki setup</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1.8. What the checks actually caught</a:t>
            </a:r>
            <a:endParaRPr lang="en-US" sz="2800" dirty="0"/>
          </a:p>
        </p:txBody>
      </p:sp>
      <p:sp>
        <p:nvSpPr>
          <p:cNvPr id="7" name="Shape 5"/>
          <p:cNvSpPr/>
          <p:nvPr/>
        </p:nvSpPr>
        <p:spPr>
          <a:xfrm>
            <a:off x="815975" y="1689695"/>
            <a:ext cx="3397250" cy="2848372"/>
          </a:xfrm>
          <a:prstGeom prst="roundRect">
            <a:avLst>
              <a:gd name="adj" fmla="val 2564"/>
            </a:avLst>
          </a:prstGeom>
          <a:solidFill>
            <a:srgbClr val="F4F8FC"/>
          </a:solidFill>
          <a:ln w="6350">
            <a:solidFill>
              <a:srgbClr val="C9D7E8"/>
            </a:solidFill>
            <a:prstDash val="solid"/>
          </a:ln>
        </p:spPr>
      </p:sp>
      <p:sp>
        <p:nvSpPr>
          <p:cNvPr id="8" name="Text 6"/>
          <p:cNvSpPr/>
          <p:nvPr/>
        </p:nvSpPr>
        <p:spPr>
          <a:xfrm>
            <a:off x="1073150" y="1946870"/>
            <a:ext cx="296938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720C"/>
                </a:solidFill>
                <a:latin typeface="Arial" pitchFamily="34" charset="0"/>
                <a:ea typeface="Arial" pitchFamily="34" charset="-122"/>
                <a:cs typeface="Arial" pitchFamily="34" charset="-120"/>
              </a:rPr>
              <a:t>Errors inside a paper</a:t>
            </a:r>
            <a:endParaRPr lang="en-US" sz="1400" dirty="0"/>
          </a:p>
        </p:txBody>
      </p:sp>
      <p:sp>
        <p:nvSpPr>
          <p:cNvPr id="9" name="Text 7"/>
          <p:cNvSpPr/>
          <p:nvPr/>
        </p:nvSpPr>
        <p:spPr>
          <a:xfrm>
            <a:off x="1073150" y="2297311"/>
            <a:ext cx="296938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2272B"/>
                </a:solidFill>
                <a:latin typeface="Arial" pitchFamily="34" charset="0"/>
                <a:ea typeface="Arial" pitchFamily="34" charset="-122"/>
                <a:cs typeface="Arial" pitchFamily="34" charset="-120"/>
              </a:rPr>
              <a:t>Tables that disagree</a:t>
            </a:r>
            <a:endParaRPr lang="en-US" sz="1800" dirty="0"/>
          </a:p>
        </p:txBody>
      </p:sp>
      <p:sp>
        <p:nvSpPr>
          <p:cNvPr id="10" name="Text 8"/>
          <p:cNvSpPr/>
          <p:nvPr/>
        </p:nvSpPr>
        <p:spPr>
          <a:xfrm>
            <a:off x="1073150" y="2673152"/>
            <a:ext cx="2969387"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64C"/>
                </a:solidFill>
                <a:latin typeface="Arial" pitchFamily="34" charset="0"/>
                <a:ea typeface="Arial" pitchFamily="34" charset="-122"/>
                <a:cs typeface="Arial" pitchFamily="34" charset="-120"/>
              </a:rPr>
              <a:t>Ye et al. 2021 list beam depths 40/70/100 mm in one table and 40/100/150 mm in another. Back-calculating strength from peak load supports 40/100/150.</a:t>
            </a:r>
            <a:endParaRPr lang="en-US" sz="1500" dirty="0"/>
          </a:p>
        </p:txBody>
      </p:sp>
      <p:sp>
        <p:nvSpPr>
          <p:cNvPr id="11" name="Shape 9"/>
          <p:cNvSpPr/>
          <p:nvPr/>
        </p:nvSpPr>
        <p:spPr>
          <a:xfrm>
            <a:off x="4397375" y="1689695"/>
            <a:ext cx="3397250" cy="2848372"/>
          </a:xfrm>
          <a:prstGeom prst="roundRect">
            <a:avLst>
              <a:gd name="adj" fmla="val 2564"/>
            </a:avLst>
          </a:prstGeom>
          <a:solidFill>
            <a:srgbClr val="F4F8FC"/>
          </a:solidFill>
          <a:ln w="6350">
            <a:solidFill>
              <a:srgbClr val="C9D7E8"/>
            </a:solidFill>
            <a:prstDash val="solid"/>
          </a:ln>
        </p:spPr>
      </p:sp>
      <p:sp>
        <p:nvSpPr>
          <p:cNvPr id="12" name="Text 10"/>
          <p:cNvSpPr/>
          <p:nvPr/>
        </p:nvSpPr>
        <p:spPr>
          <a:xfrm>
            <a:off x="4654550" y="1946870"/>
            <a:ext cx="296938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720C"/>
                </a:solidFill>
                <a:latin typeface="Arial" pitchFamily="34" charset="0"/>
                <a:ea typeface="Arial" pitchFamily="34" charset="-122"/>
                <a:cs typeface="Arial" pitchFamily="34" charset="-120"/>
              </a:rPr>
              <a:t>Conflicts between papers</a:t>
            </a:r>
            <a:endParaRPr lang="en-US" sz="1400" dirty="0"/>
          </a:p>
        </p:txBody>
      </p:sp>
      <p:sp>
        <p:nvSpPr>
          <p:cNvPr id="13" name="Text 11"/>
          <p:cNvSpPr/>
          <p:nvPr/>
        </p:nvSpPr>
        <p:spPr>
          <a:xfrm>
            <a:off x="4654550" y="2297311"/>
            <a:ext cx="2969387"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2272B"/>
                </a:solidFill>
                <a:latin typeface="Arial" pitchFamily="34" charset="0"/>
                <a:ea typeface="Arial" pitchFamily="34" charset="-122"/>
                <a:cs typeface="Arial" pitchFamily="34" charset="-120"/>
              </a:rPr>
              <a:t>Same mix, different results</a:t>
            </a:r>
            <a:endParaRPr lang="en-US" sz="1800" dirty="0"/>
          </a:p>
        </p:txBody>
      </p:sp>
      <p:sp>
        <p:nvSpPr>
          <p:cNvPr id="14" name="Text 12"/>
          <p:cNvSpPr/>
          <p:nvPr/>
        </p:nvSpPr>
        <p:spPr>
          <a:xfrm>
            <a:off x="4654550" y="2947392"/>
            <a:ext cx="2969387"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64C"/>
                </a:solidFill>
                <a:latin typeface="Arial" pitchFamily="34" charset="0"/>
                <a:ea typeface="Arial" pitchFamily="34" charset="-122"/>
                <a:cs typeface="Arial" pitchFamily="34" charset="-120"/>
              </a:rPr>
              <a:t>Michigan HSHDC: 3.4% strain capacity in one paper, 4.2% in another, at almost the same loading rate. The review reports the range.</a:t>
            </a:r>
            <a:endParaRPr lang="en-US" sz="1500" dirty="0"/>
          </a:p>
        </p:txBody>
      </p:sp>
      <p:sp>
        <p:nvSpPr>
          <p:cNvPr id="15" name="Shape 13"/>
          <p:cNvSpPr/>
          <p:nvPr/>
        </p:nvSpPr>
        <p:spPr>
          <a:xfrm>
            <a:off x="7978775" y="1689695"/>
            <a:ext cx="3397250" cy="2848372"/>
          </a:xfrm>
          <a:prstGeom prst="roundRect">
            <a:avLst>
              <a:gd name="adj" fmla="val 2564"/>
            </a:avLst>
          </a:prstGeom>
          <a:solidFill>
            <a:srgbClr val="F4F8FC"/>
          </a:solidFill>
          <a:ln w="6350">
            <a:solidFill>
              <a:srgbClr val="C9D7E8"/>
            </a:solidFill>
            <a:prstDash val="solid"/>
          </a:ln>
        </p:spPr>
      </p:sp>
      <p:sp>
        <p:nvSpPr>
          <p:cNvPr id="16" name="Text 14"/>
          <p:cNvSpPr/>
          <p:nvPr/>
        </p:nvSpPr>
        <p:spPr>
          <a:xfrm>
            <a:off x="8235950" y="1946870"/>
            <a:ext cx="296938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720C"/>
                </a:solidFill>
                <a:latin typeface="Arial" pitchFamily="34" charset="0"/>
                <a:ea typeface="Arial" pitchFamily="34" charset="-122"/>
                <a:cs typeface="Arial" pitchFamily="34" charset="-120"/>
              </a:rPr>
              <a:t>Terminology traps</a:t>
            </a:r>
            <a:endParaRPr lang="en-US" sz="1400" dirty="0"/>
          </a:p>
        </p:txBody>
      </p:sp>
      <p:sp>
        <p:nvSpPr>
          <p:cNvPr id="17" name="Text 15"/>
          <p:cNvSpPr/>
          <p:nvPr/>
        </p:nvSpPr>
        <p:spPr>
          <a:xfrm>
            <a:off x="8235950" y="2297311"/>
            <a:ext cx="313690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2272B"/>
                </a:solidFill>
                <a:latin typeface="Arial" pitchFamily="34" charset="0"/>
                <a:ea typeface="Arial" pitchFamily="34" charset="-122"/>
                <a:cs typeface="Arial" pitchFamily="34" charset="-120"/>
              </a:rPr>
              <a:t>One name, three materials</a:t>
            </a:r>
            <a:endParaRPr lang="en-US" sz="1800" dirty="0"/>
          </a:p>
        </p:txBody>
      </p:sp>
      <p:sp>
        <p:nvSpPr>
          <p:cNvPr id="18" name="Text 16"/>
          <p:cNvSpPr/>
          <p:nvPr/>
        </p:nvSpPr>
        <p:spPr>
          <a:xfrm>
            <a:off x="8235950" y="2673152"/>
            <a:ext cx="2969387"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64C"/>
                </a:solidFill>
                <a:latin typeface="Arial" pitchFamily="34" charset="0"/>
                <a:ea typeface="Arial" pitchFamily="34" charset="-122"/>
                <a:cs typeface="Arial" pitchFamily="34" charset="-120"/>
              </a:rPr>
              <a:t>“HSHDC” means a 166 MPa heat-cured composite in Michigan and roughly 100 MPa ambient-cured ones in Xi’an and Guangzhou.</a:t>
            </a:r>
            <a:endParaRPr lang="en-US" sz="1500" dirty="0"/>
          </a:p>
        </p:txBody>
      </p:sp>
      <p:sp>
        <p:nvSpPr>
          <p:cNvPr id="19" name="Text 17"/>
          <p:cNvSpPr/>
          <p:nvPr/>
        </p:nvSpPr>
        <p:spPr>
          <a:xfrm>
            <a:off x="812800" y="4846042"/>
            <a:ext cx="11379200" cy="3199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E464C"/>
                </a:solidFill>
                <a:latin typeface="Arial" pitchFamily="34" charset="0"/>
                <a:ea typeface="Arial" pitchFamily="34" charset="-122"/>
                <a:cs typeface="Arial" pitchFamily="34" charset="-120"/>
              </a:rPr>
              <a:t>Every flagged item lands on the gaps page or in a source note’s “to verify” list, for me to check against the PDF.</a:t>
            </a:r>
            <a:endParaRPr lang="en-US" sz="1600" dirty="0"/>
          </a:p>
        </p:txBody>
      </p:sp>
      <p:sp>
        <p:nvSpPr>
          <p:cNvPr id="20" name="Text 18"/>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8"/>
                </a:solidFill>
                <a:latin typeface="Arial" pitchFamily="34" charset="0"/>
                <a:ea typeface="Arial" pitchFamily="34" charset="-122"/>
                <a:cs typeface="Arial" pitchFamily="34" charset="-120"/>
              </a:rPr>
              <a:t>Part A · Quality control · sources: ye2021, ranade2015, ranade2017, yang2024, su2023</a:t>
            </a:r>
            <a:endParaRPr lang="en-US" sz="1200" dirty="0"/>
          </a:p>
        </p:txBody>
      </p:sp>
      <p:sp>
        <p:nvSpPr>
          <p:cNvPr id="21" name="Shape 19"/>
          <p:cNvSpPr/>
          <p:nvPr/>
        </p:nvSpPr>
        <p:spPr>
          <a:xfrm>
            <a:off x="0" y="6350000"/>
            <a:ext cx="12192000" cy="12700"/>
          </a:xfrm>
          <a:prstGeom prst="rect">
            <a:avLst/>
          </a:prstGeom>
          <a:solidFill>
            <a:srgbClr val="A6A6A6"/>
          </a:solidFill>
          <a:ln/>
        </p:spPr>
      </p:sp>
      <p:sp>
        <p:nvSpPr>
          <p:cNvPr id="22" name="Text 20"/>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23" name="Text 21"/>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11</a:t>
            </a:r>
            <a:endParaRPr lang="en-US" sz="1500" dirty="0"/>
          </a:p>
        </p:txBody>
      </p:sp>
      <p:pic>
        <p:nvPicPr>
          <p:cNvPr id="24" name="Image 0" descr="preencoded.png">    </p:cNvPr>
          <p:cNvPicPr>
            <a:picLocks noChangeAspect="1"/>
          </p:cNvPicPr>
          <p:nvPr/>
        </p:nvPicPr>
        <p:blipFill>
          <a:blip r:embed="rId1">
            <a:alphaModFix amt="60000"/>
          </a:blip>
          <a:srcRect l="0" r="0" t="0" b="0"/>
          <a:stretch/>
        </p:blipFill>
        <p:spPr>
          <a:xfrm>
            <a:off x="11468100" y="6400800"/>
            <a:ext cx="431800" cy="4318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A: LLM wiki setup</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1.9. Publishing: one script, one push</a:t>
            </a:r>
            <a:endParaRPr lang="en-US" sz="2800" dirty="0"/>
          </a:p>
        </p:txBody>
      </p:sp>
      <p:sp>
        <p:nvSpPr>
          <p:cNvPr id="7" name="Text 5"/>
          <p:cNvSpPr/>
          <p:nvPr/>
        </p:nvSpPr>
        <p:spPr>
          <a:xfrm>
            <a:off x="812800" y="1635720"/>
            <a:ext cx="1163538" cy="375841"/>
          </a:xfrm>
          <a:prstGeom prst="roundRect">
            <a:avLst>
              <a:gd name="adj" fmla="val 10137"/>
            </a:avLst>
          </a:prstGeom>
          <a:solidFill>
            <a:srgbClr val="EEF3F9"/>
          </a:solidFill>
          <a:ln/>
        </p:spPr>
        <p:txBody>
          <a:bodyPr wrap="none" lIns="0" tIns="0" rIns="0" bIns="0" rtlCol="0" anchor="ctr">
            <a:normAutofit/>
          </a:bodyPr>
          <a:lstStyle/>
          <a:p>
            <a:pPr algn="ctr" indent="0" marL="0">
              <a:lnSpc>
                <a:spcPts val="1960"/>
              </a:lnSpc>
              <a:buNone/>
            </a:pPr>
            <a:r>
              <a:rPr lang="en-US" sz="1400" dirty="0">
                <a:solidFill>
                  <a:srgbClr val="22272B"/>
                </a:solidFill>
                <a:latin typeface="Courier New" pitchFamily="49" charset="0"/>
                <a:ea typeface="Courier New" pitchFamily="49" charset="-122"/>
                <a:cs typeface="Courier New" pitchFamily="49" charset="-120"/>
              </a:rPr>
              <a:t>wiki/*.md</a:t>
            </a:r>
            <a:endParaRPr lang="en-US" sz="1400" dirty="0"/>
          </a:p>
        </p:txBody>
      </p:sp>
      <p:pic>
        <p:nvPicPr>
          <p:cNvPr id="8" name="Image 0" descr="arrow-right">    </p:cNvPr>
          <p:cNvPicPr>
            <a:picLocks noChangeAspect="1"/>
          </p:cNvPicPr>
          <p:nvPr/>
        </p:nvPicPr>
        <p:blipFill>
          <a:blip r:embed="rId1"/>
          <a:srcRect l="0" r="0" t="0" b="0"/>
          <a:stretch/>
        </p:blipFill>
        <p:spPr>
          <a:xfrm>
            <a:off x="2077938" y="1734741"/>
            <a:ext cx="355600" cy="177800"/>
          </a:xfrm>
          <a:prstGeom prst="rect">
            <a:avLst/>
          </a:prstGeom>
        </p:spPr>
      </p:pic>
      <p:sp>
        <p:nvSpPr>
          <p:cNvPr id="9" name="Text 6"/>
          <p:cNvSpPr/>
          <p:nvPr/>
        </p:nvSpPr>
        <p:spPr>
          <a:xfrm>
            <a:off x="2535138" y="1635720"/>
            <a:ext cx="1590278" cy="375841"/>
          </a:xfrm>
          <a:prstGeom prst="roundRect">
            <a:avLst>
              <a:gd name="adj" fmla="val 10137"/>
            </a:avLst>
          </a:prstGeom>
          <a:solidFill>
            <a:srgbClr val="EEF3F9"/>
          </a:solidFill>
          <a:ln/>
        </p:spPr>
        <p:txBody>
          <a:bodyPr wrap="none" lIns="0" tIns="0" rIns="0" bIns="0" rtlCol="0" anchor="ctr">
            <a:normAutofit/>
          </a:bodyPr>
          <a:lstStyle/>
          <a:p>
            <a:pPr algn="ctr" indent="0" marL="0">
              <a:lnSpc>
                <a:spcPts val="1960"/>
              </a:lnSpc>
              <a:buNone/>
            </a:pPr>
            <a:r>
              <a:rPr lang="en-US" sz="1400" dirty="0">
                <a:solidFill>
                  <a:srgbClr val="22272B"/>
                </a:solidFill>
                <a:latin typeface="Courier New" pitchFamily="49" charset="0"/>
                <a:ea typeface="Courier New" pitchFamily="49" charset="-122"/>
                <a:cs typeface="Courier New" pitchFamily="49" charset="-120"/>
              </a:rPr>
              <a:t>build_site.py</a:t>
            </a:r>
            <a:endParaRPr lang="en-US" sz="1400" dirty="0"/>
          </a:p>
        </p:txBody>
      </p:sp>
      <p:pic>
        <p:nvPicPr>
          <p:cNvPr id="10" name="Image 1" descr="arrow-right">    </p:cNvPr>
          <p:cNvPicPr>
            <a:picLocks noChangeAspect="1"/>
          </p:cNvPicPr>
          <p:nvPr/>
        </p:nvPicPr>
        <p:blipFill>
          <a:blip r:embed="rId2"/>
          <a:srcRect l="0" r="0" t="0" b="0"/>
          <a:stretch/>
        </p:blipFill>
        <p:spPr>
          <a:xfrm>
            <a:off x="812800" y="2262981"/>
            <a:ext cx="355600" cy="177800"/>
          </a:xfrm>
          <a:prstGeom prst="rect">
            <a:avLst/>
          </a:prstGeom>
        </p:spPr>
      </p:pic>
      <p:sp>
        <p:nvSpPr>
          <p:cNvPr id="11" name="Text 7"/>
          <p:cNvSpPr/>
          <p:nvPr/>
        </p:nvSpPr>
        <p:spPr>
          <a:xfrm>
            <a:off x="1270000" y="2163961"/>
            <a:ext cx="1803698" cy="375841"/>
          </a:xfrm>
          <a:prstGeom prst="roundRect">
            <a:avLst>
              <a:gd name="adj" fmla="val 10137"/>
            </a:avLst>
          </a:prstGeom>
          <a:solidFill>
            <a:srgbClr val="EEF3F9"/>
          </a:solidFill>
          <a:ln/>
        </p:spPr>
        <p:txBody>
          <a:bodyPr wrap="none" lIns="0" tIns="0" rIns="0" bIns="0" rtlCol="0" anchor="ctr">
            <a:normAutofit/>
          </a:bodyPr>
          <a:lstStyle/>
          <a:p>
            <a:pPr algn="ctr" indent="0" marL="0">
              <a:lnSpc>
                <a:spcPts val="1960"/>
              </a:lnSpc>
              <a:buNone/>
            </a:pPr>
            <a:r>
              <a:rPr lang="en-US" sz="1400" dirty="0">
                <a:solidFill>
                  <a:srgbClr val="22272B"/>
                </a:solidFill>
                <a:latin typeface="Courier New" pitchFamily="49" charset="0"/>
                <a:ea typeface="Courier New" pitchFamily="49" charset="-122"/>
                <a:cs typeface="Courier New" pitchFamily="49" charset="-120"/>
              </a:rPr>
              <a:t>docs/index.html</a:t>
            </a:r>
            <a:endParaRPr lang="en-US" sz="1400" dirty="0"/>
          </a:p>
        </p:txBody>
      </p:sp>
      <p:pic>
        <p:nvPicPr>
          <p:cNvPr id="12" name="Image 2" descr="arrow-right">    </p:cNvPr>
          <p:cNvPicPr>
            <a:picLocks noChangeAspect="1"/>
          </p:cNvPicPr>
          <p:nvPr/>
        </p:nvPicPr>
        <p:blipFill>
          <a:blip r:embed="rId3"/>
          <a:srcRect l="0" r="0" t="0" b="0"/>
          <a:stretch/>
        </p:blipFill>
        <p:spPr>
          <a:xfrm>
            <a:off x="3175298" y="2262981"/>
            <a:ext cx="355600" cy="177800"/>
          </a:xfrm>
          <a:prstGeom prst="rect">
            <a:avLst/>
          </a:prstGeom>
        </p:spPr>
      </p:pic>
      <p:sp>
        <p:nvSpPr>
          <p:cNvPr id="13" name="Text 8"/>
          <p:cNvSpPr/>
          <p:nvPr/>
        </p:nvSpPr>
        <p:spPr>
          <a:xfrm>
            <a:off x="3632498" y="2163961"/>
            <a:ext cx="1483618" cy="375841"/>
          </a:xfrm>
          <a:prstGeom prst="roundRect">
            <a:avLst>
              <a:gd name="adj" fmla="val 10137"/>
            </a:avLst>
          </a:prstGeom>
          <a:solidFill>
            <a:srgbClr val="EEF3F9"/>
          </a:solidFill>
          <a:ln/>
        </p:spPr>
        <p:txBody>
          <a:bodyPr wrap="none" lIns="0" tIns="0" rIns="0" bIns="0" rtlCol="0" anchor="ctr">
            <a:normAutofit/>
          </a:bodyPr>
          <a:lstStyle/>
          <a:p>
            <a:pPr algn="ctr" indent="0" marL="0">
              <a:lnSpc>
                <a:spcPts val="1960"/>
              </a:lnSpc>
              <a:buNone/>
            </a:pPr>
            <a:r>
              <a:rPr lang="en-US" sz="1400" dirty="0">
                <a:solidFill>
                  <a:srgbClr val="22272B"/>
                </a:solidFill>
                <a:latin typeface="Courier New" pitchFamily="49" charset="0"/>
                <a:ea typeface="Courier New" pitchFamily="49" charset="-122"/>
                <a:cs typeface="Courier New" pitchFamily="49" charset="-120"/>
              </a:rPr>
              <a:t>GitHub Pages</a:t>
            </a:r>
            <a:endParaRPr lang="en-US" sz="1400" dirty="0"/>
          </a:p>
        </p:txBody>
      </p:sp>
      <p:sp>
        <p:nvSpPr>
          <p:cNvPr id="14" name="Text 9"/>
          <p:cNvSpPr/>
          <p:nvPr/>
        </p:nvSpPr>
        <p:spPr>
          <a:xfrm>
            <a:off x="896620" y="2692202"/>
            <a:ext cx="4591558" cy="1130300"/>
          </a:xfrm>
          <a:prstGeom prst="rect">
            <a:avLst/>
          </a:prstGeom>
          <a:noFill/>
          <a:ln/>
        </p:spPr>
        <p:txBody>
          <a:bodyPr wrap="square" lIns="0" tIns="0" rIns="0" bIns="0" rtlCol="0" anchor="t">
            <a:normAutofit/>
          </a:bodyPr>
          <a:lstStyle/>
          <a:p>
            <a:pPr algn="l" marL="170180" indent="-170180">
              <a:lnSpc>
                <a:spcPts val="2175"/>
              </a:lnSpc>
              <a:buSzPct val="100000"/>
              <a:buChar char="•"/>
            </a:pPr>
            <a:r>
              <a:rPr lang="en-US" sz="1500" dirty="0">
                <a:solidFill>
                  <a:srgbClr val="3E464C"/>
                </a:solidFill>
                <a:latin typeface="Arial" pitchFamily="34" charset="0"/>
                <a:ea typeface="Arial" pitchFamily="34" charset="-122"/>
                <a:cs typeface="Arial" pitchFamily="34" charset="-120"/>
              </a:rPr>
              <a:t>Graph, Catalog, Concepts and About views</a:t>
            </a:r>
            <a:endParaRPr lang="en-US" sz="1500" dirty="0"/>
          </a:p>
          <a:p>
            <a:pPr algn="l" marL="170180" indent="-170180">
              <a:lnSpc>
                <a:spcPts val="2175"/>
              </a:lnSpc>
              <a:buSzPct val="100000"/>
              <a:buChar char="•"/>
            </a:pPr>
            <a:r>
              <a:rPr lang="en-US" sz="1500" dirty="0">
                <a:solidFill>
                  <a:srgbClr val="3E464C"/>
                </a:solidFill>
                <a:latin typeface="Arial" pitchFamily="34" charset="0"/>
                <a:ea typeface="Arial" pitchFamily="34" charset="-122"/>
                <a:cs typeface="Arial" pitchFamily="34" charset="-120"/>
              </a:rPr>
              <a:t>Every note readable, links clickable</a:t>
            </a:r>
            <a:endParaRPr lang="en-US" sz="1500" dirty="0"/>
          </a:p>
          <a:p>
            <a:pPr algn="l" marL="170180" indent="-170180">
              <a:lnSpc>
                <a:spcPts val="2175"/>
              </a:lnSpc>
              <a:buSzPct val="100000"/>
              <a:buChar char="•"/>
            </a:pPr>
            <a:r>
              <a:rPr lang="en-US" sz="1500" dirty="0">
                <a:solidFill>
                  <a:srgbClr val="3E464C"/>
                </a:solidFill>
                <a:latin typeface="Arial" pitchFamily="34" charset="0"/>
                <a:ea typeface="Arial" pitchFamily="34" charset="-122"/>
                <a:cs typeface="Arial" pitchFamily="34" charset="-120"/>
              </a:rPr>
              <a:t>Rebuilt after each ingest</a:t>
            </a:r>
            <a:endParaRPr lang="en-US" sz="1500" dirty="0"/>
          </a:p>
          <a:p>
            <a:pPr algn="l" marL="170180" indent="-170180">
              <a:lnSpc>
                <a:spcPts val="2175"/>
              </a:lnSpc>
              <a:buSzPct val="100000"/>
              <a:buChar char="•"/>
            </a:pPr>
            <a:r>
              <a:rPr lang="en-US" sz="1500" dirty="0">
                <a:solidFill>
                  <a:srgbClr val="3E464C"/>
                </a:solidFill>
                <a:latin typeface="Arial" pitchFamily="34" charset="0"/>
                <a:ea typeface="Arial" pitchFamily="34" charset="-122"/>
                <a:cs typeface="Arial" pitchFamily="34" charset="-120"/>
              </a:rPr>
              <a:t>PDFs never uploaded (copyright)</a:t>
            </a:r>
            <a:endParaRPr lang="en-US" sz="1500" dirty="0"/>
          </a:p>
        </p:txBody>
      </p:sp>
      <p:sp>
        <p:nvSpPr>
          <p:cNvPr id="15" name="Text 10"/>
          <p:cNvSpPr/>
          <p:nvPr/>
        </p:nvSpPr>
        <p:spPr>
          <a:xfrm>
            <a:off x="812800" y="3949502"/>
            <a:ext cx="468299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4E79"/>
                </a:solidFill>
                <a:latin typeface="Arial" pitchFamily="34" charset="0"/>
                <a:ea typeface="Arial" pitchFamily="34" charset="-122"/>
                <a:cs typeface="Arial" pitchFamily="34" charset="-120"/>
              </a:rPr>
              <a:t>conslmhoang.github.io/HDC-wiki</a:t>
            </a:r>
            <a:endParaRPr lang="en-US" sz="1500" dirty="0"/>
          </a:p>
        </p:txBody>
      </p:sp>
      <p:sp>
        <p:nvSpPr>
          <p:cNvPr id="16" name="Shape 11"/>
          <p:cNvSpPr/>
          <p:nvPr/>
        </p:nvSpPr>
        <p:spPr>
          <a:xfrm>
            <a:off x="5664200" y="1635720"/>
            <a:ext cx="5715000" cy="3213100"/>
          </a:xfrm>
          <a:prstGeom prst="roundRect">
            <a:avLst>
              <a:gd name="adj" fmla="val 2372"/>
            </a:avLst>
          </a:prstGeom>
          <a:solidFill>
            <a:srgbClr val="EEF3F9"/>
          </a:solidFill>
          <a:ln/>
        </p:spPr>
      </p:sp>
      <p:pic>
        <p:nvPicPr>
          <p:cNvPr id="17" name="Image 3" descr="Website screenshot: the HSHDC note with a table comparing three lineages">    </p:cNvPr>
          <p:cNvPicPr>
            <a:picLocks noChangeAspect="1"/>
          </p:cNvPicPr>
          <p:nvPr/>
        </p:nvPicPr>
        <p:blipFill>
          <a:blip r:embed="rId4"/>
          <a:srcRect l="-112" r="-112" t="0" b="0"/>
          <a:stretch/>
        </p:blipFill>
        <p:spPr>
          <a:xfrm>
            <a:off x="5670550" y="1642070"/>
            <a:ext cx="5702300" cy="3200400"/>
          </a:xfrm>
          <a:prstGeom prst="roundRect">
            <a:avLst>
              <a:gd name="adj" fmla="val 2183"/>
            </a:avLst>
          </a:prstGeom>
        </p:spPr>
      </p:pic>
      <p:sp>
        <p:nvSpPr>
          <p:cNvPr id="18" name="Shape 12"/>
          <p:cNvSpPr/>
          <p:nvPr/>
        </p:nvSpPr>
        <p:spPr>
          <a:xfrm>
            <a:off x="5667375" y="1638895"/>
            <a:ext cx="5708650" cy="3206750"/>
          </a:xfrm>
          <a:prstGeom prst="roundRect">
            <a:avLst>
              <a:gd name="adj" fmla="val 2277"/>
            </a:avLst>
          </a:prstGeom>
          <a:noFill/>
          <a:ln w="6350">
            <a:solidFill>
              <a:srgbClr val="C9D7E8"/>
            </a:solidFill>
            <a:prstDash val="solid"/>
          </a:ln>
        </p:spPr>
      </p:sp>
      <p:sp>
        <p:nvSpPr>
          <p:cNvPr id="19" name="Text 13"/>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8"/>
                </a:solidFill>
                <a:latin typeface="Arial" pitchFamily="34" charset="0"/>
                <a:ea typeface="Arial" pitchFamily="34" charset="-122"/>
                <a:cs typeface="Arial" pitchFamily="34" charset="-120"/>
              </a:rPr>
              <a:t>Part A · Publishing · github.com/conslmhoang/HDC-wiki</a:t>
            </a:r>
            <a:endParaRPr lang="en-US" sz="1200" dirty="0"/>
          </a:p>
        </p:txBody>
      </p:sp>
      <p:sp>
        <p:nvSpPr>
          <p:cNvPr id="20" name="Shape 14"/>
          <p:cNvSpPr/>
          <p:nvPr/>
        </p:nvSpPr>
        <p:spPr>
          <a:xfrm>
            <a:off x="0" y="6350000"/>
            <a:ext cx="12192000" cy="12700"/>
          </a:xfrm>
          <a:prstGeom prst="rect">
            <a:avLst/>
          </a:prstGeom>
          <a:solidFill>
            <a:srgbClr val="A6A6A6"/>
          </a:solidFill>
          <a:ln/>
        </p:spPr>
      </p:sp>
      <p:sp>
        <p:nvSpPr>
          <p:cNvPr id="21" name="Text 15"/>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22" name="Text 16"/>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12</a:t>
            </a:r>
            <a:endParaRPr lang="en-US" sz="1500" dirty="0"/>
          </a:p>
        </p:txBody>
      </p:sp>
      <p:pic>
        <p:nvPicPr>
          <p:cNvPr id="23" name="Image 4" descr="preencoded.png">    </p:cNvPr>
          <p:cNvPicPr>
            <a:picLocks noChangeAspect="1"/>
          </p:cNvPicPr>
          <p:nvPr/>
        </p:nvPicPr>
        <p:blipFill>
          <a:blip r:embed="rId5">
            <a:alphaModFix amt="60000"/>
          </a:blip>
          <a:srcRect l="0" r="0" t="0" b="0"/>
          <a:stretch/>
        </p:blipFill>
        <p:spPr>
          <a:xfrm>
            <a:off x="11468100" y="6400800"/>
            <a:ext cx="431800" cy="431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A: LLM wiki setup</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1.10. Live demo 1: exploring the graph</a:t>
            </a:r>
            <a:endParaRPr lang="en-US" sz="2800" dirty="0"/>
          </a:p>
        </p:txBody>
      </p:sp>
      <p:sp>
        <p:nvSpPr>
          <p:cNvPr id="7" name="Shape 5"/>
          <p:cNvSpPr/>
          <p:nvPr/>
        </p:nvSpPr>
        <p:spPr>
          <a:xfrm>
            <a:off x="812800" y="1635720"/>
            <a:ext cx="6350000" cy="3575050"/>
          </a:xfrm>
          <a:prstGeom prst="roundRect">
            <a:avLst>
              <a:gd name="adj" fmla="val 2131"/>
            </a:avLst>
          </a:prstGeom>
          <a:solidFill>
            <a:srgbClr val="F4F5F2"/>
          </a:solidFill>
          <a:ln/>
        </p:spPr>
      </p:sp>
      <p:pic>
        <p:nvPicPr>
          <p:cNvPr id="8" name="Image 0" descr="Website graph view: 67 notes coloured by type, papers labelled">    </p:cNvPr>
          <p:cNvPicPr>
            <a:picLocks noChangeAspect="1"/>
          </p:cNvPicPr>
          <p:nvPr/>
        </p:nvPicPr>
        <p:blipFill>
          <a:blip r:embed="rId1"/>
          <a:srcRect l="-33" r="-33" t="0" b="0"/>
          <a:stretch/>
        </p:blipFill>
        <p:spPr>
          <a:xfrm>
            <a:off x="819150" y="1642070"/>
            <a:ext cx="6337300" cy="3562350"/>
          </a:xfrm>
          <a:prstGeom prst="roundRect">
            <a:avLst>
              <a:gd name="adj" fmla="val 1961"/>
            </a:avLst>
          </a:prstGeom>
        </p:spPr>
      </p:pic>
      <p:sp>
        <p:nvSpPr>
          <p:cNvPr id="9" name="Shape 6"/>
          <p:cNvSpPr/>
          <p:nvPr/>
        </p:nvSpPr>
        <p:spPr>
          <a:xfrm>
            <a:off x="815975" y="1638895"/>
            <a:ext cx="6343650" cy="3568700"/>
          </a:xfrm>
          <a:prstGeom prst="roundRect">
            <a:avLst>
              <a:gd name="adj" fmla="val 2046"/>
            </a:avLst>
          </a:prstGeom>
          <a:noFill/>
          <a:ln w="6350">
            <a:solidFill>
              <a:srgbClr val="C9D7E8"/>
            </a:solidFill>
            <a:prstDash val="solid"/>
          </a:ln>
        </p:spPr>
      </p:sp>
      <p:sp>
        <p:nvSpPr>
          <p:cNvPr id="10" name="Text 7"/>
          <p:cNvSpPr/>
          <p:nvPr/>
        </p:nvSpPr>
        <p:spPr>
          <a:xfrm>
            <a:off x="7518400" y="1635720"/>
            <a:ext cx="397662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2272B"/>
                </a:solidFill>
                <a:latin typeface="Arial" pitchFamily="34" charset="0"/>
                <a:ea typeface="Arial" pitchFamily="34" charset="-122"/>
                <a:cs typeface="Arial" pitchFamily="34" charset="-120"/>
              </a:rPr>
              <a:t>What I will show</a:t>
            </a:r>
            <a:endParaRPr lang="en-US" sz="1800" dirty="0"/>
          </a:p>
        </p:txBody>
      </p:sp>
      <p:sp>
        <p:nvSpPr>
          <p:cNvPr id="11" name="Text 8"/>
          <p:cNvSpPr/>
          <p:nvPr/>
        </p:nvSpPr>
        <p:spPr>
          <a:xfrm>
            <a:off x="7560568" y="2036961"/>
            <a:ext cx="3926836" cy="1130300"/>
          </a:xfrm>
          <a:prstGeom prst="rect">
            <a:avLst/>
          </a:prstGeom>
          <a:noFill/>
          <a:ln/>
        </p:spPr>
        <p:txBody>
          <a:bodyPr wrap="square" lIns="0" tIns="0" rIns="0" bIns="0" rtlCol="0" anchor="t">
            <a:normAutofit/>
          </a:bodyPr>
          <a:lstStyle/>
          <a:p>
            <a:pPr algn="l" marL="211832" indent="-211832">
              <a:lnSpc>
                <a:spcPts val="2175"/>
              </a:lnSpc>
              <a:buSzPct val="100000"/>
              <a:buFontTx/>
              <a:buAutoNum type="arabicPeriod" startAt="1"/>
            </a:pPr>
            <a:r>
              <a:rPr lang="en-US" sz="1500" dirty="0">
                <a:solidFill>
                  <a:srgbClr val="3E464C"/>
                </a:solidFill>
                <a:latin typeface="Arial" pitchFamily="34" charset="0"/>
                <a:ea typeface="Arial" pitchFamily="34" charset="-122"/>
                <a:cs typeface="Arial" pitchFamily="34" charset="-120"/>
              </a:rPr>
              <a:t>Filter to papers only</a:t>
            </a:r>
            <a:endParaRPr lang="en-US" sz="1500" dirty="0"/>
          </a:p>
          <a:p>
            <a:pPr algn="l" marL="211832" indent="-211832">
              <a:lnSpc>
                <a:spcPts val="2175"/>
              </a:lnSpc>
              <a:buSzPct val="100000"/>
              <a:buFontTx/>
              <a:buAutoNum type="arabicPeriod" startAt="1"/>
            </a:pPr>
            <a:r>
              <a:rPr lang="en-US" sz="1500" dirty="0">
                <a:solidFill>
                  <a:srgbClr val="3E464C"/>
                </a:solidFill>
                <a:latin typeface="Arial" pitchFamily="34" charset="0"/>
                <a:ea typeface="Arial" pitchFamily="34" charset="-122"/>
                <a:cs typeface="Arial" pitchFamily="34" charset="-120"/>
              </a:rPr>
              <a:t>Select Li 2002: its 12 linked notes light up</a:t>
            </a:r>
            <a:endParaRPr lang="en-US" sz="1500" dirty="0"/>
          </a:p>
          <a:p>
            <a:pPr algn="l" marL="211832" indent="-211832">
              <a:lnSpc>
                <a:spcPts val="2175"/>
              </a:lnSpc>
              <a:buSzPct val="100000"/>
              <a:buFontTx/>
              <a:buAutoNum type="arabicPeriod" startAt="1"/>
            </a:pPr>
            <a:r>
              <a:rPr lang="en-US" sz="1500" dirty="0">
                <a:solidFill>
                  <a:srgbClr val="3E464C"/>
                </a:solidFill>
                <a:latin typeface="Arial" pitchFamily="34" charset="0"/>
                <a:ea typeface="Arial" pitchFamily="34" charset="-122"/>
                <a:cs typeface="Arial" pitchFamily="34" charset="-120"/>
              </a:rPr>
              <a:t>Open the PVA fiber note</a:t>
            </a:r>
            <a:endParaRPr lang="en-US" sz="1500" dirty="0"/>
          </a:p>
          <a:p>
            <a:pPr algn="l" marL="211832" indent="-211832">
              <a:lnSpc>
                <a:spcPts val="2175"/>
              </a:lnSpc>
              <a:buSzPct val="100000"/>
              <a:buFontTx/>
              <a:buAutoNum type="arabicPeriod" startAt="1"/>
            </a:pPr>
            <a:r>
              <a:rPr lang="en-US" sz="1500" dirty="0">
                <a:solidFill>
                  <a:srgbClr val="3E464C"/>
                </a:solidFill>
                <a:latin typeface="Arial" pitchFamily="34" charset="0"/>
                <a:ea typeface="Arial" pitchFamily="34" charset="-122"/>
                <a:cs typeface="Arial" pitchFamily="34" charset="-120"/>
              </a:rPr>
              <a:t>Catalog view with DOIs</a:t>
            </a:r>
            <a:endParaRPr lang="en-US" sz="1500" dirty="0"/>
          </a:p>
        </p:txBody>
      </p:sp>
      <p:sp>
        <p:nvSpPr>
          <p:cNvPr id="12" name="Text 9"/>
          <p:cNvSpPr/>
          <p:nvPr/>
        </p:nvSpPr>
        <p:spPr>
          <a:xfrm>
            <a:off x="7518400" y="3268861"/>
            <a:ext cx="397662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7378"/>
                </a:solidFill>
                <a:latin typeface="Arial" pitchFamily="34" charset="0"/>
                <a:ea typeface="Arial" pitchFamily="34" charset="-122"/>
                <a:cs typeface="Arial" pitchFamily="34" charset="-120"/>
              </a:rPr>
              <a:t>Backup: this screenshot, if the network fails.</a:t>
            </a:r>
            <a:endParaRPr lang="en-US" sz="1300" dirty="0"/>
          </a:p>
        </p:txBody>
      </p:sp>
      <p:sp>
        <p:nvSpPr>
          <p:cNvPr id="13" name="Text 10"/>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8"/>
                </a:solidFill>
                <a:latin typeface="Arial" pitchFamily="34" charset="0"/>
                <a:ea typeface="Arial" pitchFamily="34" charset="-122"/>
                <a:cs typeface="Arial" pitchFamily="34" charset="-120"/>
              </a:rPr>
              <a:t>Part A · Demo · conslmhoang.github.io/HDC-wiki</a:t>
            </a:r>
            <a:endParaRPr lang="en-US" sz="1200" dirty="0"/>
          </a:p>
        </p:txBody>
      </p:sp>
      <p:sp>
        <p:nvSpPr>
          <p:cNvPr id="14" name="Shape 11"/>
          <p:cNvSpPr/>
          <p:nvPr/>
        </p:nvSpPr>
        <p:spPr>
          <a:xfrm>
            <a:off x="0" y="6350000"/>
            <a:ext cx="12192000" cy="12700"/>
          </a:xfrm>
          <a:prstGeom prst="rect">
            <a:avLst/>
          </a:prstGeom>
          <a:solidFill>
            <a:srgbClr val="A6A6A6"/>
          </a:solidFill>
          <a:ln/>
        </p:spPr>
      </p:sp>
      <p:sp>
        <p:nvSpPr>
          <p:cNvPr id="15" name="Text 12"/>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16" name="Text 13"/>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13</a:t>
            </a:r>
            <a:endParaRPr lang="en-US" sz="1500" dirty="0"/>
          </a:p>
        </p:txBody>
      </p:sp>
      <p:pic>
        <p:nvPicPr>
          <p:cNvPr id="17" name="Image 1" descr="preencoded.png">    </p:cNvPr>
          <p:cNvPicPr>
            <a:picLocks noChangeAspect="1"/>
          </p:cNvPicPr>
          <p:nvPr/>
        </p:nvPicPr>
        <p:blipFill>
          <a:blip r:embed="rId2">
            <a:alphaModFix amt="60000"/>
          </a:blip>
          <a:srcRect l="0" r="0" t="0" b="0"/>
          <a:stretch/>
        </p:blipFill>
        <p:spPr>
          <a:xfrm>
            <a:off x="11468100" y="6400800"/>
            <a:ext cx="431800" cy="4318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A: LLM wiki setup</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1.11. Live demo 2: asking the wiki a question</a:t>
            </a:r>
            <a:endParaRPr lang="en-US" sz="2800" dirty="0"/>
          </a:p>
        </p:txBody>
      </p:sp>
      <p:sp>
        <p:nvSpPr>
          <p:cNvPr id="7" name="Text 5"/>
          <p:cNvSpPr/>
          <p:nvPr/>
        </p:nvSpPr>
        <p:spPr>
          <a:xfrm>
            <a:off x="812800" y="1610320"/>
            <a:ext cx="8255000" cy="538460"/>
          </a:xfrm>
          <a:prstGeom prst="roundRect">
            <a:avLst>
              <a:gd name="adj" fmla="val 14151"/>
            </a:avLst>
          </a:prstGeom>
          <a:solidFill>
            <a:srgbClr val="1F4E79"/>
          </a:solidFill>
          <a:ln/>
        </p:spPr>
        <p:txBody>
          <a:bodyPr wrap="square" lIns="155482" tIns="104682" rIns="0" bIns="79282" rtlCol="0" anchor="t">
            <a:normAutofit/>
          </a:bodyPr>
          <a:lstStyle/>
          <a:p>
            <a:pPr algn="l" indent="0" marL="0">
              <a:lnSpc>
                <a:spcPts val="2240"/>
              </a:lnSpc>
              <a:buNone/>
            </a:pPr>
            <a:r>
              <a:rPr lang="en-US" sz="1600" b="1" dirty="0">
                <a:solidFill>
                  <a:srgbClr val="F4F5F2"/>
                </a:solidFill>
                <a:latin typeface="Arial" pitchFamily="34" charset="0"/>
                <a:ea typeface="Arial" pitchFamily="34" charset="-122"/>
                <a:cs typeface="Arial" pitchFamily="34" charset="-120"/>
              </a:rPr>
              <a:t>Why does PVA fiber work in ECC but fail in high-strength HDC?</a:t>
            </a:r>
            <a:endParaRPr lang="en-US" sz="1600" dirty="0"/>
          </a:p>
        </p:txBody>
      </p:sp>
      <p:sp>
        <p:nvSpPr>
          <p:cNvPr id="8" name="Shape 6"/>
          <p:cNvSpPr/>
          <p:nvPr/>
        </p:nvSpPr>
        <p:spPr>
          <a:xfrm>
            <a:off x="815975" y="2380555"/>
            <a:ext cx="10560050" cy="2120900"/>
          </a:xfrm>
          <a:prstGeom prst="roundRect">
            <a:avLst>
              <a:gd name="adj" fmla="val 3443"/>
            </a:avLst>
          </a:prstGeom>
          <a:solidFill>
            <a:srgbClr val="F4F8FC"/>
          </a:solidFill>
          <a:ln w="6350">
            <a:solidFill>
              <a:srgbClr val="C9D7E8"/>
            </a:solidFill>
            <a:prstDash val="solid"/>
          </a:ln>
        </p:spPr>
      </p:sp>
      <p:sp>
        <p:nvSpPr>
          <p:cNvPr id="9" name="Text 7"/>
          <p:cNvSpPr/>
          <p:nvPr/>
        </p:nvSpPr>
        <p:spPr>
          <a:xfrm>
            <a:off x="1156970" y="2612330"/>
            <a:ext cx="10255631" cy="1682750"/>
          </a:xfrm>
          <a:prstGeom prst="rect">
            <a:avLst/>
          </a:prstGeom>
          <a:noFill/>
          <a:ln/>
        </p:spPr>
        <p:txBody>
          <a:bodyPr wrap="square" lIns="0" tIns="0" rIns="0" bIns="0" rtlCol="0" anchor="t">
            <a:normAutofit/>
          </a:bodyPr>
          <a:lstStyle/>
          <a:p>
            <a:pPr algn="l" marL="170180" indent="-170180">
              <a:lnSpc>
                <a:spcPts val="2175"/>
              </a:lnSpc>
              <a:buSzPct val="100000"/>
              <a:buChar char="•"/>
            </a:pPr>
            <a:r>
              <a:rPr lang="en-US" sz="1500" dirty="0">
                <a:solidFill>
                  <a:srgbClr val="3E464C"/>
                </a:solidFill>
                <a:latin typeface="Arial" pitchFamily="34" charset="0"/>
                <a:ea typeface="Arial" pitchFamily="34" charset="-122"/>
                <a:cs typeface="Arial" pitchFamily="34" charset="-120"/>
              </a:rPr>
              <a:t>PVA is hydrophilic and bonds chemically, so untreated fibers rupture. Oil coating lowers the bond and raises strain capacity from 0.99% to 4.88%. </a:t>
            </a:r>
            <a:r>
              <a:rPr lang="en-US" sz="1500" dirty="0">
                <a:solidFill>
                  <a:srgbClr val="1F4E79"/>
                </a:solidFill>
                <a:latin typeface="Arial" pitchFamily="34" charset="0"/>
                <a:ea typeface="Arial" pitchFamily="34" charset="-122"/>
                <a:cs typeface="Arial" pitchFamily="34" charset="-120"/>
              </a:rPr>
              <a:t>[li2002, Table 4]</a:t>
            </a:r>
            <a:endParaRPr lang="en-US" sz="1500" dirty="0"/>
          </a:p>
          <a:p>
            <a:pPr algn="l" marL="170180" indent="-170180">
              <a:lnSpc>
                <a:spcPts val="2175"/>
              </a:lnSpc>
              <a:buSzPct val="100000"/>
              <a:buChar char="•"/>
            </a:pPr>
            <a:r>
              <a:rPr lang="en-US" sz="1500" dirty="0">
                <a:solidFill>
                  <a:srgbClr val="3E464C"/>
                </a:solidFill>
                <a:latin typeface="Arial" pitchFamily="34" charset="0"/>
                <a:ea typeface="Arial" pitchFamily="34" charset="-122"/>
                <a:cs typeface="Arial" pitchFamily="34" charset="-120"/>
              </a:rPr>
              <a:t>In a dense W/B 0.16 matrix, PVA-HSHDC reaches only 0.23–0.30%, while PE reaches up to 6.48%. </a:t>
            </a:r>
            <a:r>
              <a:rPr lang="en-US" sz="1500" dirty="0">
                <a:solidFill>
                  <a:srgbClr val="1F4E79"/>
                </a:solidFill>
                <a:latin typeface="Arial" pitchFamily="34" charset="0"/>
                <a:ea typeface="Arial" pitchFamily="34" charset="-122"/>
                <a:cs typeface="Arial" pitchFamily="34" charset="-120"/>
              </a:rPr>
              <a:t>[yang2024, Table 6]</a:t>
            </a:r>
            <a:endParaRPr lang="en-US" sz="1500" dirty="0"/>
          </a:p>
          <a:p>
            <a:pPr algn="l" marL="170180" indent="-170180">
              <a:lnSpc>
                <a:spcPts val="2175"/>
              </a:lnSpc>
              <a:buSzPct val="100000"/>
              <a:buChar char="•"/>
            </a:pPr>
            <a:r>
              <a:rPr lang="en-US" sz="1500" dirty="0">
                <a:solidFill>
                  <a:srgbClr val="3E464C"/>
                </a:solidFill>
                <a:latin typeface="Arial" pitchFamily="34" charset="0"/>
                <a:ea typeface="Arial" pitchFamily="34" charset="-122"/>
                <a:cs typeface="Arial" pitchFamily="34" charset="-120"/>
              </a:rPr>
              <a:t>Reviews of high-strength composites call PE fiber “mandatory” because PVA bonds too strongly. </a:t>
            </a:r>
            <a:r>
              <a:rPr lang="en-US" sz="1500" dirty="0">
                <a:solidFill>
                  <a:srgbClr val="1F4E79"/>
                </a:solidFill>
                <a:latin typeface="Arial" pitchFamily="34" charset="0"/>
                <a:ea typeface="Arial" pitchFamily="34" charset="-122"/>
                <a:cs typeface="Arial" pitchFamily="34" charset="-120"/>
              </a:rPr>
              <a:t>[zhang2022, p. 4, 16]</a:t>
            </a:r>
            <a:endParaRPr lang="en-US" sz="1500" dirty="0"/>
          </a:p>
        </p:txBody>
      </p:sp>
      <p:sp>
        <p:nvSpPr>
          <p:cNvPr id="10" name="Text 8"/>
          <p:cNvSpPr/>
          <p:nvPr/>
        </p:nvSpPr>
        <p:spPr>
          <a:xfrm>
            <a:off x="812800" y="473323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7378"/>
                </a:solidFill>
                <a:latin typeface="Arial" pitchFamily="34" charset="0"/>
                <a:ea typeface="Arial" pitchFamily="34" charset="-122"/>
                <a:cs typeface="Arial" pitchFamily="34" charset="-120"/>
              </a:rPr>
              <a:t>Backup answer above. Live: the same question typed into Claude Code; it reads index.md, then the PVA, interface and HSHDC notes.</a:t>
            </a:r>
            <a:endParaRPr lang="en-US" sz="1300" dirty="0"/>
          </a:p>
        </p:txBody>
      </p:sp>
      <p:sp>
        <p:nvSpPr>
          <p:cNvPr id="11" name="Text 9"/>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8"/>
                </a:solidFill>
                <a:latin typeface="Arial" pitchFamily="34" charset="0"/>
                <a:ea typeface="Arial" pitchFamily="34" charset="-122"/>
                <a:cs typeface="Arial" pitchFamily="34" charset="-120"/>
              </a:rPr>
              <a:t>Part A · Demo · query operation (CLAUDE.md §5.2)</a:t>
            </a:r>
            <a:endParaRPr lang="en-US" sz="1200" dirty="0"/>
          </a:p>
        </p:txBody>
      </p:sp>
      <p:sp>
        <p:nvSpPr>
          <p:cNvPr id="12" name="Shape 10"/>
          <p:cNvSpPr/>
          <p:nvPr/>
        </p:nvSpPr>
        <p:spPr>
          <a:xfrm>
            <a:off x="0" y="6350000"/>
            <a:ext cx="12192000" cy="12700"/>
          </a:xfrm>
          <a:prstGeom prst="rect">
            <a:avLst/>
          </a:prstGeom>
          <a:solidFill>
            <a:srgbClr val="A6A6A6"/>
          </a:solidFill>
          <a:ln/>
        </p:spPr>
      </p:sp>
      <p:sp>
        <p:nvSpPr>
          <p:cNvPr id="13" name="Text 11"/>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14" name="Text 12"/>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14</a:t>
            </a:r>
            <a:endParaRPr lang="en-US" sz="1500" dirty="0"/>
          </a:p>
        </p:txBody>
      </p:sp>
      <p:pic>
        <p:nvPicPr>
          <p:cNvPr id="15" name="Image 0" descr="preencoded.png">    </p:cNvPr>
          <p:cNvPicPr>
            <a:picLocks noChangeAspect="1"/>
          </p:cNvPicPr>
          <p:nvPr/>
        </p:nvPicPr>
        <p:blipFill>
          <a:blip r:embed="rId1">
            <a:alphaModFix amt="60000"/>
          </a:blip>
          <a:srcRect l="0" r="0" t="0" b="0"/>
          <a:stretch/>
        </p:blipFill>
        <p:spPr>
          <a:xfrm>
            <a:off x="11468100" y="6400800"/>
            <a:ext cx="431800" cy="4318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A: LLM wiki setup</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1.12. What worked, and what still needs a human</a:t>
            </a:r>
            <a:endParaRPr lang="en-US" sz="2800" dirty="0"/>
          </a:p>
        </p:txBody>
      </p:sp>
      <p:sp>
        <p:nvSpPr>
          <p:cNvPr id="7" name="Shape 5"/>
          <p:cNvSpPr/>
          <p:nvPr/>
        </p:nvSpPr>
        <p:spPr>
          <a:xfrm>
            <a:off x="819150" y="1692870"/>
            <a:ext cx="5168900" cy="2660650"/>
          </a:xfrm>
          <a:prstGeom prst="roundRect">
            <a:avLst>
              <a:gd name="adj" fmla="val 2625"/>
            </a:avLst>
          </a:prstGeom>
          <a:solidFill>
            <a:srgbClr val="F4F8FC"/>
          </a:solidFill>
          <a:ln w="12700">
            <a:solidFill>
              <a:srgbClr val="0070C0"/>
            </a:solidFill>
            <a:prstDash val="solid"/>
          </a:ln>
        </p:spPr>
      </p:sp>
      <p:sp>
        <p:nvSpPr>
          <p:cNvPr id="8" name="Text 6"/>
          <p:cNvSpPr/>
          <p:nvPr/>
        </p:nvSpPr>
        <p:spPr>
          <a:xfrm>
            <a:off x="1104900" y="1978620"/>
            <a:ext cx="473532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4E79"/>
                </a:solidFill>
                <a:latin typeface="Arial" pitchFamily="34" charset="0"/>
                <a:ea typeface="Arial" pitchFamily="34" charset="-122"/>
                <a:cs typeface="Arial" pitchFamily="34" charset="-120"/>
              </a:rPr>
              <a:t>Worked well</a:t>
            </a:r>
            <a:endParaRPr lang="en-US" sz="2000" dirty="0"/>
          </a:p>
        </p:txBody>
      </p:sp>
      <p:sp>
        <p:nvSpPr>
          <p:cNvPr id="9" name="Text 7"/>
          <p:cNvSpPr/>
          <p:nvPr/>
        </p:nvSpPr>
        <p:spPr>
          <a:xfrm>
            <a:off x="1188720" y="2410420"/>
            <a:ext cx="4643882" cy="1682750"/>
          </a:xfrm>
          <a:prstGeom prst="rect">
            <a:avLst/>
          </a:prstGeom>
          <a:noFill/>
          <a:ln/>
        </p:spPr>
        <p:txBody>
          <a:bodyPr wrap="square" lIns="0" tIns="0" rIns="0" bIns="0" rtlCol="0" anchor="t">
            <a:normAutofit/>
          </a:bodyPr>
          <a:lstStyle/>
          <a:p>
            <a:pPr algn="l" marL="170180" indent="-170180">
              <a:lnSpc>
                <a:spcPts val="2175"/>
              </a:lnSpc>
              <a:buSzPct val="100000"/>
              <a:buChar char="•"/>
            </a:pPr>
            <a:r>
              <a:rPr lang="en-US" sz="1500" dirty="0">
                <a:solidFill>
                  <a:srgbClr val="3E464C"/>
                </a:solidFill>
                <a:latin typeface="Arial" pitchFamily="34" charset="0"/>
                <a:ea typeface="Arial" pitchFamily="34" charset="-122"/>
                <a:cs typeface="Arial" pitchFamily="34" charset="-120"/>
              </a:rPr>
              <a:t>Knowledge compounds: each paper improves old notes</a:t>
            </a:r>
            <a:endParaRPr lang="en-US" sz="1500" dirty="0"/>
          </a:p>
          <a:p>
            <a:pPr algn="l" marL="170180" indent="-170180">
              <a:lnSpc>
                <a:spcPts val="2175"/>
              </a:lnSpc>
              <a:buSzPct val="100000"/>
              <a:buChar char="•"/>
            </a:pPr>
            <a:r>
              <a:rPr lang="en-US" sz="1500" dirty="0">
                <a:solidFill>
                  <a:srgbClr val="3E464C"/>
                </a:solidFill>
                <a:latin typeface="Arial" pitchFamily="34" charset="0"/>
                <a:ea typeface="Arial" pitchFamily="34" charset="-122"/>
                <a:cs typeface="Arial" pitchFamily="34" charset="-120"/>
              </a:rPr>
              <a:t>Conflicts surface automatically</a:t>
            </a:r>
            <a:endParaRPr lang="en-US" sz="1500" dirty="0"/>
          </a:p>
          <a:p>
            <a:pPr algn="l" marL="170180" indent="-170180">
              <a:lnSpc>
                <a:spcPts val="2175"/>
              </a:lnSpc>
              <a:buSzPct val="100000"/>
              <a:buChar char="•"/>
            </a:pPr>
            <a:r>
              <a:rPr lang="en-US" sz="1500" dirty="0">
                <a:solidFill>
                  <a:srgbClr val="3E464C"/>
                </a:solidFill>
                <a:latin typeface="Arial" pitchFamily="34" charset="0"/>
                <a:ea typeface="Arial" pitchFamily="34" charset="-122"/>
                <a:cs typeface="Arial" pitchFamily="34" charset="-120"/>
              </a:rPr>
              <a:t>Uniform structure across every paper</a:t>
            </a:r>
            <a:endParaRPr lang="en-US" sz="1500" dirty="0"/>
          </a:p>
          <a:p>
            <a:pPr algn="l" marL="170180" indent="-170180">
              <a:lnSpc>
                <a:spcPts val="2175"/>
              </a:lnSpc>
              <a:buSzPct val="100000"/>
              <a:buChar char="•"/>
            </a:pPr>
            <a:r>
              <a:rPr lang="en-US" sz="1500" dirty="0">
                <a:solidFill>
                  <a:srgbClr val="3E464C"/>
                </a:solidFill>
                <a:latin typeface="Arial" pitchFamily="34" charset="0"/>
                <a:ea typeface="Arial" pitchFamily="34" charset="-122"/>
                <a:cs typeface="Arial" pitchFamily="34" charset="-120"/>
              </a:rPr>
              <a:t>Batch ingest with parallel agents</a:t>
            </a:r>
            <a:endParaRPr lang="en-US" sz="1500" dirty="0"/>
          </a:p>
          <a:p>
            <a:pPr algn="l" marL="170180" indent="-170180">
              <a:lnSpc>
                <a:spcPts val="2175"/>
              </a:lnSpc>
              <a:buSzPct val="100000"/>
              <a:buChar char="•"/>
            </a:pPr>
            <a:r>
              <a:rPr lang="en-US" sz="1500" dirty="0">
                <a:solidFill>
                  <a:srgbClr val="3E464C"/>
                </a:solidFill>
                <a:latin typeface="Arial" pitchFamily="34" charset="0"/>
                <a:ea typeface="Arial" pitchFamily="34" charset="-122"/>
                <a:cs typeface="Arial" pitchFamily="34" charset="-120"/>
              </a:rPr>
              <a:t>Git history makes every change auditable</a:t>
            </a:r>
            <a:endParaRPr lang="en-US" sz="1500" dirty="0"/>
          </a:p>
        </p:txBody>
      </p:sp>
      <p:sp>
        <p:nvSpPr>
          <p:cNvPr id="10" name="Shape 8"/>
          <p:cNvSpPr/>
          <p:nvPr/>
        </p:nvSpPr>
        <p:spPr>
          <a:xfrm>
            <a:off x="6203950" y="1692870"/>
            <a:ext cx="5168900" cy="2660650"/>
          </a:xfrm>
          <a:prstGeom prst="roundRect">
            <a:avLst>
              <a:gd name="adj" fmla="val 2625"/>
            </a:avLst>
          </a:prstGeom>
          <a:solidFill>
            <a:srgbClr val="F4F8FC"/>
          </a:solidFill>
          <a:ln w="12700">
            <a:solidFill>
              <a:srgbClr val="B8720C"/>
            </a:solidFill>
            <a:prstDash val="solid"/>
          </a:ln>
        </p:spPr>
      </p:sp>
      <p:sp>
        <p:nvSpPr>
          <p:cNvPr id="11" name="Text 9"/>
          <p:cNvSpPr/>
          <p:nvPr/>
        </p:nvSpPr>
        <p:spPr>
          <a:xfrm>
            <a:off x="6489700" y="1978620"/>
            <a:ext cx="473532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8A5509"/>
                </a:solidFill>
                <a:latin typeface="Arial" pitchFamily="34" charset="0"/>
                <a:ea typeface="Arial" pitchFamily="34" charset="-122"/>
                <a:cs typeface="Arial" pitchFamily="34" charset="-120"/>
              </a:rPr>
              <a:t>Needs a human</a:t>
            </a:r>
            <a:endParaRPr lang="en-US" sz="2000" dirty="0"/>
          </a:p>
        </p:txBody>
      </p:sp>
      <p:sp>
        <p:nvSpPr>
          <p:cNvPr id="12" name="Text 10"/>
          <p:cNvSpPr/>
          <p:nvPr/>
        </p:nvSpPr>
        <p:spPr>
          <a:xfrm>
            <a:off x="6573520" y="2410420"/>
            <a:ext cx="4643882" cy="1682750"/>
          </a:xfrm>
          <a:prstGeom prst="rect">
            <a:avLst/>
          </a:prstGeom>
          <a:noFill/>
          <a:ln/>
        </p:spPr>
        <p:txBody>
          <a:bodyPr wrap="square" lIns="0" tIns="0" rIns="0" bIns="0" rtlCol="0" anchor="t">
            <a:normAutofit/>
          </a:bodyPr>
          <a:lstStyle/>
          <a:p>
            <a:pPr algn="l" marL="170180" indent="-170180">
              <a:lnSpc>
                <a:spcPts val="2175"/>
              </a:lnSpc>
              <a:buSzPct val="100000"/>
              <a:buChar char="•"/>
            </a:pPr>
            <a:r>
              <a:rPr lang="en-US" sz="1500" dirty="0">
                <a:solidFill>
                  <a:srgbClr val="3E464C"/>
                </a:solidFill>
                <a:latin typeface="Arial" pitchFamily="34" charset="0"/>
                <a:ea typeface="Arial" pitchFamily="34" charset="-122"/>
                <a:cs typeface="Arial" pitchFamily="34" charset="-120"/>
              </a:rPr>
              <a:t>Values read off figures are approximate</a:t>
            </a:r>
            <a:endParaRPr lang="en-US" sz="1500" dirty="0"/>
          </a:p>
          <a:p>
            <a:pPr algn="l" marL="170180" indent="-170180">
              <a:lnSpc>
                <a:spcPts val="2175"/>
              </a:lnSpc>
              <a:buSzPct val="100000"/>
              <a:buChar char="•"/>
            </a:pPr>
            <a:r>
              <a:rPr lang="en-US" sz="1500" dirty="0">
                <a:solidFill>
                  <a:srgbClr val="3E464C"/>
                </a:solidFill>
                <a:latin typeface="Arial" pitchFamily="34" charset="0"/>
                <a:ea typeface="Arial" pitchFamily="34" charset="-122"/>
                <a:cs typeface="Arial" pitchFamily="34" charset="-120"/>
              </a:rPr>
              <a:t>Review papers give second-hand data, marked “as cited”</a:t>
            </a:r>
            <a:endParaRPr lang="en-US" sz="1500" dirty="0"/>
          </a:p>
          <a:p>
            <a:pPr algn="l" marL="170180" indent="-170180">
              <a:lnSpc>
                <a:spcPts val="2175"/>
              </a:lnSpc>
              <a:buSzPct val="100000"/>
              <a:buChar char="•"/>
            </a:pPr>
            <a:r>
              <a:rPr lang="en-US" sz="1500" dirty="0">
                <a:solidFill>
                  <a:srgbClr val="3E464C"/>
                </a:solidFill>
                <a:latin typeface="Arial" pitchFamily="34" charset="0"/>
                <a:ea typeface="Arial" pitchFamily="34" charset="-122"/>
                <a:cs typeface="Arial" pitchFamily="34" charset="-120"/>
              </a:rPr>
              <a:t>Choosing and scoping the sources</a:t>
            </a:r>
            <a:endParaRPr lang="en-US" sz="1500" dirty="0"/>
          </a:p>
          <a:p>
            <a:pPr algn="l" marL="170180" indent="-170180">
              <a:lnSpc>
                <a:spcPts val="2175"/>
              </a:lnSpc>
              <a:buSzPct val="100000"/>
              <a:buChar char="•"/>
            </a:pPr>
            <a:r>
              <a:rPr lang="en-US" sz="1500" dirty="0">
                <a:solidFill>
                  <a:srgbClr val="3E464C"/>
                </a:solidFill>
                <a:latin typeface="Arial" pitchFamily="34" charset="0"/>
                <a:ea typeface="Arial" pitchFamily="34" charset="-122"/>
                <a:cs typeface="Arial" pitchFamily="34" charset="-120"/>
              </a:rPr>
              <a:t>Checking every number that goes on a slide</a:t>
            </a:r>
            <a:endParaRPr lang="en-US" sz="1500" dirty="0"/>
          </a:p>
          <a:p>
            <a:pPr algn="l" marL="170180" indent="-170180">
              <a:lnSpc>
                <a:spcPts val="2175"/>
              </a:lnSpc>
              <a:buSzPct val="100000"/>
              <a:buChar char="•"/>
            </a:pPr>
            <a:r>
              <a:rPr lang="en-US" sz="1500" dirty="0">
                <a:solidFill>
                  <a:srgbClr val="3E464C"/>
                </a:solidFill>
                <a:latin typeface="Arial" pitchFamily="34" charset="0"/>
                <a:ea typeface="Arial" pitchFamily="34" charset="-122"/>
                <a:cs typeface="Arial" pitchFamily="34" charset="-120"/>
              </a:rPr>
              <a:t>Copyright: summaries public, PDFs private</a:t>
            </a:r>
            <a:endParaRPr lang="en-US" sz="1500" dirty="0"/>
          </a:p>
        </p:txBody>
      </p:sp>
      <p:sp>
        <p:nvSpPr>
          <p:cNvPr id="13" name="Text 11"/>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8"/>
                </a:solidFill>
                <a:latin typeface="Arial" pitchFamily="34" charset="0"/>
                <a:ea typeface="Arial" pitchFamily="34" charset="-122"/>
                <a:cs typeface="Arial" pitchFamily="34" charset="-120"/>
              </a:rPr>
              <a:t>Part A · Lessons</a:t>
            </a:r>
            <a:endParaRPr lang="en-US" sz="1200" dirty="0"/>
          </a:p>
        </p:txBody>
      </p:sp>
      <p:sp>
        <p:nvSpPr>
          <p:cNvPr id="14" name="Shape 12"/>
          <p:cNvSpPr/>
          <p:nvPr/>
        </p:nvSpPr>
        <p:spPr>
          <a:xfrm>
            <a:off x="0" y="6350000"/>
            <a:ext cx="12192000" cy="12700"/>
          </a:xfrm>
          <a:prstGeom prst="rect">
            <a:avLst/>
          </a:prstGeom>
          <a:solidFill>
            <a:srgbClr val="A6A6A6"/>
          </a:solidFill>
          <a:ln/>
        </p:spPr>
      </p:sp>
      <p:sp>
        <p:nvSpPr>
          <p:cNvPr id="15" name="Text 13"/>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16" name="Text 14"/>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15</a:t>
            </a:r>
            <a:endParaRPr lang="en-US" sz="1500" dirty="0"/>
          </a:p>
        </p:txBody>
      </p:sp>
      <p:pic>
        <p:nvPicPr>
          <p:cNvPr id="17" name="Image 0" descr="preencoded.png">    </p:cNvPr>
          <p:cNvPicPr>
            <a:picLocks noChangeAspect="1"/>
          </p:cNvPicPr>
          <p:nvPr/>
        </p:nvPicPr>
        <p:blipFill>
          <a:blip r:embed="rId1">
            <a:alphaModFix amt="60000"/>
          </a:blip>
          <a:srcRect l="0" r="0" t="0" b="0"/>
          <a:stretch/>
        </p:blipFill>
        <p:spPr>
          <a:xfrm>
            <a:off x="11468100" y="6400800"/>
            <a:ext cx="431800" cy="4318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B: Literature review</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nvSpPr>
        <p:spPr>
          <a:xfrm>
            <a:off x="812800" y="203706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8720C"/>
                </a:solidFill>
                <a:latin typeface="Arial" pitchFamily="34" charset="0"/>
                <a:ea typeface="Arial" pitchFamily="34" charset="-122"/>
                <a:cs typeface="Arial" pitchFamily="34" charset="-120"/>
              </a:rPr>
              <a:t>Part B</a:t>
            </a:r>
            <a:endParaRPr lang="en-US" sz="1600" dirty="0"/>
          </a:p>
        </p:txBody>
      </p:sp>
      <p:sp>
        <p:nvSpPr>
          <p:cNvPr id="7" name="Text 5"/>
          <p:cNvSpPr/>
          <p:nvPr>
            <p:ph type="title"/>
          </p:nvPr>
        </p:nvSpPr>
        <p:spPr>
          <a:xfrm>
            <a:off x="812800" y="2524720"/>
            <a:ext cx="9810750" cy="1305520"/>
          </a:xfrm>
          <a:prstGeom prst="rect">
            <a:avLst/>
          </a:prstGeom>
          <a:noFill/>
          <a:ln/>
        </p:spPr>
        <p:txBody>
          <a:bodyPr wrap="square" lIns="0" tIns="0" rIns="0" bIns="0" rtlCol="0" anchor="t">
            <a:normAutofit/>
          </a:bodyPr>
          <a:lstStyle/>
          <a:p>
            <a:pPr algn="l" indent="0" marL="0">
              <a:lnSpc>
                <a:spcPts val="5040"/>
              </a:lnSpc>
              <a:buNone/>
            </a:pPr>
            <a:r>
              <a:rPr lang="en-US" sz="4800" b="0" i="0" dirty="0">
                <a:solidFill>
                  <a:srgbClr val="0070C0"/>
                </a:solidFill>
                <a:latin typeface="Arial" pitchFamily="34" charset="0"/>
                <a:ea typeface="Arial" pitchFamily="34" charset="-122"/>
                <a:cs typeface="Arial" pitchFamily="34" charset="-120"/>
              </a:rPr>
              <a:t>Literature review: high ductile concrete</a:t>
            </a:r>
            <a:endParaRPr lang="en-US" sz="4800" dirty="0"/>
          </a:p>
        </p:txBody>
      </p:sp>
      <p:sp>
        <p:nvSpPr>
          <p:cNvPr id="8" name="Text 6"/>
          <p:cNvSpPr/>
          <p:nvPr/>
        </p:nvSpPr>
        <p:spPr>
          <a:xfrm>
            <a:off x="812800" y="4008041"/>
            <a:ext cx="915670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3E464C"/>
                </a:solidFill>
                <a:latin typeface="Arial" pitchFamily="34" charset="0"/>
                <a:ea typeface="Arial" pitchFamily="34" charset="-122"/>
                <a:cs typeface="Arial" pitchFamily="34" charset="-120"/>
              </a:rPr>
              <a:t>A concrete that bends instead of breaking: what it is, why it works, and what we still do not know.</a:t>
            </a:r>
            <a:endParaRPr lang="en-US" sz="2000" dirty="0"/>
          </a:p>
        </p:txBody>
      </p:sp>
      <p:sp>
        <p:nvSpPr>
          <p:cNvPr id="9" name="Shape 7"/>
          <p:cNvSpPr/>
          <p:nvPr/>
        </p:nvSpPr>
        <p:spPr>
          <a:xfrm>
            <a:off x="0" y="6350000"/>
            <a:ext cx="12192000" cy="12700"/>
          </a:xfrm>
          <a:prstGeom prst="rect">
            <a:avLst/>
          </a:prstGeom>
          <a:solidFill>
            <a:srgbClr val="A6A6A6"/>
          </a:solidFill>
          <a:ln/>
        </p:spPr>
      </p:sp>
      <p:sp>
        <p:nvSpPr>
          <p:cNvPr id="10" name="Text 8"/>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11" name="Text 9"/>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16</a:t>
            </a:r>
            <a:endParaRPr lang="en-US" sz="1500" dirty="0"/>
          </a:p>
        </p:txBody>
      </p:sp>
      <p:pic>
        <p:nvPicPr>
          <p:cNvPr id="12" name="Image 0" descr="preencoded.png">    </p:cNvPr>
          <p:cNvPicPr>
            <a:picLocks noChangeAspect="1"/>
          </p:cNvPicPr>
          <p:nvPr/>
        </p:nvPicPr>
        <p:blipFill>
          <a:blip r:embed="rId1">
            <a:alphaModFix amt="60000"/>
          </a:blip>
          <a:srcRect l="0" r="0" t="0" b="0"/>
          <a:stretch/>
        </p:blipFill>
        <p:spPr>
          <a:xfrm>
            <a:off x="11468100" y="6400800"/>
            <a:ext cx="431800" cy="4318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B: Literature review</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3445"/>
          </a:xfrm>
          <a:prstGeom prst="rect">
            <a:avLst/>
          </a:prstGeom>
          <a:noFill/>
          <a:ln/>
        </p:spPr>
        <p:txBody>
          <a:bodyPr wrap="square" lIns="0" tIns="0" rIns="0" bIns="0" rtlCol="0" anchor="t">
            <a:normAutofit/>
          </a:bodyPr>
          <a:lstStyle/>
          <a:p>
            <a:pPr algn="l" indent="0" marL="0">
              <a:lnSpc>
                <a:spcPts val="3070"/>
              </a:lnSpc>
              <a:buNone/>
            </a:pPr>
            <a:r>
              <a:rPr lang="en-US" sz="2791" b="0" i="0" dirty="0">
                <a:solidFill>
                  <a:srgbClr val="0070C0"/>
                </a:solidFill>
                <a:latin typeface="Arial" pitchFamily="34" charset="0"/>
                <a:ea typeface="Arial" pitchFamily="34" charset="-122"/>
                <a:cs typeface="Arial" pitchFamily="34" charset="-120"/>
              </a:rPr>
              <a:t>2.1. The corpus: 11 papers, 1992–2024</a:t>
            </a:r>
            <a:endParaRPr lang="en-US" sz="2791"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619945"/>
          <a:ext cx="10553700" cy="4120455"/>
        </p:xfrm>
        <a:graphic>
          <a:graphicData uri="http://schemas.openxmlformats.org/drawingml/2006/table">
            <a:tbl>
              <a:tblPr/>
              <a:tblGrid>
                <a:gridCol w="949833"/>
                <a:gridCol w="2532888"/>
                <a:gridCol w="2849499"/>
                <a:gridCol w="4221480"/>
              </a:tblGrid>
              <a:tr h="343297">
                <a:tc>
                  <a:txBody>
                    <a:bodyPr/>
                    <a:lstStyle/>
                    <a:p>
                      <a:pPr indent="0" marL="0">
                        <a:lnSpc>
                          <a:spcPts val="1734"/>
                        </a:lnSpc>
                        <a:buNone/>
                      </a:pPr>
                      <a:r>
                        <a:rPr lang="en-US" sz="1238" b="1" dirty="0">
                          <a:solidFill>
                            <a:srgbClr val="22272B"/>
                          </a:solidFill>
                          <a:latin typeface="Arial" pitchFamily="34" charset="0"/>
                          <a:ea typeface="Arial" pitchFamily="34" charset="-122"/>
                          <a:cs typeface="Arial" pitchFamily="34" charset="-120"/>
                        </a:rPr>
                        <a:t>Year</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734"/>
                        </a:lnSpc>
                        <a:buNone/>
                      </a:pPr>
                      <a:r>
                        <a:rPr lang="en-US" sz="1238" b="1" dirty="0">
                          <a:solidFill>
                            <a:srgbClr val="22272B"/>
                          </a:solidFill>
                          <a:latin typeface="Arial" pitchFamily="34" charset="0"/>
                          <a:ea typeface="Arial" pitchFamily="34" charset="-122"/>
                          <a:cs typeface="Arial" pitchFamily="34" charset="-120"/>
                        </a:rPr>
                        <a:t>Authors</a:t>
                      </a:r>
                      <a:endParaRPr lang="en-US" sz="1238" dirty="0">
                        <a:latin typeface="Arial" charset="0"/>
                        <a:ea typeface="Arial" charset="0"/>
                        <a:cs typeface="Arial" charset="0"/>
                      </a:endParaRPr>
                    </a:p>
                  </a:txBody>
                  <a:tcPr marL="55042" marR="55042" marT="55042" marB="55042"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734"/>
                        </a:lnSpc>
                        <a:buNone/>
                      </a:pPr>
                      <a:r>
                        <a:rPr lang="en-US" sz="1238" b="1" dirty="0">
                          <a:solidFill>
                            <a:srgbClr val="22272B"/>
                          </a:solidFill>
                          <a:latin typeface="Arial" pitchFamily="34" charset="0"/>
                          <a:ea typeface="Arial" pitchFamily="34" charset="-122"/>
                          <a:cs typeface="Arial" pitchFamily="34" charset="-120"/>
                        </a:rPr>
                        <a:t>Journal</a:t>
                      </a:r>
                      <a:endParaRPr lang="en-US" sz="1238" dirty="0">
                        <a:latin typeface="Arial" charset="0"/>
                        <a:ea typeface="Arial" charset="0"/>
                        <a:cs typeface="Arial" charset="0"/>
                      </a:endParaRPr>
                    </a:p>
                  </a:txBody>
                  <a:tcPr marL="55042" marR="55042" marT="55042" marB="55042"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734"/>
                        </a:lnSpc>
                        <a:buNone/>
                      </a:pPr>
                      <a:r>
                        <a:rPr lang="en-US" sz="1238" b="1" dirty="0">
                          <a:solidFill>
                            <a:srgbClr val="22272B"/>
                          </a:solidFill>
                          <a:latin typeface="Arial" pitchFamily="34" charset="0"/>
                          <a:ea typeface="Arial" pitchFamily="34" charset="-122"/>
                          <a:cs typeface="Arial" pitchFamily="34" charset="-120"/>
                        </a:rPr>
                        <a:t>Role in the review</a:t>
                      </a:r>
                      <a:endParaRPr lang="en-US" sz="1238" dirty="0">
                        <a:latin typeface="Arial" charset="0"/>
                        <a:ea typeface="Arial" charset="0"/>
                        <a:cs typeface="Arial" charset="0"/>
                      </a:endParaRPr>
                    </a:p>
                  </a:txBody>
                  <a:tcPr marL="55042" marR="55042" marT="55042" marB="55042"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43297">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1992</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Li &amp; Leung</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J. Eng. Mech. (ASCE)</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Theory: steady-state cracking</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3297">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2002</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Li et al.</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ACI Materials Journal</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PVA-ECC interface tailoring</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3396">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2015</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Ranade, Li, Heard</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Cem. Concr. Res.</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HSHDC under dynamic tension</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3396">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2017</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Ranade et al.</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Cem. Concr. Res.</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HSHDC slabs under impact</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3396">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2018</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Yu et al.</a:t>
                      </a:r>
                      <a:endParaRPr lang="en-US" sz="1238" dirty="0">
                        <a:latin typeface="Arial" charset="0"/>
                        <a:ea typeface="Arial" charset="0"/>
                        <a:cs typeface="Arial" charset="0"/>
                      </a:endParaRPr>
                    </a:p>
                  </a:txBody>
                  <a:tcPr marL="55042" marR="55042" marT="55042" marB="55042" anchor="t">
                    <a:lnL w="12700" cap="flat" cmpd="sng" algn="ctr">
                      <a:solidFill>
                        <a:srgbClr val="BEC2C6"/>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Constr. Build. Mater.</a:t>
                      </a:r>
                      <a:endParaRPr lang="en-US" sz="1238" dirty="0">
                        <a:latin typeface="Arial" charset="0"/>
                        <a:ea typeface="Arial" charset="0"/>
                        <a:cs typeface="Arial" charset="0"/>
                      </a:endParaRPr>
                    </a:p>
                  </a:txBody>
                  <a:tcPr marL="55042" marR="55042" marT="55042" marB="55042" anchor="t">
                    <a:lnL w="12700" cap="flat" cmpd="sng" algn="ctr">
                      <a:solidFill>
                        <a:srgbClr val="BEC2C6"/>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Review: direct tensile properties</a:t>
                      </a:r>
                      <a:endParaRPr lang="en-US" sz="1238" dirty="0">
                        <a:latin typeface="Arial" charset="0"/>
                        <a:ea typeface="Arial" charset="0"/>
                        <a:cs typeface="Arial" charset="0"/>
                      </a:endParaRPr>
                    </a:p>
                  </a:txBody>
                  <a:tcPr marL="55042" marR="55042" marT="55042" marB="55042" anchor="t">
                    <a:lnL w="12700" cap="flat" cmpd="sng" algn="ctr">
                      <a:solidFill>
                        <a:srgbClr val="BEC2C6"/>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r>
              <a:tr h="343396">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2021</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BEC2C6"/>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Ma et al.</a:t>
                      </a:r>
                      <a:endParaRPr lang="en-US" sz="1238" dirty="0">
                        <a:latin typeface="Arial" charset="0"/>
                        <a:ea typeface="Arial" charset="0"/>
                        <a:cs typeface="Arial" charset="0"/>
                      </a:endParaRPr>
                    </a:p>
                  </a:txBody>
                  <a:tcPr marL="55042" marR="55042" marT="55042" marB="55042" anchor="t">
                    <a:lnL w="12700" cap="flat" cmpd="sng" algn="ctr">
                      <a:solidFill>
                        <a:srgbClr val="BEC2C6"/>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BEC2C6"/>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Constr. Build. Mater.</a:t>
                      </a:r>
                      <a:endParaRPr lang="en-US" sz="1238" dirty="0">
                        <a:latin typeface="Arial" charset="0"/>
                        <a:ea typeface="Arial" charset="0"/>
                        <a:cs typeface="Arial" charset="0"/>
                      </a:endParaRPr>
                    </a:p>
                  </a:txBody>
                  <a:tcPr marL="55042" marR="55042" marT="55042" marB="55042" anchor="t">
                    <a:lnL w="12700" cap="flat" cmpd="sng" algn="ctr">
                      <a:solidFill>
                        <a:srgbClr val="BEC2C6"/>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BEC2C6"/>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Review: durability of ECC</a:t>
                      </a:r>
                      <a:endParaRPr lang="en-US" sz="1238" dirty="0">
                        <a:latin typeface="Arial" charset="0"/>
                        <a:ea typeface="Arial" charset="0"/>
                        <a:cs typeface="Arial" charset="0"/>
                      </a:endParaRPr>
                    </a:p>
                  </a:txBody>
                  <a:tcPr marL="55042" marR="55042" marT="55042" marB="55042" anchor="t">
                    <a:lnL w="12700" cap="flat" cmpd="sng" algn="ctr">
                      <a:solidFill>
                        <a:srgbClr val="BEC2C6"/>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BEC2C6"/>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r>
              <a:tr h="343396">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2021</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2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Ye et al.</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2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Cem. Concr. Compos.</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2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UHDC flexural size effect</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2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3396">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2022</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Zhang et al.</a:t>
                      </a:r>
                      <a:endParaRPr lang="en-US" sz="1238" dirty="0">
                        <a:latin typeface="Arial" charset="0"/>
                        <a:ea typeface="Arial" charset="0"/>
                        <a:cs typeface="Arial" charset="0"/>
                      </a:endParaRPr>
                    </a:p>
                  </a:txBody>
                  <a:tcPr marL="55042" marR="55042" marT="55042" marB="55042" anchor="t">
                    <a:lnL w="12700" cap="flat" cmpd="sng" algn="ctr">
                      <a:solidFill>
                        <a:srgbClr val="BEC2C6"/>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Composites Part B</a:t>
                      </a:r>
                      <a:endParaRPr lang="en-US" sz="1238" dirty="0">
                        <a:latin typeface="Arial" charset="0"/>
                        <a:ea typeface="Arial" charset="0"/>
                        <a:cs typeface="Arial" charset="0"/>
                      </a:endParaRPr>
                    </a:p>
                  </a:txBody>
                  <a:tcPr marL="55042" marR="55042" marT="55042" marB="55042" anchor="t">
                    <a:lnL w="12700" cap="flat" cmpd="sng" algn="ctr">
                      <a:solidFill>
                        <a:srgbClr val="BEC2C6"/>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Review: high-strength HDC (HSHDCC)</a:t>
                      </a:r>
                      <a:endParaRPr lang="en-US" sz="1238" dirty="0">
                        <a:latin typeface="Arial" charset="0"/>
                        <a:ea typeface="Arial" charset="0"/>
                        <a:cs typeface="Arial" charset="0"/>
                      </a:endParaRPr>
                    </a:p>
                  </a:txBody>
                  <a:tcPr marL="55042" marR="55042" marT="55042" marB="55042" anchor="t">
                    <a:lnL w="12700" cap="flat" cmpd="sng" algn="ctr">
                      <a:solidFill>
                        <a:srgbClr val="BEC2C6"/>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r>
              <a:tr h="343396">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2023</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2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Su et al.</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2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Constr. Build. Mater.</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2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Rubber-modified HSHDC</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2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3396">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2024</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Yang et al.</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J. Building Engineering</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HSHDC uniaxial tension (Xi’an)</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3396">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2024</a:t>
                      </a:r>
                      <a:endParaRPr lang="en-US" sz="1238" dirty="0">
                        <a:latin typeface="Arial" charset="0"/>
                        <a:ea typeface="Arial" charset="0"/>
                        <a:cs typeface="Arial" charset="0"/>
                      </a:endParaRPr>
                    </a:p>
                  </a:txBody>
                  <a:tcPr marL="55042" marR="55042" marT="55042" marB="55042" anchor="t">
                    <a:lnL w="12700" cap="flat" cmpd="sng" algn="ctr">
                      <a:solidFill>
                        <a:srgbClr val="CBCBCB"/>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He et al.</a:t>
                      </a:r>
                      <a:endParaRPr lang="en-US" sz="1238" dirty="0">
                        <a:latin typeface="Arial" charset="0"/>
                        <a:ea typeface="Arial" charset="0"/>
                        <a:cs typeface="Arial" charset="0"/>
                      </a:endParaRPr>
                    </a:p>
                  </a:txBody>
                  <a:tcPr marL="55042" marR="55042" marT="55042" marB="55042" anchor="t">
                    <a:lnL w="12700" cap="flat" cmpd="sng" algn="ctr">
                      <a:solidFill>
                        <a:srgbClr val="BEC2C6"/>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Materials</a:t>
                      </a:r>
                      <a:endParaRPr lang="en-US" sz="1238" dirty="0">
                        <a:latin typeface="Arial" charset="0"/>
                        <a:ea typeface="Arial" charset="0"/>
                        <a:cs typeface="Arial" charset="0"/>
                      </a:endParaRPr>
                    </a:p>
                  </a:txBody>
                  <a:tcPr marL="55042" marR="55042" marT="55042" marB="55042" anchor="t">
                    <a:lnL w="12700" cap="flat" cmpd="sng" algn="ctr">
                      <a:solidFill>
                        <a:srgbClr val="BEC2C6"/>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c>
                  <a:txBody>
                    <a:bodyPr/>
                    <a:lstStyle/>
                    <a:p>
                      <a:pPr indent="0" marL="0">
                        <a:lnSpc>
                          <a:spcPts val="1734"/>
                        </a:lnSpc>
                        <a:buNone/>
                      </a:pPr>
                      <a:r>
                        <a:rPr lang="en-US" sz="1238" dirty="0">
                          <a:solidFill>
                            <a:srgbClr val="22272B"/>
                          </a:solidFill>
                          <a:latin typeface="Arial" pitchFamily="34" charset="0"/>
                          <a:ea typeface="Arial" pitchFamily="34" charset="-122"/>
                          <a:cs typeface="Arial" pitchFamily="34" charset="-120"/>
                        </a:rPr>
                        <a:t>Review: advances in HDC</a:t>
                      </a:r>
                      <a:endParaRPr lang="en-US" sz="1238" dirty="0">
                        <a:latin typeface="Arial" charset="0"/>
                        <a:ea typeface="Arial" charset="0"/>
                        <a:cs typeface="Arial" charset="0"/>
                      </a:endParaRPr>
                    </a:p>
                  </a:txBody>
                  <a:tcPr marL="55042" marR="55042" marT="55042" marB="55042" anchor="t">
                    <a:lnL w="12700" cap="flat" cmpd="sng" algn="ctr">
                      <a:solidFill>
                        <a:srgbClr val="BEC2C6"/>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r>
            </a:tbl>
          </a:graphicData>
        </a:graphic>
      </p:graphicFrame>
      <p:sp>
        <p:nvSpPr>
          <p:cNvPr id="8" name="Text 5"/>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8"/>
                </a:solidFill>
                <a:latin typeface="Arial" pitchFamily="34" charset="0"/>
                <a:ea typeface="Arial" pitchFamily="34" charset="-122"/>
                <a:cs typeface="Arial" pitchFamily="34" charset="-120"/>
              </a:rPr>
              <a:t>Part B · Corpus · shaded rows are review papers (second-hand data)</a:t>
            </a:r>
            <a:endParaRPr lang="en-US" sz="1200" dirty="0"/>
          </a:p>
        </p:txBody>
      </p:sp>
      <p:sp>
        <p:nvSpPr>
          <p:cNvPr id="9" name="Shape 6"/>
          <p:cNvSpPr/>
          <p:nvPr/>
        </p:nvSpPr>
        <p:spPr>
          <a:xfrm>
            <a:off x="0" y="6350000"/>
            <a:ext cx="12192000" cy="12700"/>
          </a:xfrm>
          <a:prstGeom prst="rect">
            <a:avLst/>
          </a:prstGeom>
          <a:solidFill>
            <a:srgbClr val="A6A6A6"/>
          </a:solidFill>
          <a:ln/>
        </p:spPr>
      </p:sp>
      <p:sp>
        <p:nvSpPr>
          <p:cNvPr id="10" name="Text 7"/>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11" name="Text 8"/>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17</a:t>
            </a:r>
            <a:endParaRPr lang="en-US" sz="1500" dirty="0"/>
          </a:p>
        </p:txBody>
      </p:sp>
      <p:pic>
        <p:nvPicPr>
          <p:cNvPr id="12" name="Image 0" descr="preencoded.png">    </p:cNvPr>
          <p:cNvPicPr>
            <a:picLocks noChangeAspect="1"/>
          </p:cNvPicPr>
          <p:nvPr/>
        </p:nvPicPr>
        <p:blipFill>
          <a:blip r:embed="rId1">
            <a:alphaModFix amt="60000"/>
          </a:blip>
          <a:srcRect l="0" r="0" t="0" b="0"/>
          <a:stretch/>
        </p:blipFill>
        <p:spPr>
          <a:xfrm>
            <a:off x="11468100" y="6400800"/>
            <a:ext cx="431800" cy="4318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B: Literature review</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2.2. HDC, ECC and SHCC are one material family</a:t>
            </a:r>
            <a:endParaRPr lang="en-US" sz="2800" dirty="0"/>
          </a:p>
        </p:txBody>
      </p:sp>
      <p:sp>
        <p:nvSpPr>
          <p:cNvPr id="7" name="Text 5"/>
          <p:cNvSpPr/>
          <p:nvPr/>
        </p:nvSpPr>
        <p:spPr>
          <a:xfrm>
            <a:off x="812800" y="1635720"/>
            <a:ext cx="10464800" cy="61456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E464C"/>
                </a:solidFill>
                <a:latin typeface="Arial" pitchFamily="34" charset="0"/>
                <a:ea typeface="Arial" pitchFamily="34" charset="-122"/>
                <a:cs typeface="Arial" pitchFamily="34" charset="-120"/>
              </a:rPr>
              <a:t>Chinese papers write “high ductile (or high-ductility) concrete, also known as ECC”. Japan says UHPFRCC, Europe says SHCC. The common definition: tensile strain hardening with multiple fine cracks.</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2491581"/>
          <a:ext cx="10553700" cy="1929805"/>
        </p:xfrm>
        <a:graphic>
          <a:graphicData uri="http://schemas.openxmlformats.org/drawingml/2006/table">
            <a:tbl>
              <a:tblPr/>
              <a:tblGrid>
                <a:gridCol w="2955036"/>
                <a:gridCol w="2110740"/>
                <a:gridCol w="2532888"/>
                <a:gridCol w="2955036"/>
              </a:tblGrid>
              <a:tr h="385961">
                <a:tc>
                  <a:txBody>
                    <a:bodyPr/>
                    <a:lstStyle/>
                    <a:p>
                      <a:pPr indent="0" marL="0">
                        <a:lnSpc>
                          <a:spcPts val="1960"/>
                        </a:lnSpc>
                        <a:buNone/>
                      </a:pPr>
                      <a:r>
                        <a:rPr lang="en-US" sz="1400" b="1" dirty="0">
                          <a:solidFill>
                            <a:srgbClr val="22272B"/>
                          </a:solidFill>
                          <a:latin typeface="Arial" pitchFamily="34" charset="0"/>
                          <a:ea typeface="Arial" pitchFamily="34" charset="-122"/>
                          <a:cs typeface="Arial" pitchFamily="34" charset="-120"/>
                        </a:rPr>
                        <a:t>Class</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22272B"/>
                          </a:solidFill>
                          <a:latin typeface="Arial" pitchFamily="34" charset="0"/>
                          <a:ea typeface="Arial" pitchFamily="34" charset="-122"/>
                          <a:cs typeface="Arial" pitchFamily="34" charset="-120"/>
                        </a:rPr>
                        <a:t>f'c</a:t>
                      </a:r>
                      <a:endParaRPr lang="en-US" sz="1400" dirty="0">
                        <a:latin typeface="Arial" charset="0"/>
                        <a:ea typeface="Arial" charset="0"/>
                        <a:cs typeface="Arial"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22272B"/>
                          </a:solidFill>
                          <a:latin typeface="Arial" pitchFamily="34" charset="0"/>
                          <a:ea typeface="Arial" pitchFamily="34" charset="-122"/>
                          <a:cs typeface="Arial" pitchFamily="34" charset="-120"/>
                        </a:rPr>
                        <a:t>Tensile strain capacity</a:t>
                      </a:r>
                      <a:endParaRPr lang="en-US" sz="1400" dirty="0">
                        <a:latin typeface="Arial" charset="0"/>
                        <a:ea typeface="Arial" charset="0"/>
                        <a:cs typeface="Arial"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22272B"/>
                          </a:solidFill>
                          <a:latin typeface="Arial" pitchFamily="34" charset="0"/>
                          <a:ea typeface="Arial" pitchFamily="34" charset="-122"/>
                          <a:cs typeface="Arial" pitchFamily="34" charset="-120"/>
                        </a:rPr>
                        <a:t>Source</a:t>
                      </a:r>
                      <a:endParaRPr lang="en-US" sz="1400" dirty="0">
                        <a:latin typeface="Arial" charset="0"/>
                        <a:ea typeface="Arial" charset="0"/>
                        <a:cs typeface="Arial"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85961">
                <a:tc>
                  <a:txBody>
                    <a:bodyPr/>
                    <a:lstStyle/>
                    <a:p>
                      <a:pPr indent="0" marL="0">
                        <a:lnSpc>
                          <a:spcPts val="1960"/>
                        </a:lnSpc>
                        <a:buNone/>
                      </a:pPr>
                      <a:r>
                        <a:rPr lang="en-US" sz="1400" dirty="0">
                          <a:solidFill>
                            <a:srgbClr val="22272B"/>
                          </a:solidFill>
                          <a:latin typeface="Arial" pitchFamily="34" charset="0"/>
                          <a:ea typeface="Arial" pitchFamily="34" charset="-122"/>
                          <a:cs typeface="Arial" pitchFamily="34" charset="-120"/>
                        </a:rPr>
                        <a:t>Normal ECC / HDC</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22272B"/>
                          </a:solidFill>
                          <a:latin typeface="Arial" pitchFamily="34" charset="0"/>
                          <a:ea typeface="Arial" pitchFamily="34" charset="-122"/>
                          <a:cs typeface="Arial" pitchFamily="34" charset="-120"/>
                        </a:rPr>
                        <a:t>30–80 MPa</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22272B"/>
                          </a:solidFill>
                          <a:latin typeface="Arial" pitchFamily="34" charset="0"/>
                          <a:ea typeface="Arial" pitchFamily="34" charset="-122"/>
                          <a:cs typeface="Arial" pitchFamily="34" charset="-120"/>
                        </a:rPr>
                        <a:t>2–8%</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22272B"/>
                          </a:solidFill>
                          <a:latin typeface="Arial" pitchFamily="34" charset="0"/>
                          <a:ea typeface="Arial" pitchFamily="34" charset="-122"/>
                          <a:cs typeface="Arial" pitchFamily="34" charset="-120"/>
                        </a:rPr>
                        <a:t>Su 2023; Zhang 2022</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22272B"/>
                          </a:solidFill>
                          <a:latin typeface="Arial" pitchFamily="34" charset="0"/>
                          <a:ea typeface="Arial" pitchFamily="34" charset="-122"/>
                          <a:cs typeface="Arial" pitchFamily="34" charset="-120"/>
                        </a:rPr>
                        <a:t>High-strength (HSHDCC)</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22272B"/>
                          </a:solidFill>
                          <a:latin typeface="Arial" pitchFamily="34" charset="0"/>
                          <a:ea typeface="Arial" pitchFamily="34" charset="-122"/>
                          <a:cs typeface="Arial" pitchFamily="34" charset="-120"/>
                        </a:rPr>
                        <a:t>&gt; 100 MPa</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22272B"/>
                          </a:solidFill>
                          <a:latin typeface="Arial" pitchFamily="34" charset="0"/>
                          <a:ea typeface="Arial" pitchFamily="34" charset="-122"/>
                          <a:cs typeface="Arial" pitchFamily="34" charset="-120"/>
                        </a:rPr>
                        <a:t>&gt; 3%</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22272B"/>
                          </a:solidFill>
                          <a:latin typeface="Arial" pitchFamily="34" charset="0"/>
                          <a:ea typeface="Arial" pitchFamily="34" charset="-122"/>
                          <a:cs typeface="Arial" pitchFamily="34" charset="-120"/>
                        </a:rPr>
                        <a:t>Zhang 2022</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22272B"/>
                          </a:solidFill>
                          <a:latin typeface="Arial" pitchFamily="34" charset="0"/>
                          <a:ea typeface="Arial" pitchFamily="34" charset="-122"/>
                          <a:cs typeface="Arial" pitchFamily="34" charset="-120"/>
                        </a:rPr>
                        <a:t>Ultra-high ductile (UHDC)</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22272B"/>
                          </a:solidFill>
                          <a:latin typeface="Arial" pitchFamily="34" charset="0"/>
                          <a:ea typeface="Arial" pitchFamily="34" charset="-122"/>
                          <a:cs typeface="Arial" pitchFamily="34" charset="-120"/>
                        </a:rPr>
                        <a:t>about 37 MPa</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22272B"/>
                          </a:solidFill>
                          <a:latin typeface="Arial" pitchFamily="34" charset="0"/>
                          <a:ea typeface="Arial" pitchFamily="34" charset="-122"/>
                          <a:cs typeface="Arial" pitchFamily="34" charset="-120"/>
                        </a:rPr>
                        <a:t>up to 12%</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22272B"/>
                          </a:solidFill>
                          <a:latin typeface="Arial" pitchFamily="34" charset="0"/>
                          <a:ea typeface="Arial" pitchFamily="34" charset="-122"/>
                          <a:cs typeface="Arial" pitchFamily="34" charset="-120"/>
                        </a:rPr>
                        <a:t>Ye 2021</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22272B"/>
                          </a:solidFill>
                          <a:latin typeface="Arial" pitchFamily="34" charset="0"/>
                          <a:ea typeface="Arial" pitchFamily="34" charset="-122"/>
                          <a:cs typeface="Arial" pitchFamily="34" charset="-120"/>
                        </a:rPr>
                        <a:t>UHPC (not HDC)</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c>
                  <a:txBody>
                    <a:bodyPr/>
                    <a:lstStyle/>
                    <a:p>
                      <a:pPr indent="0" marL="0">
                        <a:lnSpc>
                          <a:spcPts val="1960"/>
                        </a:lnSpc>
                        <a:buNone/>
                      </a:pPr>
                      <a:r>
                        <a:rPr lang="en-US" sz="1400" dirty="0">
                          <a:solidFill>
                            <a:srgbClr val="22272B"/>
                          </a:solidFill>
                          <a:latin typeface="Arial" pitchFamily="34" charset="0"/>
                          <a:ea typeface="Arial" pitchFamily="34" charset="-122"/>
                          <a:cs typeface="Arial" pitchFamily="34" charset="-120"/>
                        </a:rPr>
                        <a:t>≥ 150 MPa</a:t>
                      </a:r>
                      <a:endParaRPr lang="en-US" sz="1400" dirty="0">
                        <a:latin typeface="Arial" charset="0"/>
                        <a:ea typeface="Arial" charset="0"/>
                        <a:cs typeface="Arial" charset="0"/>
                      </a:endParaRPr>
                    </a:p>
                  </a:txBody>
                  <a:tcPr marL="62230" marR="62230" marT="62230" marB="62230" anchor="t">
                    <a:lnL w="12700" cap="flat" cmpd="sng" algn="ctr">
                      <a:solidFill>
                        <a:srgbClr val="BEC2C6"/>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c>
                  <a:txBody>
                    <a:bodyPr/>
                    <a:lstStyle/>
                    <a:p>
                      <a:pPr indent="0" marL="0">
                        <a:lnSpc>
                          <a:spcPts val="1960"/>
                        </a:lnSpc>
                        <a:buNone/>
                      </a:pPr>
                      <a:r>
                        <a:rPr lang="en-US" sz="1400" dirty="0">
                          <a:solidFill>
                            <a:srgbClr val="22272B"/>
                          </a:solidFill>
                          <a:latin typeface="Arial" pitchFamily="34" charset="0"/>
                          <a:ea typeface="Arial" pitchFamily="34" charset="-122"/>
                          <a:cs typeface="Arial" pitchFamily="34" charset="-120"/>
                        </a:rPr>
                        <a:t>&lt; 1%</a:t>
                      </a:r>
                      <a:endParaRPr lang="en-US" sz="1400" dirty="0">
                        <a:latin typeface="Arial" charset="0"/>
                        <a:ea typeface="Arial" charset="0"/>
                        <a:cs typeface="Arial" charset="0"/>
                      </a:endParaRPr>
                    </a:p>
                  </a:txBody>
                  <a:tcPr marL="62230" marR="62230" marT="62230" marB="62230" anchor="t">
                    <a:lnL w="12700" cap="flat" cmpd="sng" algn="ctr">
                      <a:solidFill>
                        <a:srgbClr val="BEC2C6"/>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c>
                  <a:txBody>
                    <a:bodyPr/>
                    <a:lstStyle/>
                    <a:p>
                      <a:pPr indent="0" marL="0">
                        <a:lnSpc>
                          <a:spcPts val="1960"/>
                        </a:lnSpc>
                        <a:buNone/>
                      </a:pPr>
                      <a:r>
                        <a:rPr lang="en-US" sz="1400" dirty="0">
                          <a:solidFill>
                            <a:srgbClr val="22272B"/>
                          </a:solidFill>
                          <a:latin typeface="Arial" pitchFamily="34" charset="0"/>
                          <a:ea typeface="Arial" pitchFamily="34" charset="-122"/>
                          <a:cs typeface="Arial" pitchFamily="34" charset="-120"/>
                        </a:rPr>
                        <a:t>Zhang 2022; Ranade 2017</a:t>
                      </a:r>
                      <a:endParaRPr lang="en-US" sz="1400" dirty="0">
                        <a:latin typeface="Arial" charset="0"/>
                        <a:ea typeface="Arial" charset="0"/>
                        <a:cs typeface="Arial" charset="0"/>
                      </a:endParaRPr>
                    </a:p>
                  </a:txBody>
                  <a:tcPr marL="62230" marR="62230" marT="62230" marB="62230" anchor="t">
                    <a:lnL w="12700" cap="flat" cmpd="sng" algn="ctr">
                      <a:solidFill>
                        <a:srgbClr val="BEC2C6"/>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r>
            </a:tbl>
          </a:graphicData>
        </a:graphic>
      </p:graphicFrame>
      <p:sp>
        <p:nvSpPr>
          <p:cNvPr id="9" name="Text 6"/>
          <p:cNvSpPr/>
          <p:nvPr/>
        </p:nvSpPr>
        <p:spPr>
          <a:xfrm>
            <a:off x="812800" y="4675386"/>
            <a:ext cx="104648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7378"/>
                </a:solidFill>
                <a:latin typeface="Arial" pitchFamily="34" charset="0"/>
                <a:ea typeface="Arial" pitchFamily="34" charset="-122"/>
                <a:cs typeface="Arial" pitchFamily="34" charset="-120"/>
              </a:rPr>
              <a:t>No ingested source cites a formal standard that defines HDC. Thresholds differ between reviews.</a:t>
            </a:r>
            <a:endParaRPr lang="en-US" sz="1400" dirty="0"/>
          </a:p>
        </p:txBody>
      </p:sp>
      <p:sp>
        <p:nvSpPr>
          <p:cNvPr id="10" name="Text 7"/>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8"/>
                </a:solidFill>
                <a:latin typeface="Arial" pitchFamily="34" charset="0"/>
                <a:ea typeface="Arial" pitchFamily="34" charset="-122"/>
                <a:cs typeface="Arial" pitchFamily="34" charset="-120"/>
              </a:rPr>
              <a:t>Part B · Terminology · wiki: terminology-hdc-ecc-shcc</a:t>
            </a:r>
            <a:endParaRPr lang="en-US" sz="1200" dirty="0"/>
          </a:p>
        </p:txBody>
      </p:sp>
      <p:sp>
        <p:nvSpPr>
          <p:cNvPr id="11" name="Shape 8"/>
          <p:cNvSpPr/>
          <p:nvPr/>
        </p:nvSpPr>
        <p:spPr>
          <a:xfrm>
            <a:off x="0" y="6350000"/>
            <a:ext cx="12192000" cy="12700"/>
          </a:xfrm>
          <a:prstGeom prst="rect">
            <a:avLst/>
          </a:prstGeom>
          <a:solidFill>
            <a:srgbClr val="A6A6A6"/>
          </a:solidFill>
          <a:ln/>
        </p:spPr>
      </p:sp>
      <p:sp>
        <p:nvSpPr>
          <p:cNvPr id="12" name="Text 9"/>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13" name="Text 10"/>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18</a:t>
            </a:r>
            <a:endParaRPr lang="en-US" sz="1500" dirty="0"/>
          </a:p>
        </p:txBody>
      </p:sp>
      <p:pic>
        <p:nvPicPr>
          <p:cNvPr id="14" name="Image 0" descr="preencoded.png">    </p:cNvPr>
          <p:cNvPicPr>
            <a:picLocks noChangeAspect="1"/>
          </p:cNvPicPr>
          <p:nvPr/>
        </p:nvPicPr>
        <p:blipFill>
          <a:blip r:embed="rId1">
            <a:alphaModFix amt="60000"/>
          </a:blip>
          <a:srcRect l="0" r="0" t="0" b="0"/>
          <a:stretch/>
        </p:blipFill>
        <p:spPr>
          <a:xfrm>
            <a:off x="11468100" y="6400800"/>
            <a:ext cx="431800" cy="4318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B: Literature review</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2.3. Four research lineages in the corpus</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648420"/>
          <a:ext cx="10553700" cy="2977059"/>
        </p:xfrm>
        <a:graphic>
          <a:graphicData uri="http://schemas.openxmlformats.org/drawingml/2006/table">
            <a:tbl>
              <a:tblPr/>
              <a:tblGrid>
                <a:gridCol w="1688592"/>
                <a:gridCol w="2216277"/>
                <a:gridCol w="2216277"/>
                <a:gridCol w="2216277"/>
                <a:gridCol w="2216277"/>
              </a:tblGrid>
              <a:tr h="359271">
                <a:tc>
                  <a:txBody>
                    <a:bodyPr/>
                    <a:lstStyle/>
                    <a:p>
                      <a:pPr indent="0" marL="0">
                        <a:lnSpc>
                          <a:spcPts val="1820"/>
                        </a:lnSpc>
                        <a:buNone/>
                      </a:pP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22272B"/>
                          </a:solidFill>
                          <a:latin typeface="Arial" pitchFamily="34" charset="0"/>
                          <a:ea typeface="Arial" pitchFamily="34" charset="-122"/>
                          <a:cs typeface="Arial" pitchFamily="34" charset="-120"/>
                        </a:rPr>
                        <a:t>Michigan / ERDC</a:t>
                      </a:r>
                      <a:endParaRPr lang="en-US" sz="1300" dirty="0">
                        <a:latin typeface="Arial" charset="0"/>
                        <a:ea typeface="Arial" charset="0"/>
                        <a:cs typeface="Arial"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22272B"/>
                          </a:solidFill>
                          <a:latin typeface="Arial" pitchFamily="34" charset="0"/>
                          <a:ea typeface="Arial" pitchFamily="34" charset="-122"/>
                          <a:cs typeface="Arial" pitchFamily="34" charset="-120"/>
                        </a:rPr>
                        <a:t>GDUT, Guangzhou</a:t>
                      </a:r>
                      <a:endParaRPr lang="en-US" sz="1300" dirty="0">
                        <a:latin typeface="Arial" charset="0"/>
                        <a:ea typeface="Arial" charset="0"/>
                        <a:cs typeface="Arial"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22272B"/>
                          </a:solidFill>
                          <a:latin typeface="Arial" pitchFamily="34" charset="0"/>
                          <a:ea typeface="Arial" pitchFamily="34" charset="-122"/>
                          <a:cs typeface="Arial" pitchFamily="34" charset="-120"/>
                        </a:rPr>
                        <a:t>Xi’an (Deng)</a:t>
                      </a:r>
                      <a:endParaRPr lang="en-US" sz="1300" dirty="0">
                        <a:latin typeface="Arial" charset="0"/>
                        <a:ea typeface="Arial" charset="0"/>
                        <a:cs typeface="Arial"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22272B"/>
                          </a:solidFill>
                          <a:latin typeface="Arial" pitchFamily="34" charset="0"/>
                          <a:ea typeface="Arial" pitchFamily="34" charset="-122"/>
                          <a:cs typeface="Arial" pitchFamily="34" charset="-120"/>
                        </a:rPr>
                        <a:t>Tongji (Yu)</a:t>
                      </a:r>
                      <a:endParaRPr lang="en-US" sz="1300" dirty="0">
                        <a:latin typeface="Arial" charset="0"/>
                        <a:ea typeface="Arial" charset="0"/>
                        <a:cs typeface="Arial"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9271">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Name used</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HSHDC</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R-HSHDC</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HSHDC</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UHDC</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90352">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Binder</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Class H cement, silica fume, w/cm 0.15</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cement, slag, silica fume</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cement, 15–25% fly ash, W/B 0.16</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cement, fly ash 1.2× cement</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Fiber</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PE 2%, 28 µm</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PE 2%, 20 µm</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PE or PVA</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PE 1–2%</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Curing</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90 °C water and air</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room temperature</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20 °C standard</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room temperature</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f'c</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166 MPa</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about 86–157 MPa</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about 92–110 MPa</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about 37 MPa</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90352">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Strain capacity</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3.4–4.2%</a:t>
                      </a:r>
                      <a:endParaRPr lang="en-US" sz="1300" dirty="0">
                        <a:latin typeface="Arial" charset="0"/>
                        <a:ea typeface="Arial" charset="0"/>
                        <a:cs typeface="Arial" charset="0"/>
                      </a:endParaRPr>
                    </a:p>
                  </a:txBody>
                  <a:tcPr marL="57785" marR="57785" marT="57785" marB="57785" anchor="t">
                    <a:lnL w="12700" cap="flat" cmpd="sng" algn="ctr">
                      <a:solidFill>
                        <a:srgbClr val="BEC2C6"/>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2.9–5.7%</a:t>
                      </a:r>
                      <a:endParaRPr lang="en-US" sz="1300" dirty="0">
                        <a:latin typeface="Arial" charset="0"/>
                        <a:ea typeface="Arial" charset="0"/>
                        <a:cs typeface="Arial" charset="0"/>
                      </a:endParaRPr>
                    </a:p>
                  </a:txBody>
                  <a:tcPr marL="57785" marR="57785" marT="57785" marB="57785" anchor="t">
                    <a:lnL w="12700" cap="flat" cmpd="sng" algn="ctr">
                      <a:solidFill>
                        <a:srgbClr val="BEC2C6"/>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PE 3.6–6.5%; PVA 0.2–0.3%</a:t>
                      </a:r>
                      <a:endParaRPr lang="en-US" sz="1300" dirty="0">
                        <a:latin typeface="Arial" charset="0"/>
                        <a:ea typeface="Arial" charset="0"/>
                        <a:cs typeface="Arial" charset="0"/>
                      </a:endParaRPr>
                    </a:p>
                  </a:txBody>
                  <a:tcPr marL="57785" marR="57785" marT="57785" marB="57785" anchor="t">
                    <a:lnL w="12700" cap="flat" cmpd="sng" algn="ctr">
                      <a:solidFill>
                        <a:srgbClr val="BEC2C6"/>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4.3–9.5%</a:t>
                      </a:r>
                      <a:endParaRPr lang="en-US" sz="1300" dirty="0">
                        <a:latin typeface="Arial" charset="0"/>
                        <a:ea typeface="Arial" charset="0"/>
                        <a:cs typeface="Arial" charset="0"/>
                      </a:endParaRPr>
                    </a:p>
                  </a:txBody>
                  <a:tcPr marL="57785" marR="57785" marT="57785" marB="57785" anchor="t">
                    <a:lnL w="12700" cap="flat" cmpd="sng" algn="ctr">
                      <a:solidFill>
                        <a:srgbClr val="BEC2C6"/>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r>
            </a:tbl>
          </a:graphicData>
        </a:graphic>
      </p:graphicFrame>
      <p:sp>
        <p:nvSpPr>
          <p:cNvPr id="8" name="Text 5"/>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8"/>
                </a:solidFill>
                <a:latin typeface="Arial" pitchFamily="34" charset="0"/>
                <a:ea typeface="Arial" pitchFamily="34" charset="-122"/>
                <a:cs typeface="Arial" pitchFamily="34" charset="-120"/>
              </a:rPr>
              <a:t>Part B · Lineages · Ranade 2015, 2017; Su 2023; Yang 2024; Ye 2021 · wiki: hshdc</a:t>
            </a:r>
            <a:endParaRPr lang="en-US" sz="1200" dirty="0"/>
          </a:p>
        </p:txBody>
      </p:sp>
      <p:sp>
        <p:nvSpPr>
          <p:cNvPr id="9" name="Shape 6"/>
          <p:cNvSpPr/>
          <p:nvPr/>
        </p:nvSpPr>
        <p:spPr>
          <a:xfrm>
            <a:off x="0" y="6350000"/>
            <a:ext cx="12192000" cy="12700"/>
          </a:xfrm>
          <a:prstGeom prst="rect">
            <a:avLst/>
          </a:prstGeom>
          <a:solidFill>
            <a:srgbClr val="A6A6A6"/>
          </a:solidFill>
          <a:ln/>
        </p:spPr>
      </p:sp>
      <p:sp>
        <p:nvSpPr>
          <p:cNvPr id="10" name="Text 7"/>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11" name="Text 8"/>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19</a:t>
            </a:r>
            <a:endParaRPr lang="en-US" sz="1500" dirty="0"/>
          </a:p>
        </p:txBody>
      </p:sp>
      <p:pic>
        <p:nvPicPr>
          <p:cNvPr id="12" name="Image 0" descr="preencoded.png">    </p:cNvPr>
          <p:cNvPicPr>
            <a:picLocks noChangeAspect="1"/>
          </p:cNvPicPr>
          <p:nvPr/>
        </p:nvPicPr>
        <p:blipFill>
          <a:blip r:embed="rId1">
            <a:alphaModFix amt="60000"/>
          </a:blip>
          <a:srcRect l="0" r="0" t="0" b="0"/>
          <a:stretch/>
        </p:blipFill>
        <p:spPr>
          <a:xfrm>
            <a:off x="11468100" y="6400800"/>
            <a:ext cx="431800" cy="4318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B: Literature review</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2.4. Why it bends: many fine cracks instead of one</a:t>
            </a:r>
            <a:endParaRPr lang="en-US" sz="2800" dirty="0"/>
          </a:p>
        </p:txBody>
      </p:sp>
      <p:sp>
        <p:nvSpPr>
          <p:cNvPr id="7" name="Text 5"/>
          <p:cNvSpPr/>
          <p:nvPr/>
        </p:nvSpPr>
        <p:spPr>
          <a:xfrm>
            <a:off x="812800" y="1686520"/>
            <a:ext cx="542268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2272B"/>
                </a:solidFill>
                <a:latin typeface="Arial" pitchFamily="34" charset="0"/>
                <a:ea typeface="Arial" pitchFamily="34" charset="-122"/>
                <a:cs typeface="Arial" pitchFamily="34" charset="-120"/>
              </a:rPr>
              <a:t>The multiple-cracking cycle</a:t>
            </a:r>
            <a:endParaRPr lang="en-US" sz="1800" dirty="0"/>
          </a:p>
        </p:txBody>
      </p:sp>
      <p:sp>
        <p:nvSpPr>
          <p:cNvPr id="8" name="Text 6"/>
          <p:cNvSpPr/>
          <p:nvPr/>
        </p:nvSpPr>
        <p:spPr>
          <a:xfrm>
            <a:off x="854968" y="2087761"/>
            <a:ext cx="5372900" cy="1406525"/>
          </a:xfrm>
          <a:prstGeom prst="rect">
            <a:avLst/>
          </a:prstGeom>
          <a:noFill/>
          <a:ln/>
        </p:spPr>
        <p:txBody>
          <a:bodyPr wrap="square" lIns="0" tIns="0" rIns="0" bIns="0" rtlCol="0" anchor="t">
            <a:normAutofit/>
          </a:bodyPr>
          <a:lstStyle/>
          <a:p>
            <a:pPr algn="l" marL="211832" indent="-211832">
              <a:lnSpc>
                <a:spcPts val="2175"/>
              </a:lnSpc>
              <a:buSzPct val="100000"/>
              <a:buFontTx/>
              <a:buAutoNum type="arabicPeriod" startAt="1"/>
            </a:pPr>
            <a:r>
              <a:rPr lang="en-US" sz="1500" dirty="0">
                <a:solidFill>
                  <a:srgbClr val="3E464C"/>
                </a:solidFill>
                <a:latin typeface="Arial" pitchFamily="34" charset="0"/>
                <a:ea typeface="Arial" pitchFamily="34" charset="-122"/>
                <a:cs typeface="Arial" pitchFamily="34" charset="-120"/>
              </a:rPr>
              <a:t>The matrix cracks at its largest flaw</a:t>
            </a:r>
            <a:endParaRPr lang="en-US" sz="1500" dirty="0"/>
          </a:p>
          <a:p>
            <a:pPr algn="l" marL="211832" indent="-211832">
              <a:lnSpc>
                <a:spcPts val="2175"/>
              </a:lnSpc>
              <a:buSzPct val="100000"/>
              <a:buFontTx/>
              <a:buAutoNum type="arabicPeriod" startAt="1"/>
            </a:pPr>
            <a:r>
              <a:rPr lang="en-US" sz="1500" dirty="0">
                <a:solidFill>
                  <a:srgbClr val="3E464C"/>
                </a:solidFill>
                <a:latin typeface="Arial" pitchFamily="34" charset="0"/>
                <a:ea typeface="Arial" pitchFamily="34" charset="-122"/>
                <a:cs typeface="Arial" pitchFamily="34" charset="-120"/>
              </a:rPr>
              <a:t>Fibers bridging the crack carry the whole load</a:t>
            </a:r>
            <a:endParaRPr lang="en-US" sz="1500" dirty="0"/>
          </a:p>
          <a:p>
            <a:pPr algn="l" marL="211832" indent="-211832">
              <a:lnSpc>
                <a:spcPts val="2175"/>
              </a:lnSpc>
              <a:buSzPct val="100000"/>
              <a:buFontTx/>
              <a:buAutoNum type="arabicPeriod" startAt="1"/>
            </a:pPr>
            <a:r>
              <a:rPr lang="en-US" sz="1500" dirty="0">
                <a:solidFill>
                  <a:srgbClr val="3E464C"/>
                </a:solidFill>
                <a:latin typeface="Arial" pitchFamily="34" charset="0"/>
                <a:ea typeface="Arial" pitchFamily="34" charset="-122"/>
                <a:cs typeface="Arial" pitchFamily="34" charset="-120"/>
              </a:rPr>
              <a:t>They pass load back into the matrix by shear</a:t>
            </a:r>
            <a:endParaRPr lang="en-US" sz="1500" dirty="0"/>
          </a:p>
          <a:p>
            <a:pPr algn="l" marL="211832" indent="-211832">
              <a:lnSpc>
                <a:spcPts val="2175"/>
              </a:lnSpc>
              <a:buSzPct val="100000"/>
              <a:buFontTx/>
              <a:buAutoNum type="arabicPeriod" startAt="1"/>
            </a:pPr>
            <a:r>
              <a:rPr lang="en-US" sz="1500" dirty="0">
                <a:solidFill>
                  <a:srgbClr val="3E464C"/>
                </a:solidFill>
                <a:latin typeface="Arial" pitchFamily="34" charset="0"/>
                <a:ea typeface="Arial" pitchFamily="34" charset="-122"/>
                <a:cs typeface="Arial" pitchFamily="34" charset="-120"/>
              </a:rPr>
              <a:t>A new crack forms at the next flaw, at a higher stress</a:t>
            </a:r>
            <a:endParaRPr lang="en-US" sz="1500" dirty="0"/>
          </a:p>
          <a:p>
            <a:pPr algn="l" marL="211832" indent="-211832">
              <a:lnSpc>
                <a:spcPts val="2175"/>
              </a:lnSpc>
              <a:buSzPct val="100000"/>
              <a:buFontTx/>
              <a:buAutoNum type="arabicPeriod" startAt="1"/>
            </a:pPr>
            <a:r>
              <a:rPr lang="en-US" sz="1500" dirty="0">
                <a:solidFill>
                  <a:srgbClr val="3E464C"/>
                </a:solidFill>
                <a:latin typeface="Arial" pitchFamily="34" charset="0"/>
                <a:ea typeface="Arial" pitchFamily="34" charset="-122"/>
                <a:cs typeface="Arial" pitchFamily="34" charset="-120"/>
              </a:rPr>
              <a:t>Repeat until one crack’s bridging capacity is exhausted</a:t>
            </a:r>
            <a:endParaRPr lang="en-US" sz="1500" dirty="0"/>
          </a:p>
        </p:txBody>
      </p:sp>
      <p:sp>
        <p:nvSpPr>
          <p:cNvPr id="9" name="Text 7"/>
          <p:cNvSpPr/>
          <p:nvPr/>
        </p:nvSpPr>
        <p:spPr>
          <a:xfrm>
            <a:off x="812800" y="3595886"/>
            <a:ext cx="5422688"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64C"/>
                </a:solidFill>
                <a:latin typeface="Arial" pitchFamily="34" charset="0"/>
                <a:ea typeface="Arial" pitchFamily="34" charset="-122"/>
                <a:cs typeface="Arial" pitchFamily="34" charset="-120"/>
              </a:rPr>
              <a:t>Prerequisite: each crack must open flat, at constant stress (steady-state cracking), not like a Griffith crack.</a:t>
            </a:r>
            <a:endParaRPr lang="en-US" sz="1500" dirty="0"/>
          </a:p>
        </p:txBody>
      </p:sp>
      <p:sp>
        <p:nvSpPr>
          <p:cNvPr id="10" name="Shape 8"/>
          <p:cNvSpPr/>
          <p:nvPr/>
        </p:nvSpPr>
        <p:spPr>
          <a:xfrm>
            <a:off x="6382345" y="1686520"/>
            <a:ext cx="4996855" cy="2869902"/>
          </a:xfrm>
          <a:prstGeom prst="roundRect">
            <a:avLst>
              <a:gd name="adj" fmla="val 2655"/>
            </a:avLst>
          </a:prstGeom>
          <a:solidFill>
            <a:srgbClr val="1F4E79"/>
          </a:solidFill>
          <a:ln/>
        </p:spPr>
      </p:sp>
      <p:sp>
        <p:nvSpPr>
          <p:cNvPr id="11" name="Text 9"/>
          <p:cNvSpPr/>
          <p:nvPr/>
        </p:nvSpPr>
        <p:spPr>
          <a:xfrm>
            <a:off x="6687145" y="1991320"/>
            <a:ext cx="451887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FB8D6"/>
                </a:solidFill>
                <a:latin typeface="Arial" pitchFamily="34" charset="0"/>
                <a:ea typeface="Arial" pitchFamily="34" charset="-122"/>
                <a:cs typeface="Arial" pitchFamily="34" charset="-120"/>
              </a:rPr>
              <a:t>Li &amp; Leung 1992, Eq. 17</a:t>
            </a:r>
            <a:endParaRPr lang="en-US" sz="1400" dirty="0"/>
          </a:p>
        </p:txBody>
      </p:sp>
      <p:sp>
        <p:nvSpPr>
          <p:cNvPr id="12" name="Text 10"/>
          <p:cNvSpPr/>
          <p:nvPr/>
        </p:nvSpPr>
        <p:spPr>
          <a:xfrm>
            <a:off x="6687145" y="2341761"/>
            <a:ext cx="4518872" cy="43428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F4F5F2"/>
                </a:solidFill>
                <a:latin typeface="Arial" pitchFamily="34" charset="0"/>
                <a:ea typeface="Arial" pitchFamily="34" charset="-122"/>
                <a:cs typeface="Arial" pitchFamily="34" charset="-120"/>
              </a:rPr>
              <a:t>Vf,crit ∝ (Lf / df)⁻³</a:t>
            </a:r>
            <a:endParaRPr lang="en-US" sz="2800" dirty="0"/>
          </a:p>
        </p:txBody>
      </p:sp>
      <p:sp>
        <p:nvSpPr>
          <p:cNvPr id="13" name="Text 11"/>
          <p:cNvSpPr/>
          <p:nvPr/>
        </p:nvSpPr>
        <p:spPr>
          <a:xfrm>
            <a:off x="6687145" y="2852241"/>
            <a:ext cx="451887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0C4"/>
                </a:solidFill>
                <a:latin typeface="Arial" pitchFamily="34" charset="0"/>
                <a:ea typeface="Arial" pitchFamily="34" charset="-122"/>
                <a:cs typeface="Arial" pitchFamily="34" charset="-120"/>
              </a:rPr>
              <a:t>The critical fiber volume falls with the cube of the aspect ratio: doubling fiber length cuts the fiber needed by 87.5%.</a:t>
            </a:r>
            <a:endParaRPr lang="en-US" sz="1500" dirty="0"/>
          </a:p>
        </p:txBody>
      </p:sp>
      <p:sp>
        <p:nvSpPr>
          <p:cNvPr id="14" name="Text 12"/>
          <p:cNvSpPr/>
          <p:nvPr/>
        </p:nvSpPr>
        <p:spPr>
          <a:xfrm>
            <a:off x="6687145" y="3753941"/>
            <a:ext cx="451887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0C4"/>
                </a:solidFill>
                <a:latin typeface="Arial" pitchFamily="34" charset="0"/>
                <a:ea typeface="Arial" pitchFamily="34" charset="-122"/>
                <a:cs typeface="Arial" pitchFamily="34" charset="-120"/>
              </a:rPr>
              <a:t>Energy condition: area under the bridging curve ≥ 10 × crack-tip toughness.</a:t>
            </a:r>
            <a:endParaRPr lang="en-US" sz="1400" dirty="0"/>
          </a:p>
        </p:txBody>
      </p:sp>
      <p:sp>
        <p:nvSpPr>
          <p:cNvPr id="15" name="Text 13"/>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8"/>
                </a:solidFill>
                <a:latin typeface="Arial" pitchFamily="34" charset="0"/>
                <a:ea typeface="Arial" pitchFamily="34" charset="-122"/>
                <a:cs typeface="Arial" pitchFamily="34" charset="-120"/>
              </a:rPr>
              <a:t>Part B · Design theory · li1992-steady-state-multiple-cracking · wiki: steady-state-cracking</a:t>
            </a:r>
            <a:endParaRPr lang="en-US" sz="1200" dirty="0"/>
          </a:p>
        </p:txBody>
      </p:sp>
      <p:sp>
        <p:nvSpPr>
          <p:cNvPr id="16" name="Shape 14"/>
          <p:cNvSpPr/>
          <p:nvPr/>
        </p:nvSpPr>
        <p:spPr>
          <a:xfrm>
            <a:off x="0" y="6350000"/>
            <a:ext cx="12192000" cy="12700"/>
          </a:xfrm>
          <a:prstGeom prst="rect">
            <a:avLst/>
          </a:prstGeom>
          <a:solidFill>
            <a:srgbClr val="A6A6A6"/>
          </a:solidFill>
          <a:ln/>
        </p:spPr>
      </p:sp>
      <p:sp>
        <p:nvSpPr>
          <p:cNvPr id="17" name="Text 15"/>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18" name="Text 16"/>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20</a:t>
            </a:r>
            <a:endParaRPr lang="en-US" sz="1500" dirty="0"/>
          </a:p>
        </p:txBody>
      </p:sp>
      <p:pic>
        <p:nvPicPr>
          <p:cNvPr id="19" name="Image 0" descr="preencoded.png">    </p:cNvPr>
          <p:cNvPicPr>
            <a:picLocks noChangeAspect="1"/>
          </p:cNvPicPr>
          <p:nvPr/>
        </p:nvPicPr>
        <p:blipFill>
          <a:blip r:embed="rId1">
            <a:alphaModFix amt="60000"/>
          </a:blip>
          <a:srcRect l="0" r="0" t="0" b="0"/>
          <a:stretch/>
        </p:blipFill>
        <p:spPr>
          <a:xfrm>
            <a:off x="11468100" y="6400800"/>
            <a:ext cx="431800" cy="4318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B: Literature review</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2.5. Two design criteria for strain hardening</a:t>
            </a:r>
            <a:endParaRPr lang="en-US" sz="2800" dirty="0"/>
          </a:p>
        </p:txBody>
      </p:sp>
      <p:sp>
        <p:nvSpPr>
          <p:cNvPr id="7" name="Shape 5"/>
          <p:cNvSpPr/>
          <p:nvPr/>
        </p:nvSpPr>
        <p:spPr>
          <a:xfrm>
            <a:off x="815975" y="1689695"/>
            <a:ext cx="5175250" cy="2627511"/>
          </a:xfrm>
          <a:prstGeom prst="roundRect">
            <a:avLst>
              <a:gd name="adj" fmla="val 2779"/>
            </a:avLst>
          </a:prstGeom>
          <a:solidFill>
            <a:srgbClr val="F4F8FC"/>
          </a:solidFill>
          <a:ln w="6350">
            <a:solidFill>
              <a:srgbClr val="C9D7E8"/>
            </a:solidFill>
            <a:prstDash val="solid"/>
          </a:ln>
        </p:spPr>
      </p:sp>
      <p:sp>
        <p:nvSpPr>
          <p:cNvPr id="8" name="Text 6"/>
          <p:cNvSpPr/>
          <p:nvPr/>
        </p:nvSpPr>
        <p:spPr>
          <a:xfrm>
            <a:off x="1098550" y="1972270"/>
            <a:ext cx="474840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70C0"/>
                </a:solidFill>
                <a:latin typeface="Arial" pitchFamily="34" charset="0"/>
                <a:ea typeface="Arial" pitchFamily="34" charset="-122"/>
                <a:cs typeface="Arial" pitchFamily="34" charset="-120"/>
              </a:rPr>
              <a:t>Strength criterion</a:t>
            </a:r>
            <a:endParaRPr lang="en-US" sz="1400" dirty="0"/>
          </a:p>
        </p:txBody>
      </p:sp>
      <p:sp>
        <p:nvSpPr>
          <p:cNvPr id="9" name="Text 7"/>
          <p:cNvSpPr/>
          <p:nvPr/>
        </p:nvSpPr>
        <p:spPr>
          <a:xfrm>
            <a:off x="1098550" y="2348111"/>
            <a:ext cx="4748403" cy="39112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22272B"/>
                </a:solidFill>
                <a:latin typeface="Arial" pitchFamily="34" charset="0"/>
                <a:ea typeface="Arial" pitchFamily="34" charset="-122"/>
                <a:cs typeface="Arial" pitchFamily="34" charset="-120"/>
              </a:rPr>
              <a:t>σfc ≤ min(σ₀)</a:t>
            </a:r>
            <a:endParaRPr lang="en-US" sz="2400" dirty="0"/>
          </a:p>
        </p:txBody>
      </p:sp>
      <p:sp>
        <p:nvSpPr>
          <p:cNvPr id="10" name="Text 8"/>
          <p:cNvSpPr/>
          <p:nvPr/>
        </p:nvSpPr>
        <p:spPr>
          <a:xfrm>
            <a:off x="1098550" y="2840831"/>
            <a:ext cx="474840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64C"/>
                </a:solidFill>
                <a:latin typeface="Arial" pitchFamily="34" charset="0"/>
                <a:ea typeface="Arial" pitchFamily="34" charset="-122"/>
                <a:cs typeface="Arial" pitchFamily="34" charset="-120"/>
              </a:rPr>
              <a:t>The first-crack stress must stay below the bridging capacity of the weakest section.</a:t>
            </a:r>
            <a:endParaRPr lang="en-US" sz="1500" dirty="0"/>
          </a:p>
        </p:txBody>
      </p:sp>
      <p:sp>
        <p:nvSpPr>
          <p:cNvPr id="11" name="Text 9"/>
          <p:cNvSpPr/>
          <p:nvPr/>
        </p:nvSpPr>
        <p:spPr>
          <a:xfrm>
            <a:off x="1098550" y="3501231"/>
            <a:ext cx="474840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2272B"/>
                </a:solidFill>
                <a:latin typeface="Arial" pitchFamily="34" charset="0"/>
                <a:ea typeface="Arial" pitchFamily="34" charset="-122"/>
                <a:cs typeface="Arial" pitchFamily="34" charset="-120"/>
              </a:rPr>
              <a:t>Robust if the ratio &gt; 1.2</a:t>
            </a:r>
            <a:endParaRPr lang="en-US" sz="1500" dirty="0"/>
          </a:p>
        </p:txBody>
      </p:sp>
      <p:sp>
        <p:nvSpPr>
          <p:cNvPr id="12" name="Shape 10"/>
          <p:cNvSpPr/>
          <p:nvPr/>
        </p:nvSpPr>
        <p:spPr>
          <a:xfrm>
            <a:off x="6200775" y="1689695"/>
            <a:ext cx="5175250" cy="2627511"/>
          </a:xfrm>
          <a:prstGeom prst="roundRect">
            <a:avLst>
              <a:gd name="adj" fmla="val 2779"/>
            </a:avLst>
          </a:prstGeom>
          <a:solidFill>
            <a:srgbClr val="F4F8FC"/>
          </a:solidFill>
          <a:ln w="6350">
            <a:solidFill>
              <a:srgbClr val="C9D7E8"/>
            </a:solidFill>
            <a:prstDash val="solid"/>
          </a:ln>
        </p:spPr>
      </p:sp>
      <p:sp>
        <p:nvSpPr>
          <p:cNvPr id="13" name="Text 11"/>
          <p:cNvSpPr/>
          <p:nvPr/>
        </p:nvSpPr>
        <p:spPr>
          <a:xfrm>
            <a:off x="6483350" y="1972270"/>
            <a:ext cx="474840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70C0"/>
                </a:solidFill>
                <a:latin typeface="Arial" pitchFamily="34" charset="0"/>
                <a:ea typeface="Arial" pitchFamily="34" charset="-122"/>
                <a:cs typeface="Arial" pitchFamily="34" charset="-120"/>
              </a:rPr>
              <a:t>Energy criterion</a:t>
            </a:r>
            <a:endParaRPr lang="en-US" sz="1400" dirty="0"/>
          </a:p>
        </p:txBody>
      </p:sp>
      <p:sp>
        <p:nvSpPr>
          <p:cNvPr id="14" name="Text 12"/>
          <p:cNvSpPr/>
          <p:nvPr/>
        </p:nvSpPr>
        <p:spPr>
          <a:xfrm>
            <a:off x="6483350" y="2348111"/>
            <a:ext cx="4748403" cy="39112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22272B"/>
                </a:solidFill>
                <a:latin typeface="Arial" pitchFamily="34" charset="0"/>
                <a:ea typeface="Arial" pitchFamily="34" charset="-122"/>
                <a:cs typeface="Arial" pitchFamily="34" charset="-120"/>
              </a:rPr>
              <a:t>Jtip ≈ Km²/E ≤ J′b</a:t>
            </a:r>
            <a:endParaRPr lang="en-US" sz="2400" dirty="0"/>
          </a:p>
        </p:txBody>
      </p:sp>
      <p:sp>
        <p:nvSpPr>
          <p:cNvPr id="15" name="Text 13"/>
          <p:cNvSpPr/>
          <p:nvPr/>
        </p:nvSpPr>
        <p:spPr>
          <a:xfrm>
            <a:off x="6483350" y="2840831"/>
            <a:ext cx="474840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64C"/>
                </a:solidFill>
                <a:latin typeface="Arial" pitchFamily="34" charset="0"/>
                <a:ea typeface="Arial" pitchFamily="34" charset="-122"/>
                <a:cs typeface="Arial" pitchFamily="34" charset="-120"/>
              </a:rPr>
              <a:t>The complementary energy of fiber bridging must exceed the matrix crack-tip toughness, so cracks open flat.</a:t>
            </a:r>
            <a:endParaRPr lang="en-US" sz="1500" dirty="0"/>
          </a:p>
        </p:txBody>
      </p:sp>
      <p:sp>
        <p:nvSpPr>
          <p:cNvPr id="16" name="Text 14"/>
          <p:cNvSpPr/>
          <p:nvPr/>
        </p:nvSpPr>
        <p:spPr>
          <a:xfrm>
            <a:off x="6483350" y="3767931"/>
            <a:ext cx="474840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2272B"/>
                </a:solidFill>
                <a:latin typeface="Arial" pitchFamily="34" charset="0"/>
                <a:ea typeface="Arial" pitchFamily="34" charset="-122"/>
                <a:cs typeface="Arial" pitchFamily="34" charset="-120"/>
              </a:rPr>
              <a:t>Robust if the ratio &gt; 3</a:t>
            </a:r>
            <a:endParaRPr lang="en-US" sz="1500" dirty="0"/>
          </a:p>
        </p:txBody>
      </p:sp>
      <p:sp>
        <p:nvSpPr>
          <p:cNvPr id="17" name="Text 15"/>
          <p:cNvSpPr/>
          <p:nvPr/>
        </p:nvSpPr>
        <p:spPr>
          <a:xfrm>
            <a:off x="812800" y="4625181"/>
            <a:ext cx="10464800" cy="61456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E464C"/>
                </a:solidFill>
                <a:latin typeface="Arial" pitchFamily="34" charset="0"/>
                <a:ea typeface="Arial" pitchFamily="34" charset="-122"/>
                <a:cs typeface="Arial" pitchFamily="34" charset="-120"/>
              </a:rPr>
              <a:t>Two design levers follow: weaken the matrix (lower Km and σfc) or strengthen the bridging (more, longer, stronger fibers, a tuned interface).</a:t>
            </a:r>
            <a:endParaRPr lang="en-US" sz="1600" dirty="0"/>
          </a:p>
        </p:txBody>
      </p:sp>
      <p:sp>
        <p:nvSpPr>
          <p:cNvPr id="18" name="Text 16"/>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8"/>
                </a:solidFill>
                <a:latin typeface="Arial" pitchFamily="34" charset="0"/>
                <a:ea typeface="Arial" pitchFamily="34" charset="-122"/>
                <a:cs typeface="Arial" pitchFamily="34" charset="-120"/>
              </a:rPr>
              <a:t>Part B · Design theory · Kanda &amp; Li 1998 as cited in ranade2015, su2023 · wiki: strain-hardening</a:t>
            </a:r>
            <a:endParaRPr lang="en-US" sz="1200" dirty="0"/>
          </a:p>
        </p:txBody>
      </p:sp>
      <p:sp>
        <p:nvSpPr>
          <p:cNvPr id="19" name="Shape 17"/>
          <p:cNvSpPr/>
          <p:nvPr/>
        </p:nvSpPr>
        <p:spPr>
          <a:xfrm>
            <a:off x="0" y="6350000"/>
            <a:ext cx="12192000" cy="12700"/>
          </a:xfrm>
          <a:prstGeom prst="rect">
            <a:avLst/>
          </a:prstGeom>
          <a:solidFill>
            <a:srgbClr val="A6A6A6"/>
          </a:solidFill>
          <a:ln/>
        </p:spPr>
      </p:sp>
      <p:sp>
        <p:nvSpPr>
          <p:cNvPr id="20" name="Text 18"/>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21" name="Text 19"/>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21</a:t>
            </a:r>
            <a:endParaRPr lang="en-US" sz="1500" dirty="0"/>
          </a:p>
        </p:txBody>
      </p:sp>
      <p:pic>
        <p:nvPicPr>
          <p:cNvPr id="22" name="Image 0" descr="preencoded.png">    </p:cNvPr>
          <p:cNvPicPr>
            <a:picLocks noChangeAspect="1"/>
          </p:cNvPicPr>
          <p:nvPr/>
        </p:nvPicPr>
        <p:blipFill>
          <a:blip r:embed="rId1">
            <a:alphaModFix amt="60000"/>
          </a:blip>
          <a:srcRect l="0" r="0" t="0" b="0"/>
          <a:stretch/>
        </p:blipFill>
        <p:spPr>
          <a:xfrm>
            <a:off x="11468100" y="6400800"/>
            <a:ext cx="431800" cy="4318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B: Literature review</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2.6. Tuning the interface: oil-coated PVA</a:t>
            </a:r>
            <a:endParaRPr lang="en-US" sz="2800" dirty="0"/>
          </a:p>
        </p:txBody>
      </p:sp>
      <p:sp>
        <p:nvSpPr>
          <p:cNvPr id="7" name="Text 5"/>
          <p:cNvSpPr/>
          <p:nvPr/>
        </p:nvSpPr>
        <p:spPr>
          <a:xfrm>
            <a:off x="812800" y="1610320"/>
            <a:ext cx="10464800" cy="61456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E464C"/>
                </a:solidFill>
                <a:latin typeface="Arial" pitchFamily="34" charset="0"/>
                <a:ea typeface="Arial" pitchFamily="34" charset="-122"/>
                <a:cs typeface="Arial" pitchFamily="34" charset="-120"/>
              </a:rPr>
              <a:t>A 100 nm oil coating weakens PVA’s chemical bond. Fibers pull out instead of rupturing, and strain capacity rises fivefold.</a:t>
            </a:r>
            <a:endParaRPr lang="en-US" sz="1600" dirty="0"/>
          </a:p>
        </p:txBody>
      </p:sp>
      <p:pic>
        <p:nvPicPr>
          <p:cNvPr id="8" name="Image 0" descr="Three charts versus oil coating 0 to 1.2%: chemical bond falls from 4.71 to 1.61 J/m², strain capacity rises from 0.99 to 4.88%, crack width rises from 43 to 88 µm">    </p:cNvPr>
          <p:cNvPicPr>
            <a:picLocks noChangeAspect="1"/>
          </p:cNvPicPr>
          <p:nvPr/>
        </p:nvPicPr>
        <p:blipFill>
          <a:blip r:embed="rId1"/>
          <a:srcRect l="0" r="0" t="-5" b="-5"/>
          <a:stretch/>
        </p:blipFill>
        <p:spPr>
          <a:xfrm>
            <a:off x="812800" y="2428081"/>
            <a:ext cx="9829800" cy="3048000"/>
          </a:xfrm>
          <a:prstGeom prst="rect">
            <a:avLst/>
          </a:prstGeom>
        </p:spPr>
      </p:pic>
      <p:sp>
        <p:nvSpPr>
          <p:cNvPr id="9" name="Text 6"/>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8"/>
                </a:solidFill>
                <a:latin typeface="Arial" pitchFamily="34" charset="0"/>
                <a:ea typeface="Arial" pitchFamily="34" charset="-122"/>
                <a:cs typeface="Arial" pitchFamily="34" charset="-120"/>
              </a:rPr>
              <a:t>Part B · Interface · li2002-pva-ecc-interface-tailoring, Tables 3–4 · wiki: fiber-surface-treatment</a:t>
            </a:r>
            <a:endParaRPr lang="en-US" sz="1200" dirty="0"/>
          </a:p>
        </p:txBody>
      </p:sp>
      <p:sp>
        <p:nvSpPr>
          <p:cNvPr id="10" name="Shape 7"/>
          <p:cNvSpPr/>
          <p:nvPr/>
        </p:nvSpPr>
        <p:spPr>
          <a:xfrm>
            <a:off x="0" y="6350000"/>
            <a:ext cx="12192000" cy="12700"/>
          </a:xfrm>
          <a:prstGeom prst="rect">
            <a:avLst/>
          </a:prstGeom>
          <a:solidFill>
            <a:srgbClr val="A6A6A6"/>
          </a:solidFill>
          <a:ln/>
        </p:spPr>
      </p:sp>
      <p:sp>
        <p:nvSpPr>
          <p:cNvPr id="11" name="Text 8"/>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12" name="Text 9"/>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22</a:t>
            </a:r>
            <a:endParaRPr lang="en-US" sz="1500" dirty="0"/>
          </a:p>
        </p:txBody>
      </p:sp>
      <p:pic>
        <p:nvPicPr>
          <p:cNvPr id="13" name="Image 1" descr="preencoded.png">    </p:cNvPr>
          <p:cNvPicPr>
            <a:picLocks noChangeAspect="1"/>
          </p:cNvPicPr>
          <p:nvPr/>
        </p:nvPicPr>
        <p:blipFill>
          <a:blip r:embed="rId2">
            <a:alphaModFix amt="60000"/>
          </a:blip>
          <a:srcRect l="0" r="0" t="0" b="0"/>
          <a:stretch/>
        </p:blipFill>
        <p:spPr>
          <a:xfrm>
            <a:off x="11468100" y="6400800"/>
            <a:ext cx="431800" cy="4318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B: Literature review</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2.7. The two criteria fail in opposite cases</a:t>
            </a:r>
            <a:endParaRPr lang="en-US" sz="2800" dirty="0"/>
          </a:p>
        </p:txBody>
      </p:sp>
      <p:sp>
        <p:nvSpPr>
          <p:cNvPr id="7" name="Shape 5"/>
          <p:cNvSpPr/>
          <p:nvPr/>
        </p:nvSpPr>
        <p:spPr>
          <a:xfrm>
            <a:off x="815975" y="1664295"/>
            <a:ext cx="5175250" cy="2091531"/>
          </a:xfrm>
          <a:prstGeom prst="roundRect">
            <a:avLst>
              <a:gd name="adj" fmla="val 3491"/>
            </a:avLst>
          </a:prstGeom>
          <a:solidFill>
            <a:srgbClr val="F4F8FC"/>
          </a:solidFill>
          <a:ln w="6350">
            <a:solidFill>
              <a:srgbClr val="C9D7E8"/>
            </a:solidFill>
            <a:prstDash val="solid"/>
          </a:ln>
        </p:spPr>
      </p:sp>
      <p:sp>
        <p:nvSpPr>
          <p:cNvPr id="8" name="Text 6"/>
          <p:cNvSpPr/>
          <p:nvPr/>
        </p:nvSpPr>
        <p:spPr>
          <a:xfrm>
            <a:off x="1098550" y="1946870"/>
            <a:ext cx="474840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E8A2A"/>
                </a:solidFill>
                <a:latin typeface="Arial" pitchFamily="34" charset="0"/>
                <a:ea typeface="Arial" pitchFamily="34" charset="-122"/>
                <a:cs typeface="Arial" pitchFamily="34" charset="-120"/>
              </a:rPr>
              <a:t>PVA-ECC · Li et al. 2002</a:t>
            </a:r>
            <a:endParaRPr lang="en-US" sz="1400" dirty="0"/>
          </a:p>
        </p:txBody>
      </p:sp>
      <p:sp>
        <p:nvSpPr>
          <p:cNvPr id="9" name="Text 7"/>
          <p:cNvSpPr/>
          <p:nvPr/>
        </p:nvSpPr>
        <p:spPr>
          <a:xfrm>
            <a:off x="1098550" y="2297311"/>
            <a:ext cx="474840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2272B"/>
                </a:solidFill>
                <a:latin typeface="Arial" pitchFamily="34" charset="0"/>
                <a:ea typeface="Arial" pitchFamily="34" charset="-122"/>
                <a:cs typeface="Arial" pitchFamily="34" charset="-120"/>
              </a:rPr>
              <a:t>Strength ratio cannot tell them apart</a:t>
            </a:r>
            <a:endParaRPr lang="en-US" sz="1800" dirty="0"/>
          </a:p>
        </p:txBody>
      </p:sp>
      <p:sp>
        <p:nvSpPr>
          <p:cNvPr id="10" name="Text 8"/>
          <p:cNvSpPr/>
          <p:nvPr/>
        </p:nvSpPr>
        <p:spPr>
          <a:xfrm>
            <a:off x="1098550" y="2673152"/>
            <a:ext cx="474840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64C"/>
                </a:solidFill>
                <a:latin typeface="Arial" pitchFamily="34" charset="0"/>
                <a:ea typeface="Arial" pitchFamily="34" charset="-122"/>
                <a:cs typeface="Arial" pitchFamily="34" charset="-120"/>
              </a:rPr>
              <a:t>σtu/σfc is 1.5–1.8 for every mix, including the brittle 0.99% one. The energy ratio does separate them: saturation starts as it passes 3.</a:t>
            </a:r>
            <a:endParaRPr lang="en-US" sz="1500" dirty="0"/>
          </a:p>
        </p:txBody>
      </p:sp>
      <p:sp>
        <p:nvSpPr>
          <p:cNvPr id="11" name="Shape 9"/>
          <p:cNvSpPr/>
          <p:nvPr/>
        </p:nvSpPr>
        <p:spPr>
          <a:xfrm>
            <a:off x="6200775" y="1664295"/>
            <a:ext cx="5175250" cy="2091531"/>
          </a:xfrm>
          <a:prstGeom prst="roundRect">
            <a:avLst>
              <a:gd name="adj" fmla="val 3491"/>
            </a:avLst>
          </a:prstGeom>
          <a:solidFill>
            <a:srgbClr val="F4F8FC"/>
          </a:solidFill>
          <a:ln w="6350">
            <a:solidFill>
              <a:srgbClr val="C9D7E8"/>
            </a:solidFill>
            <a:prstDash val="solid"/>
          </a:ln>
        </p:spPr>
      </p:sp>
      <p:sp>
        <p:nvSpPr>
          <p:cNvPr id="12" name="Text 10"/>
          <p:cNvSpPr/>
          <p:nvPr/>
        </p:nvSpPr>
        <p:spPr>
          <a:xfrm>
            <a:off x="6483350" y="1946870"/>
            <a:ext cx="474840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720C"/>
                </a:solidFill>
                <a:latin typeface="Arial" pitchFamily="34" charset="0"/>
                <a:ea typeface="Arial" pitchFamily="34" charset="-122"/>
                <a:cs typeface="Arial" pitchFamily="34" charset="-120"/>
              </a:rPr>
              <a:t>6 mm PE HSHDC · Su et al. 2023</a:t>
            </a:r>
            <a:endParaRPr lang="en-US" sz="1400" dirty="0"/>
          </a:p>
        </p:txBody>
      </p:sp>
      <p:sp>
        <p:nvSpPr>
          <p:cNvPr id="13" name="Text 11"/>
          <p:cNvSpPr/>
          <p:nvPr/>
        </p:nvSpPr>
        <p:spPr>
          <a:xfrm>
            <a:off x="6483350" y="2297311"/>
            <a:ext cx="474840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2272B"/>
                </a:solidFill>
                <a:latin typeface="Arial" pitchFamily="34" charset="0"/>
                <a:ea typeface="Arial" pitchFamily="34" charset="-122"/>
                <a:cs typeface="Arial" pitchFamily="34" charset="-120"/>
              </a:rPr>
              <a:t>Both criteria pass, yet one crack</a:t>
            </a:r>
            <a:endParaRPr lang="en-US" sz="1800" dirty="0"/>
          </a:p>
        </p:txBody>
      </p:sp>
      <p:sp>
        <p:nvSpPr>
          <p:cNvPr id="14" name="Text 12"/>
          <p:cNvSpPr/>
          <p:nvPr/>
        </p:nvSpPr>
        <p:spPr>
          <a:xfrm>
            <a:off x="6483350" y="2673152"/>
            <a:ext cx="474840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64C"/>
                </a:solidFill>
                <a:latin typeface="Arial" pitchFamily="34" charset="0"/>
                <a:ea typeface="Arial" pitchFamily="34" charset="-122"/>
                <a:cs typeface="Arial" pitchFamily="34" charset="-120"/>
              </a:rPr>
              <a:t>Strength ratio 1.2–1.5 and energy ratio 27–32, above both thresholds. The mixes still fail at the first crack: fibers only 3 mm deep pull out.</a:t>
            </a:r>
            <a:endParaRPr lang="en-US" sz="1500" dirty="0"/>
          </a:p>
        </p:txBody>
      </p:sp>
      <p:sp>
        <p:nvSpPr>
          <p:cNvPr id="15" name="Shape 13"/>
          <p:cNvSpPr/>
          <p:nvPr/>
        </p:nvSpPr>
        <p:spPr>
          <a:xfrm>
            <a:off x="831850" y="4038402"/>
            <a:ext cx="0" cy="934641"/>
          </a:xfrm>
          <a:prstGeom prst="line">
            <a:avLst/>
          </a:prstGeom>
          <a:noFill/>
          <a:ln w="38100">
            <a:solidFill>
              <a:srgbClr val="0070C0"/>
            </a:solidFill>
            <a:prstDash val="solid"/>
          </a:ln>
        </p:spPr>
      </p:sp>
      <p:sp>
        <p:nvSpPr>
          <p:cNvPr id="16" name="Text 14"/>
          <p:cNvSpPr/>
          <p:nvPr/>
        </p:nvSpPr>
        <p:spPr>
          <a:xfrm>
            <a:off x="1054100" y="4089202"/>
            <a:ext cx="1063485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79"/>
                </a:solidFill>
                <a:latin typeface="Arial" pitchFamily="34" charset="0"/>
                <a:ea typeface="Arial" pitchFamily="34" charset="-122"/>
                <a:cs typeface="Arial" pitchFamily="34" charset="-120"/>
              </a:rPr>
              <a:t>Synthesis (my interpretation)</a:t>
            </a:r>
            <a:endParaRPr lang="en-US" sz="1400" dirty="0"/>
          </a:p>
        </p:txBody>
      </p:sp>
      <p:sp>
        <p:nvSpPr>
          <p:cNvPr id="17" name="Text 15"/>
          <p:cNvSpPr/>
          <p:nvPr/>
        </p:nvSpPr>
        <p:spPr>
          <a:xfrm>
            <a:off x="1054100" y="4388842"/>
            <a:ext cx="98107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64C"/>
                </a:solidFill>
                <a:latin typeface="Arial" pitchFamily="34" charset="0"/>
                <a:ea typeface="Arial" pitchFamily="34" charset="-122"/>
                <a:cs typeface="Arial" pitchFamily="34" charset="-120"/>
              </a:rPr>
              <a:t>The indices omit embedment length and flaw size, which Li &amp; Leung’s 1992 criteria include. The criteria are necessary, not sufficient.</a:t>
            </a:r>
            <a:endParaRPr lang="en-US" sz="1500" dirty="0"/>
          </a:p>
        </p:txBody>
      </p:sp>
      <p:sp>
        <p:nvSpPr>
          <p:cNvPr id="18" name="Text 16"/>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8"/>
                </a:solidFill>
                <a:latin typeface="Arial" pitchFamily="34" charset="0"/>
                <a:ea typeface="Arial" pitchFamily="34" charset="-122"/>
                <a:cs typeface="Arial" pitchFamily="34" charset="-120"/>
              </a:rPr>
              <a:t>Part B · Design theory · li2002 Table 4; su2023 Table 5, p. 10; li1992 Eq. 24 · wiki: strain-hardening, gaps</a:t>
            </a:r>
            <a:endParaRPr lang="en-US" sz="1200" dirty="0"/>
          </a:p>
        </p:txBody>
      </p:sp>
      <p:sp>
        <p:nvSpPr>
          <p:cNvPr id="19" name="Shape 17"/>
          <p:cNvSpPr/>
          <p:nvPr/>
        </p:nvSpPr>
        <p:spPr>
          <a:xfrm>
            <a:off x="0" y="6350000"/>
            <a:ext cx="12192000" cy="12700"/>
          </a:xfrm>
          <a:prstGeom prst="rect">
            <a:avLst/>
          </a:prstGeom>
          <a:solidFill>
            <a:srgbClr val="A6A6A6"/>
          </a:solidFill>
          <a:ln/>
        </p:spPr>
      </p:sp>
      <p:sp>
        <p:nvSpPr>
          <p:cNvPr id="20" name="Text 18"/>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21" name="Text 19"/>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23</a:t>
            </a:r>
            <a:endParaRPr lang="en-US" sz="1500" dirty="0"/>
          </a:p>
        </p:txBody>
      </p:sp>
      <p:pic>
        <p:nvPicPr>
          <p:cNvPr id="22" name="Image 0" descr="preencoded.png">    </p:cNvPr>
          <p:cNvPicPr>
            <a:picLocks noChangeAspect="1"/>
          </p:cNvPicPr>
          <p:nvPr/>
        </p:nvPicPr>
        <p:blipFill>
          <a:blip r:embed="rId1">
            <a:alphaModFix amt="60000"/>
          </a:blip>
          <a:srcRect l="0" r="0" t="0" b="0"/>
          <a:stretch/>
        </p:blipFill>
        <p:spPr>
          <a:xfrm>
            <a:off x="11468100" y="6400800"/>
            <a:ext cx="431800" cy="4318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B: Literature review</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2.8. PVA or PE: the fiber decides the matrix</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648420"/>
          <a:ext cx="10553700" cy="2980531"/>
        </p:xfrm>
        <a:graphic>
          <a:graphicData uri="http://schemas.openxmlformats.org/drawingml/2006/table">
            <a:tbl>
              <a:tblPr/>
              <a:tblGrid>
                <a:gridCol w="3588258"/>
                <a:gridCol w="3482721"/>
                <a:gridCol w="3482721"/>
              </a:tblGrid>
              <a:tr h="372566">
                <a:tc>
                  <a:txBody>
                    <a:bodyPr/>
                    <a:lstStyle/>
                    <a:p>
                      <a:pPr indent="0" marL="0">
                        <a:lnSpc>
                          <a:spcPts val="1890"/>
                        </a:lnSpc>
                        <a:buNone/>
                      </a:pP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90"/>
                        </a:lnSpc>
                        <a:buNone/>
                      </a:pPr>
                      <a:r>
                        <a:rPr lang="en-US" sz="1350" b="1" dirty="0">
                          <a:solidFill>
                            <a:srgbClr val="22272B"/>
                          </a:solidFill>
                          <a:latin typeface="Arial" pitchFamily="34" charset="0"/>
                          <a:ea typeface="Arial" pitchFamily="34" charset="-122"/>
                          <a:cs typeface="Arial" pitchFamily="34" charset="-120"/>
                        </a:rPr>
                        <a:t>PVA (hydrophilic)</a:t>
                      </a:r>
                      <a:endParaRPr lang="en-US" sz="1350" dirty="0">
                        <a:latin typeface="Arial" charset="0"/>
                        <a:ea typeface="Arial" charset="0"/>
                        <a:cs typeface="Arial" charset="0"/>
                      </a:endParaRPr>
                    </a:p>
                  </a:txBody>
                  <a:tcPr marL="60007" marR="60007" marT="60007" marB="60007"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90"/>
                        </a:lnSpc>
                        <a:buNone/>
                      </a:pPr>
                      <a:r>
                        <a:rPr lang="en-US" sz="1350" b="1" dirty="0">
                          <a:solidFill>
                            <a:srgbClr val="22272B"/>
                          </a:solidFill>
                          <a:latin typeface="Arial" pitchFamily="34" charset="0"/>
                          <a:ea typeface="Arial" pitchFamily="34" charset="-122"/>
                          <a:cs typeface="Arial" pitchFamily="34" charset="-120"/>
                        </a:rPr>
                        <a:t>PE / UHMWPE (hydrophobic)</a:t>
                      </a:r>
                      <a:endParaRPr lang="en-US" sz="1350" dirty="0">
                        <a:latin typeface="Arial" charset="0"/>
                        <a:ea typeface="Arial" charset="0"/>
                        <a:cs typeface="Arial" charset="0"/>
                      </a:endParaRPr>
                    </a:p>
                  </a:txBody>
                  <a:tcPr marL="60007" marR="60007" marT="60007" marB="60007"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72566">
                <a:tc>
                  <a:txBody>
                    <a:bodyPr/>
                    <a:lstStyle/>
                    <a:p>
                      <a:pPr indent="0" marL="0">
                        <a:lnSpc>
                          <a:spcPts val="1890"/>
                        </a:lnSpc>
                        <a:buNone/>
                      </a:pPr>
                      <a:r>
                        <a:rPr lang="en-US" sz="1350" dirty="0">
                          <a:solidFill>
                            <a:srgbClr val="22272B"/>
                          </a:solidFill>
                          <a:latin typeface="Arial" pitchFamily="34" charset="0"/>
                          <a:ea typeface="Arial" pitchFamily="34" charset="-122"/>
                          <a:cs typeface="Arial" pitchFamily="34" charset="-120"/>
                        </a:rPr>
                        <a:t>Bond to matrix</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0"/>
                        </a:lnSpc>
                        <a:buNone/>
                      </a:pPr>
                      <a:r>
                        <a:rPr lang="en-US" sz="1350" dirty="0">
                          <a:solidFill>
                            <a:srgbClr val="22272B"/>
                          </a:solidFill>
                          <a:latin typeface="Arial" pitchFamily="34" charset="0"/>
                          <a:ea typeface="Arial" pitchFamily="34" charset="-122"/>
                          <a:cs typeface="Arial" pitchFamily="34" charset="-120"/>
                        </a:rPr>
                        <a:t>chemical + friction</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0"/>
                        </a:lnSpc>
                        <a:buNone/>
                      </a:pPr>
                      <a:r>
                        <a:rPr lang="en-US" sz="1350" dirty="0">
                          <a:solidFill>
                            <a:srgbClr val="22272B"/>
                          </a:solidFill>
                          <a:latin typeface="Arial" pitchFamily="34" charset="0"/>
                          <a:ea typeface="Arial" pitchFamily="34" charset="-122"/>
                          <a:cs typeface="Arial" pitchFamily="34" charset="-120"/>
                        </a:rPr>
                        <a:t>friction only</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72566">
                <a:tc>
                  <a:txBody>
                    <a:bodyPr/>
                    <a:lstStyle/>
                    <a:p>
                      <a:pPr indent="0" marL="0">
                        <a:lnSpc>
                          <a:spcPts val="1890"/>
                        </a:lnSpc>
                        <a:buNone/>
                      </a:pPr>
                      <a:r>
                        <a:rPr lang="en-US" sz="1350" dirty="0">
                          <a:solidFill>
                            <a:srgbClr val="22272B"/>
                          </a:solidFill>
                          <a:latin typeface="Arial" pitchFamily="34" charset="0"/>
                          <a:ea typeface="Arial" pitchFamily="34" charset="-122"/>
                          <a:cs typeface="Arial" pitchFamily="34" charset="-120"/>
                        </a:rPr>
                        <a:t>Tensile strength</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0"/>
                        </a:lnSpc>
                        <a:buNone/>
                      </a:pPr>
                      <a:r>
                        <a:rPr lang="en-US" sz="1350" dirty="0">
                          <a:solidFill>
                            <a:srgbClr val="22272B"/>
                          </a:solidFill>
                          <a:latin typeface="Arial" pitchFamily="34" charset="0"/>
                          <a:ea typeface="Arial" pitchFamily="34" charset="-122"/>
                          <a:cs typeface="Arial" pitchFamily="34" charset="-120"/>
                        </a:rPr>
                        <a:t>about 1600 MPa</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0"/>
                        </a:lnSpc>
                        <a:buNone/>
                      </a:pPr>
                      <a:r>
                        <a:rPr lang="en-US" sz="1350" dirty="0">
                          <a:solidFill>
                            <a:srgbClr val="22272B"/>
                          </a:solidFill>
                          <a:latin typeface="Arial" pitchFamily="34" charset="0"/>
                          <a:ea typeface="Arial" pitchFamily="34" charset="-122"/>
                          <a:cs typeface="Arial" pitchFamily="34" charset="-120"/>
                        </a:rPr>
                        <a:t>2300–3800 MPa</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72566">
                <a:tc>
                  <a:txBody>
                    <a:bodyPr/>
                    <a:lstStyle/>
                    <a:p>
                      <a:pPr indent="0" marL="0">
                        <a:lnSpc>
                          <a:spcPts val="1890"/>
                        </a:lnSpc>
                        <a:buNone/>
                      </a:pPr>
                      <a:r>
                        <a:rPr lang="en-US" sz="1350" dirty="0">
                          <a:solidFill>
                            <a:srgbClr val="22272B"/>
                          </a:solidFill>
                          <a:latin typeface="Arial" pitchFamily="34" charset="0"/>
                          <a:ea typeface="Arial" pitchFamily="34" charset="-122"/>
                          <a:cs typeface="Arial" pitchFamily="34" charset="-120"/>
                        </a:rPr>
                        <a:t>Modulus</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0"/>
                        </a:lnSpc>
                        <a:buNone/>
                      </a:pPr>
                      <a:r>
                        <a:rPr lang="en-US" sz="1350" dirty="0">
                          <a:solidFill>
                            <a:srgbClr val="22272B"/>
                          </a:solidFill>
                          <a:latin typeface="Arial" pitchFamily="34" charset="0"/>
                          <a:ea typeface="Arial" pitchFamily="34" charset="-122"/>
                          <a:cs typeface="Arial" pitchFamily="34" charset="-120"/>
                        </a:rPr>
                        <a:t>about 40 GPa</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0"/>
                        </a:lnSpc>
                        <a:buNone/>
                      </a:pPr>
                      <a:r>
                        <a:rPr lang="en-US" sz="1350" dirty="0">
                          <a:solidFill>
                            <a:srgbClr val="22272B"/>
                          </a:solidFill>
                          <a:latin typeface="Arial" pitchFamily="34" charset="0"/>
                          <a:ea typeface="Arial" pitchFamily="34" charset="-122"/>
                          <a:cs typeface="Arial" pitchFamily="34" charset="-120"/>
                        </a:rPr>
                        <a:t>70–120 GPa</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72566">
                <a:tc>
                  <a:txBody>
                    <a:bodyPr/>
                    <a:lstStyle/>
                    <a:p>
                      <a:pPr indent="0" marL="0">
                        <a:lnSpc>
                          <a:spcPts val="1890"/>
                        </a:lnSpc>
                        <a:buNone/>
                      </a:pPr>
                      <a:r>
                        <a:rPr lang="en-US" sz="1350" dirty="0">
                          <a:solidFill>
                            <a:srgbClr val="22272B"/>
                          </a:solidFill>
                          <a:latin typeface="Arial" pitchFamily="34" charset="0"/>
                          <a:ea typeface="Arial" pitchFamily="34" charset="-122"/>
                          <a:cs typeface="Arial" pitchFamily="34" charset="-120"/>
                        </a:rPr>
                        <a:t>Strain capacity, normal matrix</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0"/>
                        </a:lnSpc>
                        <a:buNone/>
                      </a:pPr>
                      <a:r>
                        <a:rPr lang="en-US" sz="1350" dirty="0">
                          <a:solidFill>
                            <a:srgbClr val="22272B"/>
                          </a:solidFill>
                          <a:latin typeface="Arial" pitchFamily="34" charset="0"/>
                          <a:ea typeface="Arial" pitchFamily="34" charset="-122"/>
                          <a:cs typeface="Arial" pitchFamily="34" charset="-120"/>
                        </a:rPr>
                        <a:t>4.88% (oil-coated)</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0"/>
                        </a:lnSpc>
                        <a:buNone/>
                      </a:pPr>
                      <a:r>
                        <a:rPr lang="en-US" sz="1350" dirty="0">
                          <a:solidFill>
                            <a:srgbClr val="22272B"/>
                          </a:solidFill>
                          <a:latin typeface="Arial" pitchFamily="34" charset="0"/>
                          <a:ea typeface="Arial" pitchFamily="34" charset="-122"/>
                          <a:cs typeface="Arial" pitchFamily="34" charset="-120"/>
                        </a:rPr>
                        <a:t>9.45% (UHDC)</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72566">
                <a:tc>
                  <a:txBody>
                    <a:bodyPr/>
                    <a:lstStyle/>
                    <a:p>
                      <a:pPr indent="0" marL="0">
                        <a:lnSpc>
                          <a:spcPts val="1890"/>
                        </a:lnSpc>
                        <a:buNone/>
                      </a:pPr>
                      <a:r>
                        <a:rPr lang="en-US" sz="1350" dirty="0">
                          <a:solidFill>
                            <a:srgbClr val="22272B"/>
                          </a:solidFill>
                          <a:latin typeface="Arial" pitchFamily="34" charset="0"/>
                          <a:ea typeface="Arial" pitchFamily="34" charset="-122"/>
                          <a:cs typeface="Arial" pitchFamily="34" charset="-120"/>
                        </a:rPr>
                        <a:t>Strain capacity, high-strength matrix</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0"/>
                        </a:lnSpc>
                        <a:buNone/>
                      </a:pPr>
                      <a:r>
                        <a:rPr lang="en-US" sz="1350" dirty="0">
                          <a:solidFill>
                            <a:srgbClr val="22272B"/>
                          </a:solidFill>
                          <a:latin typeface="Arial" pitchFamily="34" charset="0"/>
                          <a:ea typeface="Arial" pitchFamily="34" charset="-122"/>
                          <a:cs typeface="Arial" pitchFamily="34" charset="-120"/>
                        </a:rPr>
                        <a:t>0.23–0.30%</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0"/>
                        </a:lnSpc>
                        <a:buNone/>
                      </a:pPr>
                      <a:r>
                        <a:rPr lang="en-US" sz="1350" dirty="0">
                          <a:solidFill>
                            <a:srgbClr val="22272B"/>
                          </a:solidFill>
                          <a:latin typeface="Arial" pitchFamily="34" charset="0"/>
                          <a:ea typeface="Arial" pitchFamily="34" charset="-122"/>
                          <a:cs typeface="Arial" pitchFamily="34" charset="-120"/>
                        </a:rPr>
                        <a:t>up to 6.48%</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72566">
                <a:tc>
                  <a:txBody>
                    <a:bodyPr/>
                    <a:lstStyle/>
                    <a:p>
                      <a:pPr indent="0" marL="0">
                        <a:lnSpc>
                          <a:spcPts val="1890"/>
                        </a:lnSpc>
                        <a:buNone/>
                      </a:pPr>
                      <a:r>
                        <a:rPr lang="en-US" sz="1350" dirty="0">
                          <a:solidFill>
                            <a:srgbClr val="22272B"/>
                          </a:solidFill>
                          <a:latin typeface="Arial" pitchFamily="34" charset="0"/>
                          <a:ea typeface="Arial" pitchFamily="34" charset="-122"/>
                          <a:cs typeface="Arial" pitchFamily="34" charset="-120"/>
                        </a:rPr>
                        <a:t>Typical crack width</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0"/>
                        </a:lnSpc>
                        <a:buNone/>
                      </a:pPr>
                      <a:r>
                        <a:rPr lang="en-US" sz="1350" dirty="0">
                          <a:solidFill>
                            <a:srgbClr val="22272B"/>
                          </a:solidFill>
                          <a:latin typeface="Arial" pitchFamily="34" charset="0"/>
                          <a:ea typeface="Arial" pitchFamily="34" charset="-122"/>
                          <a:cs typeface="Arial" pitchFamily="34" charset="-120"/>
                        </a:rPr>
                        <a:t>about 40–90 µm</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0"/>
                        </a:lnSpc>
                        <a:buNone/>
                      </a:pPr>
                      <a:r>
                        <a:rPr lang="en-US" sz="1350" dirty="0">
                          <a:solidFill>
                            <a:srgbClr val="22272B"/>
                          </a:solidFill>
                          <a:latin typeface="Arial" pitchFamily="34" charset="0"/>
                          <a:ea typeface="Arial" pitchFamily="34" charset="-122"/>
                          <a:cs typeface="Arial" pitchFamily="34" charset="-120"/>
                        </a:rPr>
                        <a:t>about 80–200 µm</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72566">
                <a:tc>
                  <a:txBody>
                    <a:bodyPr/>
                    <a:lstStyle/>
                    <a:p>
                      <a:pPr indent="0" marL="0">
                        <a:lnSpc>
                          <a:spcPts val="1890"/>
                        </a:lnSpc>
                        <a:buNone/>
                      </a:pPr>
                      <a:r>
                        <a:rPr lang="en-US" sz="1350" dirty="0">
                          <a:solidFill>
                            <a:srgbClr val="22272B"/>
                          </a:solidFill>
                          <a:latin typeface="Arial" pitchFamily="34" charset="0"/>
                          <a:ea typeface="Arial" pitchFamily="34" charset="-122"/>
                          <a:cs typeface="Arial" pitchFamily="34" charset="-120"/>
                        </a:rPr>
                        <a:t>Melting point</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0"/>
                        </a:lnSpc>
                        <a:buNone/>
                      </a:pPr>
                      <a:r>
                        <a:rPr lang="en-US" sz="1350" dirty="0">
                          <a:solidFill>
                            <a:srgbClr val="22272B"/>
                          </a:solidFill>
                          <a:latin typeface="Arial" pitchFamily="34" charset="0"/>
                          <a:ea typeface="Arial" pitchFamily="34" charset="-122"/>
                          <a:cs typeface="Arial" pitchFamily="34" charset="-120"/>
                        </a:rPr>
                        <a:t>about 230–270 °C ⚠</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0"/>
                        </a:lnSpc>
                        <a:buNone/>
                      </a:pPr>
                      <a:r>
                        <a:rPr lang="en-US" sz="1350" dirty="0">
                          <a:solidFill>
                            <a:srgbClr val="22272B"/>
                          </a:solidFill>
                          <a:latin typeface="Arial" pitchFamily="34" charset="0"/>
                          <a:ea typeface="Arial" pitchFamily="34" charset="-122"/>
                          <a:cs typeface="Arial" pitchFamily="34" charset="-120"/>
                        </a:rPr>
                        <a:t>about 124–150 °C</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4882952"/>
            <a:ext cx="104648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64C"/>
                </a:solidFill>
                <a:latin typeface="Arial" pitchFamily="34" charset="0"/>
                <a:ea typeface="Arial" pitchFamily="34" charset="-122"/>
                <a:cs typeface="Arial" pitchFamily="34" charset="-120"/>
              </a:rPr>
              <a:t>PVA suits moderate-strength ECC once its bond is tamed. In high-strength matrices PE is the only fiber that works.</a:t>
            </a:r>
            <a:endParaRPr lang="en-US" sz="1500" dirty="0"/>
          </a:p>
        </p:txBody>
      </p:sp>
      <p:sp>
        <p:nvSpPr>
          <p:cNvPr id="9" name="Text 6"/>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8"/>
                </a:solidFill>
                <a:latin typeface="Arial" pitchFamily="34" charset="0"/>
                <a:ea typeface="Arial" pitchFamily="34" charset="-122"/>
                <a:cs typeface="Arial" pitchFamily="34" charset="-120"/>
              </a:rPr>
              <a:t>Part B · Fibers · li2002; yang2024 Tables 3, 6; ye2021; yu2018 Table 2; zhang2022; su2023 · wiki: pe-fiber, pva-fiber</a:t>
            </a:r>
            <a:endParaRPr lang="en-US" sz="1200" dirty="0"/>
          </a:p>
        </p:txBody>
      </p:sp>
      <p:sp>
        <p:nvSpPr>
          <p:cNvPr id="10" name="Shape 7"/>
          <p:cNvSpPr/>
          <p:nvPr/>
        </p:nvSpPr>
        <p:spPr>
          <a:xfrm>
            <a:off x="0" y="6350000"/>
            <a:ext cx="12192000" cy="12700"/>
          </a:xfrm>
          <a:prstGeom prst="rect">
            <a:avLst/>
          </a:prstGeom>
          <a:solidFill>
            <a:srgbClr val="A6A6A6"/>
          </a:solidFill>
          <a:ln/>
        </p:spPr>
      </p:sp>
      <p:sp>
        <p:nvSpPr>
          <p:cNvPr id="11" name="Text 8"/>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12" name="Text 9"/>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24</a:t>
            </a:r>
            <a:endParaRPr lang="en-US" sz="1500" dirty="0"/>
          </a:p>
        </p:txBody>
      </p:sp>
      <p:pic>
        <p:nvPicPr>
          <p:cNvPr id="13" name="Image 0" descr="preencoded.png">    </p:cNvPr>
          <p:cNvPicPr>
            <a:picLocks noChangeAspect="1"/>
          </p:cNvPicPr>
          <p:nvPr/>
        </p:nvPicPr>
        <p:blipFill>
          <a:blip r:embed="rId1">
            <a:alphaModFix amt="60000"/>
          </a:blip>
          <a:srcRect l="0" r="0" t="0" b="0"/>
          <a:stretch/>
        </p:blipFill>
        <p:spPr>
          <a:xfrm>
            <a:off x="11468100" y="6400800"/>
            <a:ext cx="431800" cy="4318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B: Literature review</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2.9. Mix-design levers for ductility</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648420"/>
          <a:ext cx="10553700" cy="2874169"/>
        </p:xfrm>
        <a:graphic>
          <a:graphicData uri="http://schemas.openxmlformats.org/drawingml/2006/table">
            <a:tbl>
              <a:tblPr/>
              <a:tblGrid>
                <a:gridCol w="2743962"/>
                <a:gridCol w="4643628"/>
                <a:gridCol w="3166110"/>
              </a:tblGrid>
              <a:tr h="359271">
                <a:tc>
                  <a:txBody>
                    <a:bodyPr/>
                    <a:lstStyle/>
                    <a:p>
                      <a:pPr indent="0" marL="0">
                        <a:lnSpc>
                          <a:spcPts val="1820"/>
                        </a:lnSpc>
                        <a:buNone/>
                      </a:pPr>
                      <a:r>
                        <a:rPr lang="en-US" sz="1300" b="1" dirty="0">
                          <a:solidFill>
                            <a:srgbClr val="22272B"/>
                          </a:solidFill>
                          <a:latin typeface="Arial" pitchFamily="34" charset="0"/>
                          <a:ea typeface="Arial" pitchFamily="34" charset="-122"/>
                          <a:cs typeface="Arial" pitchFamily="34" charset="-120"/>
                        </a:rPr>
                        <a:t>Lever</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22272B"/>
                          </a:solidFill>
                          <a:latin typeface="Arial" pitchFamily="34" charset="0"/>
                          <a:ea typeface="Arial" pitchFamily="34" charset="-122"/>
                          <a:cs typeface="Arial" pitchFamily="34" charset="-120"/>
                        </a:rPr>
                        <a:t>Measured effect on strain capacity</a:t>
                      </a:r>
                      <a:endParaRPr lang="en-US" sz="1300" dirty="0">
                        <a:latin typeface="Arial" charset="0"/>
                        <a:ea typeface="Arial" charset="0"/>
                        <a:cs typeface="Arial"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22272B"/>
                          </a:solidFill>
                          <a:latin typeface="Arial" pitchFamily="34" charset="0"/>
                          <a:ea typeface="Arial" pitchFamily="34" charset="-122"/>
                          <a:cs typeface="Arial" pitchFamily="34" charset="-120"/>
                        </a:rPr>
                        <a:t>Source</a:t>
                      </a:r>
                      <a:endParaRPr lang="en-US" sz="1300" dirty="0">
                        <a:latin typeface="Arial" charset="0"/>
                        <a:ea typeface="Arial" charset="0"/>
                        <a:cs typeface="Arial"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9271">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Fly ash 15 → 25%</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+68.9%, lower first-crack stress</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Yang 2024 (Xi’an)</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W/B 0.14 / 0.16 / 0.18</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0.81 / 3.84 / 1.89%: an optimum, not a trend</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Yang 2024</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PE diameter 40 → 22 µm</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0.35 → 3.84%</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Yang 2024</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PE length 6 → 18 mm</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9.5× (6 mm stays brittle)</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Su 2023 (GDUT)</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Powder rubber 20 vol.%</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up to +71.6%, f'c still above 100 MPa</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Su 2023</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Silica fume 0 → 40%</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2.5 → 4.7%, narrower cracks</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Lei 2019, as cited in Zhang 2022</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90 °C heat curing</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not required: ambient mixes reach 3.8–6.5%</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Su 2023; Yang 2024</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4776589"/>
            <a:ext cx="104648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64C"/>
                </a:solidFill>
                <a:latin typeface="Arial" pitchFamily="34" charset="0"/>
                <a:ea typeface="Arial" pitchFamily="34" charset="-122"/>
                <a:cs typeface="Arial" pitchFamily="34" charset="-120"/>
              </a:rPr>
              <a:t>Most levers work the same way: they lower matrix toughness or tune the fiber–matrix bond.</a:t>
            </a:r>
            <a:endParaRPr lang="en-US" sz="1500" dirty="0"/>
          </a:p>
        </p:txBody>
      </p:sp>
      <p:sp>
        <p:nvSpPr>
          <p:cNvPr id="9" name="Text 6"/>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8"/>
                </a:solidFill>
                <a:latin typeface="Arial" pitchFamily="34" charset="0"/>
                <a:ea typeface="Arial" pitchFamily="34" charset="-122"/>
                <a:cs typeface="Arial" pitchFamily="34" charset="-120"/>
              </a:rPr>
              <a:t>Part B · Mix design · wiki: mix-designs, fly-ash, water-binder-ratio, fiber-geometry, crumb-rubber</a:t>
            </a:r>
            <a:endParaRPr lang="en-US" sz="1200" dirty="0"/>
          </a:p>
        </p:txBody>
      </p:sp>
      <p:sp>
        <p:nvSpPr>
          <p:cNvPr id="10" name="Shape 7"/>
          <p:cNvSpPr/>
          <p:nvPr/>
        </p:nvSpPr>
        <p:spPr>
          <a:xfrm>
            <a:off x="0" y="6350000"/>
            <a:ext cx="12192000" cy="12700"/>
          </a:xfrm>
          <a:prstGeom prst="rect">
            <a:avLst/>
          </a:prstGeom>
          <a:solidFill>
            <a:srgbClr val="A6A6A6"/>
          </a:solidFill>
          <a:ln/>
        </p:spPr>
      </p:sp>
      <p:sp>
        <p:nvSpPr>
          <p:cNvPr id="11" name="Text 8"/>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12" name="Text 9"/>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25</a:t>
            </a:r>
            <a:endParaRPr lang="en-US" sz="1500" dirty="0"/>
          </a:p>
        </p:txBody>
      </p:sp>
      <p:pic>
        <p:nvPicPr>
          <p:cNvPr id="13" name="Image 0" descr="preencoded.png">    </p:cNvPr>
          <p:cNvPicPr>
            <a:picLocks noChangeAspect="1"/>
          </p:cNvPicPr>
          <p:nvPr/>
        </p:nvPicPr>
        <p:blipFill>
          <a:blip r:embed="rId1">
            <a:alphaModFix amt="60000"/>
          </a:blip>
          <a:srcRect l="0" r="0" t="0" b="0"/>
          <a:stretch/>
        </p:blipFill>
        <p:spPr>
          <a:xfrm>
            <a:off x="11468100" y="6400800"/>
            <a:ext cx="431800" cy="4318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B: Literature review</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2.10. Strength versus ductility: a trend, not a law</a:t>
            </a:r>
            <a:endParaRPr lang="en-US" sz="2800" dirty="0"/>
          </a:p>
        </p:txBody>
      </p:sp>
      <p:pic>
        <p:nvPicPr>
          <p:cNvPr id="7" name="Image 0" descr="Scatter of compressive strength against tensile strain capacity: Tongji UHDC up to 9.45% at 37 MPa, GDUT 2.9–5.7% at 112–157 MPa, Michigan 3.4–4.2% at 166 MPa, Xi'an PVA 0.2–0.3% at about 94 MPa, Cor-Tuf UHPC 0.12% at 201 MPa, and compiled HSHDCC points up to 11% at about 123 MPa and 5% at 210 MPa">    </p:cNvPr>
          <p:cNvPicPr>
            <a:picLocks noChangeAspect="1"/>
          </p:cNvPicPr>
          <p:nvPr/>
        </p:nvPicPr>
        <p:blipFill>
          <a:blip r:embed="rId1"/>
          <a:srcRect l="-2995" r="-2995" t="0" b="0"/>
          <a:stretch/>
        </p:blipFill>
        <p:spPr>
          <a:xfrm>
            <a:off x="812800" y="1584920"/>
            <a:ext cx="6985000" cy="3911600"/>
          </a:xfrm>
          <a:prstGeom prst="rect">
            <a:avLst/>
          </a:prstGeom>
        </p:spPr>
      </p:pic>
      <p:sp>
        <p:nvSpPr>
          <p:cNvPr id="8" name="Text 5"/>
          <p:cNvSpPr/>
          <p:nvPr/>
        </p:nvSpPr>
        <p:spPr>
          <a:xfrm>
            <a:off x="8102600" y="1584920"/>
            <a:ext cx="3374898"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64C"/>
                </a:solidFill>
                <a:latin typeface="Arial" pitchFamily="34" charset="0"/>
                <a:ea typeface="Arial" pitchFamily="34" charset="-122"/>
                <a:cs typeface="Arial" pitchFamily="34" charset="-120"/>
              </a:rPr>
              <a:t>Within the primary studies, ductility falls as strength rises: from 9.45% at 37 MPa to 3.4–4.2% at 166 MPa.</a:t>
            </a:r>
            <a:endParaRPr lang="en-US" sz="1500" dirty="0"/>
          </a:p>
        </p:txBody>
      </p:sp>
      <p:sp>
        <p:nvSpPr>
          <p:cNvPr id="9" name="Text 6"/>
          <p:cNvSpPr/>
          <p:nvPr/>
        </p:nvSpPr>
        <p:spPr>
          <a:xfrm>
            <a:off x="8102600" y="2565995"/>
            <a:ext cx="3374898" cy="113030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64C"/>
                </a:solidFill>
                <a:latin typeface="Arial" pitchFamily="34" charset="0"/>
                <a:ea typeface="Arial" pitchFamily="34" charset="-122"/>
                <a:cs typeface="Arial" pitchFamily="34" charset="-120"/>
              </a:rPr>
              <a:t>But mixes compiled by Zhang 2022 (hollow) break the trend: more than 5% at over 210 MPa, 8.5% at 122 MPa.</a:t>
            </a:r>
            <a:endParaRPr lang="en-US" sz="1500" dirty="0"/>
          </a:p>
        </p:txBody>
      </p:sp>
      <p:sp>
        <p:nvSpPr>
          <p:cNvPr id="10" name="Text 7"/>
          <p:cNvSpPr/>
          <p:nvPr/>
        </p:nvSpPr>
        <p:spPr>
          <a:xfrm>
            <a:off x="8102600" y="3823295"/>
            <a:ext cx="3374898"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4E79"/>
                </a:solidFill>
                <a:latin typeface="Arial" pitchFamily="34" charset="0"/>
                <a:ea typeface="Arial" pitchFamily="34" charset="-122"/>
                <a:cs typeface="Arial" pitchFamily="34" charset="-120"/>
              </a:rPr>
              <a:t>Ductility is set by fiber and interface design, not by f'c alone.</a:t>
            </a:r>
            <a:endParaRPr lang="en-US" sz="1500" dirty="0"/>
          </a:p>
        </p:txBody>
      </p:sp>
      <p:sp>
        <p:nvSpPr>
          <p:cNvPr id="11" name="Text 8"/>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8"/>
                </a:solidFill>
                <a:latin typeface="Arial" pitchFamily="34" charset="0"/>
                <a:ea typeface="Arial" pitchFamily="34" charset="-122"/>
                <a:cs typeface="Arial" pitchFamily="34" charset="-120"/>
              </a:rPr>
              <a:t>Part B · Tension · wiki: mechanical-results, tensile-strain-capacity · GDUT f'c read from a bar chart (approximate)</a:t>
            </a:r>
            <a:endParaRPr lang="en-US" sz="1200" dirty="0"/>
          </a:p>
        </p:txBody>
      </p:sp>
      <p:sp>
        <p:nvSpPr>
          <p:cNvPr id="12" name="Shape 9"/>
          <p:cNvSpPr/>
          <p:nvPr/>
        </p:nvSpPr>
        <p:spPr>
          <a:xfrm>
            <a:off x="0" y="6350000"/>
            <a:ext cx="12192000" cy="12700"/>
          </a:xfrm>
          <a:prstGeom prst="rect">
            <a:avLst/>
          </a:prstGeom>
          <a:solidFill>
            <a:srgbClr val="A6A6A6"/>
          </a:solidFill>
          <a:ln/>
        </p:spPr>
      </p:sp>
      <p:sp>
        <p:nvSpPr>
          <p:cNvPr id="13" name="Text 10"/>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14" name="Text 11"/>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26</a:t>
            </a:r>
            <a:endParaRPr lang="en-US" sz="1500" dirty="0"/>
          </a:p>
        </p:txBody>
      </p:sp>
      <p:pic>
        <p:nvPicPr>
          <p:cNvPr id="15" name="Image 1" descr="preencoded.png">    </p:cNvPr>
          <p:cNvPicPr>
            <a:picLocks noChangeAspect="1"/>
          </p:cNvPicPr>
          <p:nvPr/>
        </p:nvPicPr>
        <p:blipFill>
          <a:blip r:embed="rId2">
            <a:alphaModFix amt="60000"/>
          </a:blip>
          <a:srcRect l="0" r="0" t="0" b="0"/>
          <a:stretch/>
        </p:blipFill>
        <p:spPr>
          <a:xfrm>
            <a:off x="11468100" y="6400800"/>
            <a:ext cx="431800" cy="4318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B: Literature review</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2.11. The test setup changes the number</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648420"/>
          <a:ext cx="6337300" cy="2965450"/>
        </p:xfrm>
        <a:graphic>
          <a:graphicData uri="http://schemas.openxmlformats.org/drawingml/2006/table">
            <a:tbl>
              <a:tblPr/>
              <a:tblGrid>
                <a:gridCol w="1901190"/>
                <a:gridCol w="2408174"/>
                <a:gridCol w="1013968"/>
                <a:gridCol w="1013968"/>
              </a:tblGrid>
              <a:tr h="346075">
                <a:tc>
                  <a:txBody>
                    <a:bodyPr/>
                    <a:lstStyle/>
                    <a:p>
                      <a:pPr indent="0" marL="0">
                        <a:lnSpc>
                          <a:spcPts val="1750"/>
                        </a:lnSpc>
                        <a:buNone/>
                      </a:pPr>
                      <a:r>
                        <a:rPr lang="en-US" sz="1250" b="1" dirty="0">
                          <a:solidFill>
                            <a:srgbClr val="22272B"/>
                          </a:solidFill>
                          <a:latin typeface="Arial" pitchFamily="34" charset="0"/>
                          <a:ea typeface="Arial" pitchFamily="34" charset="-122"/>
                          <a:cs typeface="Arial" pitchFamily="34" charset="-120"/>
                        </a:rPr>
                        <a:t>Study</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750"/>
                        </a:lnSpc>
                        <a:buNone/>
                      </a:pPr>
                      <a:r>
                        <a:rPr lang="en-US" sz="1250" b="1" dirty="0">
                          <a:solidFill>
                            <a:srgbClr val="22272B"/>
                          </a:solidFill>
                          <a:latin typeface="Arial" pitchFamily="34" charset="0"/>
                          <a:ea typeface="Arial" pitchFamily="34" charset="-122"/>
                          <a:cs typeface="Arial" pitchFamily="34" charset="-120"/>
                        </a:rPr>
                        <a:t>Specimen</a:t>
                      </a:r>
                      <a:endParaRPr lang="en-US" sz="1250" dirty="0">
                        <a:latin typeface="Arial" charset="0"/>
                        <a:ea typeface="Arial" charset="0"/>
                        <a:cs typeface="Arial" charset="0"/>
                      </a:endParaRPr>
                    </a:p>
                  </a:txBody>
                  <a:tcPr marL="55563" marR="55563" marT="55563" marB="55563"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750"/>
                        </a:lnSpc>
                        <a:buNone/>
                      </a:pPr>
                      <a:r>
                        <a:rPr lang="en-US" sz="1250" b="1" dirty="0">
                          <a:solidFill>
                            <a:srgbClr val="22272B"/>
                          </a:solidFill>
                          <a:latin typeface="Arial" pitchFamily="34" charset="0"/>
                          <a:ea typeface="Arial" pitchFamily="34" charset="-122"/>
                          <a:cs typeface="Arial" pitchFamily="34" charset="-120"/>
                        </a:rPr>
                        <a:t>Gauge</a:t>
                      </a:r>
                      <a:endParaRPr lang="en-US" sz="1250" dirty="0">
                        <a:latin typeface="Arial" charset="0"/>
                        <a:ea typeface="Arial" charset="0"/>
                        <a:cs typeface="Arial" charset="0"/>
                      </a:endParaRPr>
                    </a:p>
                  </a:txBody>
                  <a:tcPr marL="55563" marR="55563" marT="55563" marB="55563"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750"/>
                        </a:lnSpc>
                        <a:buNone/>
                      </a:pPr>
                      <a:r>
                        <a:rPr lang="en-US" sz="1250" b="1" dirty="0">
                          <a:solidFill>
                            <a:srgbClr val="22272B"/>
                          </a:solidFill>
                          <a:latin typeface="Arial" pitchFamily="34" charset="0"/>
                          <a:ea typeface="Arial" pitchFamily="34" charset="-122"/>
                          <a:cs typeface="Arial" pitchFamily="34" charset="-120"/>
                        </a:rPr>
                        <a:t>Rate</a:t>
                      </a:r>
                      <a:endParaRPr lang="en-US" sz="1250" dirty="0">
                        <a:latin typeface="Arial" charset="0"/>
                        <a:ea typeface="Arial" charset="0"/>
                        <a:cs typeface="Arial" charset="0"/>
                      </a:endParaRPr>
                    </a:p>
                  </a:txBody>
                  <a:tcPr marL="55563" marR="55563" marT="55563" marB="55563"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46075">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JSCE (2008)</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dogbone, 30 × 13 mm section</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80 mm</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68325">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Li 2002</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coupon 305 × 76 × 13 mm</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about 185 mm</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2.5 µm/s</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68325">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Ranade 2015</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dogbone</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90 mm</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9 µm/s – 0.9 m/s</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68325">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Su 2023</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JSCE dumbbell</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80 mm</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0.5 mm/min</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68325">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Yang 2024</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dogbone, 50 × 15 mm section</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150 mm</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0.2 mm/min</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7467600" y="1635720"/>
            <a:ext cx="4028948"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64C"/>
                </a:solidFill>
                <a:latin typeface="Arial" pitchFamily="34" charset="0"/>
                <a:ea typeface="Arial" pitchFamily="34" charset="-122"/>
                <a:cs typeface="Arial" pitchFamily="34" charset="-120"/>
              </a:rPr>
              <a:t>Cylinders give lower strength and strain than dogbones; thickness from 13 to 50 mm hardly matters.</a:t>
            </a:r>
            <a:endParaRPr lang="en-US" sz="1400" dirty="0"/>
          </a:p>
        </p:txBody>
      </p:sp>
      <p:sp>
        <p:nvSpPr>
          <p:cNvPr id="9" name="Text 6"/>
          <p:cNvSpPr/>
          <p:nvPr/>
        </p:nvSpPr>
        <p:spPr>
          <a:xfrm>
            <a:off x="7467600" y="2509242"/>
            <a:ext cx="402894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64C"/>
                </a:solidFill>
                <a:latin typeface="Arial" pitchFamily="34" charset="0"/>
                <a:ea typeface="Arial" pitchFamily="34" charset="-122"/>
                <a:cs typeface="Arial" pitchFamily="34" charset="-120"/>
              </a:rPr>
              <a:t>Deflection-hardening in bending does not prove tensile strain hardening.</a:t>
            </a:r>
            <a:endParaRPr lang="en-US" sz="1400" dirty="0"/>
          </a:p>
        </p:txBody>
      </p:sp>
      <p:sp>
        <p:nvSpPr>
          <p:cNvPr id="10" name="Text 7"/>
          <p:cNvSpPr/>
          <p:nvPr/>
        </p:nvSpPr>
        <p:spPr>
          <a:xfrm>
            <a:off x="7467600" y="3133923"/>
            <a:ext cx="402894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A5509"/>
                </a:solidFill>
                <a:latin typeface="Arial" pitchFamily="34" charset="0"/>
                <a:ea typeface="Arial" pitchFamily="34" charset="-122"/>
                <a:cs typeface="Arial" pitchFamily="34" charset="-120"/>
              </a:rPr>
              <a:t>No standard tension test exists for HDC.</a:t>
            </a:r>
            <a:endParaRPr lang="en-US" sz="1400" dirty="0"/>
          </a:p>
        </p:txBody>
      </p:sp>
      <p:sp>
        <p:nvSpPr>
          <p:cNvPr id="11" name="Text 8"/>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8"/>
                </a:solidFill>
                <a:latin typeface="Arial" pitchFamily="34" charset="0"/>
                <a:ea typeface="Arial" pitchFamily="34" charset="-122"/>
                <a:cs typeface="Arial" pitchFamily="34" charset="-120"/>
              </a:rPr>
              <a:t>Part B · Test methods · yu2018 p. 348–349; zhang2022 p. 9–11; li2002; ranade2015; su2023; yang2024 · wiki: dogbone-uniaxial-tension</a:t>
            </a:r>
            <a:endParaRPr lang="en-US" sz="1200" dirty="0"/>
          </a:p>
        </p:txBody>
      </p:sp>
      <p:sp>
        <p:nvSpPr>
          <p:cNvPr id="12" name="Shape 9"/>
          <p:cNvSpPr/>
          <p:nvPr/>
        </p:nvSpPr>
        <p:spPr>
          <a:xfrm>
            <a:off x="0" y="6350000"/>
            <a:ext cx="12192000" cy="12700"/>
          </a:xfrm>
          <a:prstGeom prst="rect">
            <a:avLst/>
          </a:prstGeom>
          <a:solidFill>
            <a:srgbClr val="A6A6A6"/>
          </a:solidFill>
          <a:ln/>
        </p:spPr>
      </p:sp>
      <p:sp>
        <p:nvSpPr>
          <p:cNvPr id="13" name="Text 10"/>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14" name="Text 11"/>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27</a:t>
            </a:r>
            <a:endParaRPr lang="en-US" sz="1500" dirty="0"/>
          </a:p>
        </p:txBody>
      </p:sp>
      <p:pic>
        <p:nvPicPr>
          <p:cNvPr id="15" name="Image 0" descr="preencoded.png">    </p:cNvPr>
          <p:cNvPicPr>
            <a:picLocks noChangeAspect="1"/>
          </p:cNvPicPr>
          <p:nvPr/>
        </p:nvPicPr>
        <p:blipFill>
          <a:blip r:embed="rId1">
            <a:alphaModFix amt="60000"/>
          </a:blip>
          <a:srcRect l="0" r="0" t="0" b="0"/>
          <a:stretch/>
        </p:blipFill>
        <p:spPr>
          <a:xfrm>
            <a:off x="11468100" y="6400800"/>
            <a:ext cx="431800" cy="4318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B: Literature review</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2.12. Enough fiber removes the flexural size effect</a:t>
            </a:r>
            <a:endParaRPr lang="en-US" sz="2800" dirty="0"/>
          </a:p>
        </p:txBody>
      </p:sp>
      <p:sp>
        <p:nvSpPr>
          <p:cNvPr id="7" name="Shape 5"/>
          <p:cNvSpPr/>
          <p:nvPr/>
        </p:nvSpPr>
        <p:spPr>
          <a:xfrm>
            <a:off x="812800" y="1661120"/>
            <a:ext cx="4996855" cy="2536627"/>
          </a:xfrm>
          <a:prstGeom prst="roundRect">
            <a:avLst>
              <a:gd name="adj" fmla="val 3004"/>
            </a:avLst>
          </a:prstGeom>
          <a:solidFill>
            <a:srgbClr val="1F4E79"/>
          </a:solidFill>
          <a:ln/>
        </p:spPr>
      </p:sp>
      <p:sp>
        <p:nvSpPr>
          <p:cNvPr id="8" name="Text 6"/>
          <p:cNvSpPr/>
          <p:nvPr/>
        </p:nvSpPr>
        <p:spPr>
          <a:xfrm>
            <a:off x="1117600" y="1965920"/>
            <a:ext cx="451887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3B25E"/>
                </a:solidFill>
                <a:latin typeface="Arial" pitchFamily="34" charset="0"/>
                <a:ea typeface="Arial" pitchFamily="34" charset="-122"/>
                <a:cs typeface="Arial" pitchFamily="34" charset="-120"/>
              </a:rPr>
              <a:t>UHDC with 2% PE</a:t>
            </a:r>
            <a:endParaRPr lang="en-US" sz="1400" dirty="0"/>
          </a:p>
        </p:txBody>
      </p:sp>
      <p:sp>
        <p:nvSpPr>
          <p:cNvPr id="9" name="Text 7"/>
          <p:cNvSpPr/>
          <p:nvPr/>
        </p:nvSpPr>
        <p:spPr>
          <a:xfrm>
            <a:off x="1117600" y="2290961"/>
            <a:ext cx="451887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4F5F2"/>
                </a:solidFill>
                <a:latin typeface="Arial" pitchFamily="34" charset="0"/>
                <a:ea typeface="Arial" pitchFamily="34" charset="-122"/>
                <a:cs typeface="Arial" pitchFamily="34" charset="-120"/>
              </a:rPr>
              <a:t>≈ 20 MPa</a:t>
            </a:r>
            <a:endParaRPr lang="en-US" sz="4800" dirty="0"/>
          </a:p>
        </p:txBody>
      </p:sp>
      <p:sp>
        <p:nvSpPr>
          <p:cNvPr id="10" name="Text 8"/>
          <p:cNvSpPr/>
          <p:nvPr/>
        </p:nvSpPr>
        <p:spPr>
          <a:xfrm>
            <a:off x="1117600" y="2976761"/>
            <a:ext cx="451887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0C4"/>
                </a:solidFill>
                <a:latin typeface="Arial" pitchFamily="34" charset="0"/>
                <a:ea typeface="Arial" pitchFamily="34" charset="-122"/>
                <a:cs typeface="Arial" pitchFamily="34" charset="-120"/>
              </a:rPr>
              <a:t>nominal flexural strength at every beam depth from 40 to 150 mm and both notch depths (18.3–22.1 MPa)</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127155" y="1673820"/>
          <a:ext cx="5252045" cy="1899245"/>
        </p:xfrm>
        <a:graphic>
          <a:graphicData uri="http://schemas.openxmlformats.org/drawingml/2006/table">
            <a:tbl>
              <a:tblPr/>
              <a:tblGrid>
                <a:gridCol w="1785695"/>
                <a:gridCol w="1733175"/>
                <a:gridCol w="1733175"/>
              </a:tblGrid>
              <a:tr h="590352">
                <a:tc>
                  <a:txBody>
                    <a:bodyPr/>
                    <a:lstStyle/>
                    <a:p>
                      <a:pPr indent="0" marL="0">
                        <a:lnSpc>
                          <a:spcPts val="1820"/>
                        </a:lnSpc>
                        <a:buNone/>
                      </a:pPr>
                      <a:r>
                        <a:rPr lang="en-US" sz="1300" b="1" dirty="0">
                          <a:solidFill>
                            <a:srgbClr val="22272B"/>
                          </a:solidFill>
                          <a:latin typeface="Arial" pitchFamily="34" charset="0"/>
                          <a:ea typeface="Arial" pitchFamily="34" charset="-122"/>
                          <a:cs typeface="Arial" pitchFamily="34" charset="-120"/>
                        </a:rPr>
                        <a:t>Notched beams</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22272B"/>
                          </a:solidFill>
                          <a:latin typeface="Arial" pitchFamily="34" charset="0"/>
                          <a:ea typeface="Arial" pitchFamily="34" charset="-122"/>
                          <a:cs typeface="Arial" pitchFamily="34" charset="-120"/>
                        </a:rPr>
                        <a:t>Flexural strength</a:t>
                      </a:r>
                      <a:endParaRPr lang="en-US" sz="1300" dirty="0">
                        <a:latin typeface="Arial" charset="0"/>
                        <a:ea typeface="Arial" charset="0"/>
                        <a:cs typeface="Arial"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22272B"/>
                          </a:solidFill>
                          <a:latin typeface="Arial" pitchFamily="34" charset="0"/>
                          <a:ea typeface="Arial" pitchFamily="34" charset="-122"/>
                          <a:cs typeface="Arial" pitchFamily="34" charset="-120"/>
                        </a:rPr>
                        <a:t>Bažant size-effect law</a:t>
                      </a:r>
                      <a:endParaRPr lang="en-US" sz="1300" dirty="0">
                        <a:latin typeface="Arial" charset="0"/>
                        <a:ea typeface="Arial" charset="0"/>
                        <a:cs typeface="Arial"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9271">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Plain mortar</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3.7–7.1 MPa</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applies</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UHDC, 1% PE</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10.0–21.6 MPa</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applies</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90352">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UHDC, 2% PE</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18.3–22.1 MPa</a:t>
                      </a:r>
                      <a:endParaRPr lang="en-US" sz="1300" dirty="0">
                        <a:latin typeface="Arial" charset="0"/>
                        <a:ea typeface="Arial" charset="0"/>
                        <a:cs typeface="Arial" charset="0"/>
                      </a:endParaRPr>
                    </a:p>
                  </a:txBody>
                  <a:tcPr marL="57785" marR="57785" marT="57785" marB="57785" anchor="t">
                    <a:lnL w="12700" cap="flat" cmpd="sng" algn="ctr">
                      <a:solidFill>
                        <a:srgbClr val="BEC2C6"/>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c>
                  <a:txBody>
                    <a:bodyPr/>
                    <a:lstStyle/>
                    <a:p>
                      <a:pPr indent="0" marL="0">
                        <a:lnSpc>
                          <a:spcPts val="1820"/>
                        </a:lnSpc>
                        <a:buNone/>
                      </a:pPr>
                      <a:r>
                        <a:rPr lang="en-US" sz="1300" dirty="0">
                          <a:solidFill>
                            <a:srgbClr val="22272B"/>
                          </a:solidFill>
                          <a:latin typeface="Arial" pitchFamily="34" charset="0"/>
                          <a:ea typeface="Arial" pitchFamily="34" charset="-122"/>
                          <a:cs typeface="Arial" pitchFamily="34" charset="-120"/>
                        </a:rPr>
                        <a:t>does not apply (D₀ &lt; 0)</a:t>
                      </a:r>
                      <a:endParaRPr lang="en-US" sz="1300" dirty="0">
                        <a:latin typeface="Arial" charset="0"/>
                        <a:ea typeface="Arial" charset="0"/>
                        <a:cs typeface="Arial" charset="0"/>
                      </a:endParaRPr>
                    </a:p>
                  </a:txBody>
                  <a:tcPr marL="57785" marR="57785" marT="57785" marB="57785" anchor="t">
                    <a:lnL w="12700" cap="flat" cmpd="sng" algn="ctr">
                      <a:solidFill>
                        <a:srgbClr val="BEC2C6"/>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r>
            </a:tbl>
          </a:graphicData>
        </a:graphic>
      </p:graphicFrame>
      <p:sp>
        <p:nvSpPr>
          <p:cNvPr id="12" name="Text 9"/>
          <p:cNvSpPr/>
          <p:nvPr/>
        </p:nvSpPr>
        <p:spPr>
          <a:xfrm>
            <a:off x="6114455" y="3700066"/>
            <a:ext cx="542268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64C"/>
                </a:solidFill>
                <a:latin typeface="Arial" pitchFamily="34" charset="0"/>
                <a:ea typeface="Arial" pitchFamily="34" charset="-122"/>
                <a:cs typeface="Arial" pitchFamily="34" charset="-120"/>
              </a:rPr>
              <a:t>The fracture process zone grows from under 0.1 mm in mortar to 1.8–24.5 mm in UHDC.</a:t>
            </a:r>
            <a:endParaRPr lang="en-US" sz="1400" dirty="0"/>
          </a:p>
        </p:txBody>
      </p:sp>
      <p:sp>
        <p:nvSpPr>
          <p:cNvPr id="13" name="Text 10"/>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8"/>
                </a:solidFill>
                <a:latin typeface="Arial" pitchFamily="34" charset="0"/>
                <a:ea typeface="Arial" pitchFamily="34" charset="-122"/>
                <a:cs typeface="Arial" pitchFamily="34" charset="-120"/>
              </a:rPr>
              <a:t>Part B · Size effect · ye2021-uhdc-flexural-size-effect, Tables 3–5 · wiki: size-effect</a:t>
            </a:r>
            <a:endParaRPr lang="en-US" sz="1200" dirty="0"/>
          </a:p>
        </p:txBody>
      </p:sp>
      <p:sp>
        <p:nvSpPr>
          <p:cNvPr id="14" name="Shape 11"/>
          <p:cNvSpPr/>
          <p:nvPr/>
        </p:nvSpPr>
        <p:spPr>
          <a:xfrm>
            <a:off x="0" y="6350000"/>
            <a:ext cx="12192000" cy="12700"/>
          </a:xfrm>
          <a:prstGeom prst="rect">
            <a:avLst/>
          </a:prstGeom>
          <a:solidFill>
            <a:srgbClr val="A6A6A6"/>
          </a:solidFill>
          <a:ln/>
        </p:spPr>
      </p:sp>
      <p:sp>
        <p:nvSpPr>
          <p:cNvPr id="15" name="Text 12"/>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16" name="Text 13"/>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28</a:t>
            </a:r>
            <a:endParaRPr lang="en-US" sz="1500" dirty="0"/>
          </a:p>
        </p:txBody>
      </p:sp>
      <p:pic>
        <p:nvPicPr>
          <p:cNvPr id="17" name="Image 0" descr="preencoded.png">    </p:cNvPr>
          <p:cNvPicPr>
            <a:picLocks noChangeAspect="1"/>
          </p:cNvPicPr>
          <p:nvPr/>
        </p:nvPicPr>
        <p:blipFill>
          <a:blip r:embed="rId1">
            <a:alphaModFix amt="60000"/>
          </a:blip>
          <a:srcRect l="0" r="0" t="0" b="0"/>
          <a:stretch/>
        </p:blipFill>
        <p:spPr>
          <a:xfrm>
            <a:off x="11468100" y="6400800"/>
            <a:ext cx="431800" cy="4318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B: Literature review</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2.13. Under fast loading: stronger, less ductile, still intact</a:t>
            </a:r>
            <a:endParaRPr lang="en-US" sz="2800" dirty="0"/>
          </a:p>
        </p:txBody>
      </p:sp>
      <p:pic>
        <p:nvPicPr>
          <p:cNvPr id="7" name="Image 0" descr="Two charts for Michigan HSHDC versus strain rate from 0.0001 to 10 per second: ultimate tensile strength rises from 14.5 to 20.6 MPa; strain capacity falls from 4.2 to 2.7%">    </p:cNvPr>
          <p:cNvPicPr>
            <a:picLocks noChangeAspect="1"/>
          </p:cNvPicPr>
          <p:nvPr/>
        </p:nvPicPr>
        <p:blipFill>
          <a:blip r:embed="rId1"/>
          <a:srcRect l="0" r="0" t="-1978" b="-1978"/>
          <a:stretch/>
        </p:blipFill>
        <p:spPr>
          <a:xfrm>
            <a:off x="812800" y="1559520"/>
            <a:ext cx="6985000" cy="2501900"/>
          </a:xfrm>
          <a:prstGeom prst="rect">
            <a:avLst/>
          </a:prstGeom>
        </p:spPr>
      </p:pic>
      <p:sp>
        <p:nvSpPr>
          <p:cNvPr id="8" name="Text 5"/>
          <p:cNvSpPr/>
          <p:nvPr/>
        </p:nvSpPr>
        <p:spPr>
          <a:xfrm>
            <a:off x="8051800" y="1559520"/>
            <a:ext cx="3427222"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64C"/>
                </a:solidFill>
                <a:latin typeface="Arial" pitchFamily="34" charset="0"/>
                <a:ea typeface="Arial" pitchFamily="34" charset="-122"/>
                <a:cs typeface="Arial" pitchFamily="34" charset="-120"/>
              </a:rPr>
              <a:t>Viscoelastic PE fiber gets 85% stiffer and 21% stronger. Stiffer bridging means narrower cracks (160 → 110 µm), so lower strain.</a:t>
            </a:r>
            <a:endParaRPr lang="en-US" sz="1400" dirty="0"/>
          </a:p>
        </p:txBody>
      </p:sp>
      <p:sp>
        <p:nvSpPr>
          <p:cNvPr id="9" name="Shape 6"/>
          <p:cNvSpPr/>
          <p:nvPr/>
        </p:nvSpPr>
        <p:spPr>
          <a:xfrm>
            <a:off x="815975" y="4242395"/>
            <a:ext cx="5187950" cy="1217712"/>
          </a:xfrm>
          <a:prstGeom prst="roundRect">
            <a:avLst>
              <a:gd name="adj" fmla="val 5997"/>
            </a:avLst>
          </a:prstGeom>
          <a:solidFill>
            <a:srgbClr val="F4F8FC"/>
          </a:solidFill>
          <a:ln w="6350">
            <a:solidFill>
              <a:srgbClr val="C9D7E8"/>
            </a:solidFill>
            <a:prstDash val="solid"/>
          </a:ln>
        </p:spPr>
      </p:sp>
      <p:sp>
        <p:nvSpPr>
          <p:cNvPr id="10" name="Text 7"/>
          <p:cNvSpPr/>
          <p:nvPr/>
        </p:nvSpPr>
        <p:spPr>
          <a:xfrm>
            <a:off x="1022350" y="4448770"/>
            <a:ext cx="491845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2272B"/>
                </a:solidFill>
                <a:latin typeface="Arial" pitchFamily="34" charset="0"/>
                <a:ea typeface="Arial" pitchFamily="34" charset="-122"/>
                <a:cs typeface="Arial" pitchFamily="34" charset="-120"/>
              </a:rPr>
              <a:t>HSHDC slabs</a:t>
            </a:r>
            <a:endParaRPr lang="en-US" sz="1600" dirty="0"/>
          </a:p>
        </p:txBody>
      </p:sp>
      <p:sp>
        <p:nvSpPr>
          <p:cNvPr id="11" name="Text 8"/>
          <p:cNvSpPr/>
          <p:nvPr/>
        </p:nvSpPr>
        <p:spPr>
          <a:xfrm>
            <a:off x="1022350" y="4756051"/>
            <a:ext cx="491845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64C"/>
                </a:solidFill>
                <a:latin typeface="Arial" pitchFamily="34" charset="0"/>
                <a:ea typeface="Arial" pitchFamily="34" charset="-122"/>
                <a:cs typeface="Arial" pitchFamily="34" charset="-120"/>
              </a:rPr>
              <a:t>Survived 20 drop-weight impacts at up to 4.6 m/s: fine radial cracks, no punching, almost no spalling.</a:t>
            </a:r>
            <a:endParaRPr lang="en-US" sz="1400" dirty="0"/>
          </a:p>
        </p:txBody>
      </p:sp>
      <p:sp>
        <p:nvSpPr>
          <p:cNvPr id="12" name="Shape 9"/>
          <p:cNvSpPr/>
          <p:nvPr/>
        </p:nvSpPr>
        <p:spPr>
          <a:xfrm>
            <a:off x="6188075" y="4242395"/>
            <a:ext cx="5187950" cy="1217712"/>
          </a:xfrm>
          <a:prstGeom prst="roundRect">
            <a:avLst>
              <a:gd name="adj" fmla="val 5997"/>
            </a:avLst>
          </a:prstGeom>
          <a:solidFill>
            <a:srgbClr val="F4F8FC"/>
          </a:solidFill>
          <a:ln w="6350">
            <a:solidFill>
              <a:srgbClr val="C9D7E8"/>
            </a:solidFill>
            <a:prstDash val="solid"/>
          </a:ln>
        </p:spPr>
      </p:sp>
      <p:sp>
        <p:nvSpPr>
          <p:cNvPr id="13" name="Text 10"/>
          <p:cNvSpPr/>
          <p:nvPr/>
        </p:nvSpPr>
        <p:spPr>
          <a:xfrm>
            <a:off x="6394450" y="4448770"/>
            <a:ext cx="491845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2272B"/>
                </a:solidFill>
                <a:latin typeface="Arial" pitchFamily="34" charset="0"/>
                <a:ea typeface="Arial" pitchFamily="34" charset="-122"/>
                <a:cs typeface="Arial" pitchFamily="34" charset="-120"/>
              </a:rPr>
              <a:t>Cor-Tuf UHPC slabs (201 MPa)</a:t>
            </a:r>
            <a:endParaRPr lang="en-US" sz="1600" dirty="0"/>
          </a:p>
        </p:txBody>
      </p:sp>
      <p:sp>
        <p:nvSpPr>
          <p:cNvPr id="14" name="Text 11"/>
          <p:cNvSpPr/>
          <p:nvPr/>
        </p:nvSpPr>
        <p:spPr>
          <a:xfrm>
            <a:off x="6394450" y="4756051"/>
            <a:ext cx="491845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64C"/>
                </a:solidFill>
                <a:latin typeface="Arial" pitchFamily="34" charset="0"/>
                <a:ea typeface="Arial" pitchFamily="34" charset="-122"/>
                <a:cs typeface="Arial" pitchFamily="34" charset="-120"/>
              </a:rPr>
              <a:t>Failed in flexure at 3.25 and 4.6 m/s, and by punching with the 50 mm head.</a:t>
            </a:r>
            <a:endParaRPr lang="en-US" sz="1400" dirty="0"/>
          </a:p>
        </p:txBody>
      </p:sp>
      <p:sp>
        <p:nvSpPr>
          <p:cNvPr id="15" name="Text 12"/>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8"/>
                </a:solidFill>
                <a:latin typeface="Arial" pitchFamily="34" charset="0"/>
                <a:ea typeface="Arial" pitchFamily="34" charset="-122"/>
                <a:cs typeface="Arial" pitchFamily="34" charset="-120"/>
              </a:rPr>
              <a:t>Part B · Dynamic · ranade2015 Table 2; ranade2017 Tables 3–4 · wiki: strain-rate-effects, impact-resistance</a:t>
            </a:r>
            <a:endParaRPr lang="en-US" sz="1200" dirty="0"/>
          </a:p>
        </p:txBody>
      </p:sp>
      <p:sp>
        <p:nvSpPr>
          <p:cNvPr id="16" name="Shape 13"/>
          <p:cNvSpPr/>
          <p:nvPr/>
        </p:nvSpPr>
        <p:spPr>
          <a:xfrm>
            <a:off x="0" y="6350000"/>
            <a:ext cx="12192000" cy="12700"/>
          </a:xfrm>
          <a:prstGeom prst="rect">
            <a:avLst/>
          </a:prstGeom>
          <a:solidFill>
            <a:srgbClr val="A6A6A6"/>
          </a:solidFill>
          <a:ln/>
        </p:spPr>
      </p:sp>
      <p:sp>
        <p:nvSpPr>
          <p:cNvPr id="17" name="Text 14"/>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18" name="Text 15"/>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29</a:t>
            </a:r>
            <a:endParaRPr lang="en-US" sz="1500" dirty="0"/>
          </a:p>
        </p:txBody>
      </p:sp>
      <p:pic>
        <p:nvPicPr>
          <p:cNvPr id="19" name="Image 1" descr="preencoded.png">    </p:cNvPr>
          <p:cNvPicPr>
            <a:picLocks noChangeAspect="1"/>
          </p:cNvPicPr>
          <p:nvPr/>
        </p:nvPicPr>
        <p:blipFill>
          <a:blip r:embed="rId2">
            <a:alphaModFix amt="60000"/>
          </a:blip>
          <a:srcRect l="0" r="0" t="0" b="0"/>
          <a:stretch/>
        </p:blipFill>
        <p:spPr>
          <a:xfrm>
            <a:off x="11468100" y="6400800"/>
            <a:ext cx="431800" cy="4318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B: Literature review</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2.14. Two crack-width families, one durability problem</a:t>
            </a:r>
            <a:endParaRPr lang="en-US" sz="2800" dirty="0"/>
          </a:p>
        </p:txBody>
      </p:sp>
      <p:sp>
        <p:nvSpPr>
          <p:cNvPr id="7" name="Text 5"/>
          <p:cNvSpPr/>
          <p:nvPr/>
        </p:nvSpPr>
        <p:spPr>
          <a:xfrm>
            <a:off x="812800" y="1559520"/>
            <a:ext cx="104648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64C"/>
                </a:solidFill>
                <a:latin typeface="Arial" pitchFamily="34" charset="0"/>
                <a:ea typeface="Arial" pitchFamily="34" charset="-122"/>
                <a:cs typeface="Arial" pitchFamily="34" charset="-120"/>
              </a:rPr>
              <a:t>PVA-ECC keeps cracks under the durability thresholds. PE-based HSHDC mostly does not.</a:t>
            </a:r>
            <a:endParaRPr lang="en-US" sz="1500" dirty="0"/>
          </a:p>
        </p:txBody>
      </p:sp>
      <p:pic>
        <p:nvPicPr>
          <p:cNvPr id="8" name="Image 0" descr="Ranges of average crack width: PVA-ECC 43–88 µm and compiled ECC 10–100 µm in green; PE-HSHDCC 69–83, Michigan HSHDC 110–160 and GDUT 79–198 µm in orange; thresholds shown for chloride 55–80 µm, self-healing below 60 µm and ECC design below 100 µm">    </p:cNvPr>
          <p:cNvPicPr>
            <a:picLocks noChangeAspect="1"/>
          </p:cNvPicPr>
          <p:nvPr/>
        </p:nvPicPr>
        <p:blipFill>
          <a:blip r:embed="rId1"/>
          <a:srcRect l="0" r="0" t="-7141" b="-7141"/>
          <a:stretch/>
        </p:blipFill>
        <p:spPr>
          <a:xfrm>
            <a:off x="812800" y="2004020"/>
            <a:ext cx="8890000" cy="3492500"/>
          </a:xfrm>
          <a:prstGeom prst="rect">
            <a:avLst/>
          </a:prstGeom>
        </p:spPr>
      </p:pic>
      <p:sp>
        <p:nvSpPr>
          <p:cNvPr id="9" name="Text 6"/>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8"/>
                </a:solidFill>
                <a:latin typeface="Arial" pitchFamily="34" charset="0"/>
                <a:ea typeface="Arial" pitchFamily="34" charset="-122"/>
                <a:cs typeface="Arial" pitchFamily="34" charset="-120"/>
              </a:rPr>
              <a:t>Part B · Cracking · li2002; ma2021; zhang2022; ranade2015; su2023; thresholds from ma2021 and he2024 (as cited) · wiki: crack-width</a:t>
            </a:r>
            <a:endParaRPr lang="en-US" sz="1200" dirty="0"/>
          </a:p>
        </p:txBody>
      </p:sp>
      <p:sp>
        <p:nvSpPr>
          <p:cNvPr id="10" name="Shape 7"/>
          <p:cNvSpPr/>
          <p:nvPr/>
        </p:nvSpPr>
        <p:spPr>
          <a:xfrm>
            <a:off x="0" y="6350000"/>
            <a:ext cx="12192000" cy="12700"/>
          </a:xfrm>
          <a:prstGeom prst="rect">
            <a:avLst/>
          </a:prstGeom>
          <a:solidFill>
            <a:srgbClr val="A6A6A6"/>
          </a:solidFill>
          <a:ln/>
        </p:spPr>
      </p:sp>
      <p:sp>
        <p:nvSpPr>
          <p:cNvPr id="11" name="Text 8"/>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12" name="Text 9"/>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30</a:t>
            </a:r>
            <a:endParaRPr lang="en-US" sz="1500" dirty="0"/>
          </a:p>
        </p:txBody>
      </p:sp>
      <p:pic>
        <p:nvPicPr>
          <p:cNvPr id="13" name="Image 1" descr="preencoded.png">    </p:cNvPr>
          <p:cNvPicPr>
            <a:picLocks noChangeAspect="1"/>
          </p:cNvPicPr>
          <p:nvPr/>
        </p:nvPicPr>
        <p:blipFill>
          <a:blip r:embed="rId2">
            <a:alphaModFix amt="60000"/>
          </a:blip>
          <a:srcRect l="0" r="0" t="0" b="0"/>
          <a:stretch/>
        </p:blipFill>
        <p:spPr>
          <a:xfrm>
            <a:off x="11468100" y="6400800"/>
            <a:ext cx="431800" cy="4318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B: Literature review</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2.15. Durability: strong for ECC, unknown for HSHDC</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623020"/>
          <a:ext cx="10553700" cy="2422525"/>
        </p:xfrm>
        <a:graphic>
          <a:graphicData uri="http://schemas.openxmlformats.org/drawingml/2006/table">
            <a:tbl>
              <a:tblPr/>
              <a:tblGrid>
                <a:gridCol w="1899666"/>
                <a:gridCol w="6121146"/>
                <a:gridCol w="2532888"/>
              </a:tblGrid>
              <a:tr h="346075">
                <a:tc>
                  <a:txBody>
                    <a:bodyPr/>
                    <a:lstStyle/>
                    <a:p>
                      <a:pPr indent="0" marL="0">
                        <a:lnSpc>
                          <a:spcPts val="1750"/>
                        </a:lnSpc>
                        <a:buNone/>
                      </a:pPr>
                      <a:r>
                        <a:rPr lang="en-US" sz="1250" b="1" dirty="0">
                          <a:solidFill>
                            <a:srgbClr val="22272B"/>
                          </a:solidFill>
                          <a:latin typeface="Arial" pitchFamily="34" charset="0"/>
                          <a:ea typeface="Arial" pitchFamily="34" charset="-122"/>
                          <a:cs typeface="Arial" pitchFamily="34" charset="-120"/>
                        </a:rPr>
                        <a:t>Exposure</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750"/>
                        </a:lnSpc>
                        <a:buNone/>
                      </a:pPr>
                      <a:r>
                        <a:rPr lang="en-US" sz="1250" b="1" dirty="0">
                          <a:solidFill>
                            <a:srgbClr val="22272B"/>
                          </a:solidFill>
                          <a:latin typeface="Arial" pitchFamily="34" charset="0"/>
                          <a:ea typeface="Arial" pitchFamily="34" charset="-122"/>
                          <a:cs typeface="Arial" pitchFamily="34" charset="-120"/>
                        </a:rPr>
                        <a:t>Reported finding (normal ECC)</a:t>
                      </a:r>
                      <a:endParaRPr lang="en-US" sz="1250" dirty="0">
                        <a:latin typeface="Arial" charset="0"/>
                        <a:ea typeface="Arial" charset="0"/>
                        <a:cs typeface="Arial" charset="0"/>
                      </a:endParaRPr>
                    </a:p>
                  </a:txBody>
                  <a:tcPr marL="55563" marR="55563" marT="55563" marB="55563"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750"/>
                        </a:lnSpc>
                        <a:buNone/>
                      </a:pPr>
                      <a:r>
                        <a:rPr lang="en-US" sz="1250" b="1" dirty="0">
                          <a:solidFill>
                            <a:srgbClr val="22272B"/>
                          </a:solidFill>
                          <a:latin typeface="Arial" pitchFamily="34" charset="0"/>
                          <a:ea typeface="Arial" pitchFamily="34" charset="-122"/>
                          <a:cs typeface="Arial" pitchFamily="34" charset="-120"/>
                        </a:rPr>
                        <a:t>Original study</a:t>
                      </a:r>
                      <a:endParaRPr lang="en-US" sz="1250" dirty="0">
                        <a:latin typeface="Arial" charset="0"/>
                        <a:ea typeface="Arial" charset="0"/>
                        <a:cs typeface="Arial" charset="0"/>
                      </a:endParaRPr>
                    </a:p>
                  </a:txBody>
                  <a:tcPr marL="55563" marR="55563" marT="55563" marB="55563"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46075">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Freeze–thaw</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durability factor above 100, versus 20 for non-air-entrained concrete</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Li 2008</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6075">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Water</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cracked at 3% strain: 7.7 × 10⁻¹⁰ m/s, about 10⁻¹² per crack</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Lepech &amp; Li 2009</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6075">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Self-healing</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cracks under 60 µm seal in 3–4 days; over 100 µm, 7–10 days or more</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as cited, Ma 2021</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6075">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Shrinkage</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1200–1800 µε at 28 d, versus 400–800 µε for concrete</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Yang 2007</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6075">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Heat (PE-ECC)</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strain 9.1% at 20 °C, 1.6% at 140 °C, 0.02% at 200 °C</a:t>
                      </a:r>
                      <a:endParaRPr lang="en-US" sz="1250" dirty="0">
                        <a:latin typeface="Arial" charset="0"/>
                        <a:ea typeface="Arial" charset="0"/>
                        <a:cs typeface="Arial" charset="0"/>
                      </a:endParaRPr>
                    </a:p>
                  </a:txBody>
                  <a:tcPr marL="55563" marR="55563" marT="55563" marB="55563" anchor="t">
                    <a:lnL w="12700" cap="flat" cmpd="sng" algn="ctr">
                      <a:solidFill>
                        <a:srgbClr val="BEC2C6"/>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Luo 2019</a:t>
                      </a:r>
                      <a:endParaRPr lang="en-US" sz="1250" dirty="0">
                        <a:latin typeface="Arial" charset="0"/>
                        <a:ea typeface="Arial" charset="0"/>
                        <a:cs typeface="Arial" charset="0"/>
                      </a:endParaRPr>
                    </a:p>
                  </a:txBody>
                  <a:tcPr marL="55563" marR="55563" marT="55563" marB="55563" anchor="t">
                    <a:lnL w="12700" cap="flat" cmpd="sng" algn="ctr">
                      <a:solidFill>
                        <a:srgbClr val="BEC2C6"/>
                      </a:solidFill>
                      <a:prstDash val="solid"/>
                      <a:round/>
                      <a:headEnd type="none" w="med" len="med"/>
                      <a:tailEnd type="none" w="med" len="med"/>
                    </a:lnL>
                    <a:lnR w="12700" cap="flat" cmpd="sng" algn="ctr">
                      <a:solidFill>
                        <a:srgbClr val="BEC2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6"/>
                      </a:solidFill>
                      <a:prstDash val="solid"/>
                      <a:round/>
                      <a:headEnd type="none" w="med" len="med"/>
                      <a:tailEnd type="none" w="med" len="med"/>
                    </a:lnB>
                    <a:solidFill>
                      <a:srgbClr val="EEF3F9"/>
                    </a:solidFill>
                  </a:tcPr>
                </a:tc>
              </a:tr>
              <a:tr h="346075">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Ageing</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2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ductility and self-healing fall as pozzolanic reaction continues</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2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22272B"/>
                          </a:solidFill>
                          <a:latin typeface="Arial" pitchFamily="34" charset="0"/>
                          <a:ea typeface="Arial" pitchFamily="34" charset="-122"/>
                          <a:cs typeface="Arial" pitchFamily="34" charset="-120"/>
                        </a:rPr>
                        <a:t>as cited, Ma 2021</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2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4274145"/>
            <a:ext cx="104648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64C"/>
                </a:solidFill>
                <a:latin typeface="Arial" pitchFamily="34" charset="0"/>
                <a:ea typeface="Arial" pitchFamily="34" charset="-122"/>
                <a:cs typeface="Arial" pitchFamily="34" charset="-120"/>
              </a:rPr>
              <a:t>All second-hand, through reviews. No ingested study tests the durability of any HSHDC or UHDC.</a:t>
            </a:r>
            <a:endParaRPr lang="en-US" sz="1400" dirty="0"/>
          </a:p>
        </p:txBody>
      </p:sp>
      <p:sp>
        <p:nvSpPr>
          <p:cNvPr id="9" name="Text 6"/>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8"/>
                </a:solidFill>
                <a:latin typeface="Arial" pitchFamily="34" charset="0"/>
                <a:ea typeface="Arial" pitchFamily="34" charset="-122"/>
                <a:cs typeface="Arial" pitchFamily="34" charset="-120"/>
              </a:rPr>
              <a:t>Part B · Durability · all as cited in ma2021-ecc-durability-review; also he2024 · wiki: durability, self-healing, high-temperature-behaviour</a:t>
            </a:r>
            <a:endParaRPr lang="en-US" sz="1200" dirty="0"/>
          </a:p>
        </p:txBody>
      </p:sp>
      <p:sp>
        <p:nvSpPr>
          <p:cNvPr id="10" name="Shape 7"/>
          <p:cNvSpPr/>
          <p:nvPr/>
        </p:nvSpPr>
        <p:spPr>
          <a:xfrm>
            <a:off x="0" y="6350000"/>
            <a:ext cx="12192000" cy="12700"/>
          </a:xfrm>
          <a:prstGeom prst="rect">
            <a:avLst/>
          </a:prstGeom>
          <a:solidFill>
            <a:srgbClr val="A6A6A6"/>
          </a:solidFill>
          <a:ln/>
        </p:spPr>
      </p:sp>
      <p:sp>
        <p:nvSpPr>
          <p:cNvPr id="11" name="Text 8"/>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12" name="Text 9"/>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31</a:t>
            </a:r>
            <a:endParaRPr lang="en-US" sz="1500" dirty="0"/>
          </a:p>
        </p:txBody>
      </p:sp>
      <p:pic>
        <p:nvPicPr>
          <p:cNvPr id="13" name="Image 0" descr="preencoded.png">    </p:cNvPr>
          <p:cNvPicPr>
            <a:picLocks noChangeAspect="1"/>
          </p:cNvPicPr>
          <p:nvPr/>
        </p:nvPicPr>
        <p:blipFill>
          <a:blip r:embed="rId1">
            <a:alphaModFix amt="60000"/>
          </a:blip>
          <a:srcRect l="0" r="0" t="0" b="0"/>
          <a:stretch/>
        </p:blipFill>
        <p:spPr>
          <a:xfrm>
            <a:off x="11468100" y="6400800"/>
            <a:ext cx="431800" cy="4318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B: Literature review</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2.16. Where HDC is being used</a:t>
            </a:r>
            <a:endParaRPr lang="en-US" sz="2800" dirty="0"/>
          </a:p>
        </p:txBody>
      </p:sp>
      <p:sp>
        <p:nvSpPr>
          <p:cNvPr id="7" name="Shape 5"/>
          <p:cNvSpPr/>
          <p:nvPr/>
        </p:nvSpPr>
        <p:spPr>
          <a:xfrm>
            <a:off x="815975" y="1638895"/>
            <a:ext cx="3414117" cy="1440061"/>
          </a:xfrm>
          <a:prstGeom prst="roundRect">
            <a:avLst>
              <a:gd name="adj" fmla="val 5071"/>
            </a:avLst>
          </a:prstGeom>
          <a:solidFill>
            <a:srgbClr val="F4F8FC"/>
          </a:solidFill>
          <a:ln w="6350">
            <a:solidFill>
              <a:srgbClr val="C9D7E8"/>
            </a:solidFill>
            <a:prstDash val="solid"/>
          </a:ln>
        </p:spPr>
      </p:sp>
      <p:sp>
        <p:nvSpPr>
          <p:cNvPr id="8" name="Text 6"/>
          <p:cNvSpPr/>
          <p:nvPr/>
        </p:nvSpPr>
        <p:spPr>
          <a:xfrm>
            <a:off x="1022350" y="1845270"/>
            <a:ext cx="30914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2272B"/>
                </a:solidFill>
                <a:latin typeface="Arial" pitchFamily="34" charset="0"/>
                <a:ea typeface="Arial" pitchFamily="34" charset="-122"/>
                <a:cs typeface="Arial" pitchFamily="34" charset="-120"/>
              </a:rPr>
              <a:t>Masonry retrofit</a:t>
            </a:r>
            <a:endParaRPr lang="en-US" sz="1600" dirty="0"/>
          </a:p>
        </p:txBody>
      </p:sp>
      <p:sp>
        <p:nvSpPr>
          <p:cNvPr id="9" name="Text 7"/>
          <p:cNvSpPr/>
          <p:nvPr/>
        </p:nvSpPr>
        <p:spPr>
          <a:xfrm>
            <a:off x="1022350" y="2152551"/>
            <a:ext cx="3091408" cy="74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64C"/>
                </a:solidFill>
                <a:latin typeface="Arial" pitchFamily="34" charset="0"/>
                <a:ea typeface="Arial" pitchFamily="34" charset="-122"/>
                <a:cs typeface="Arial" pitchFamily="34" charset="-120"/>
              </a:rPr>
              <a:t>PVA-HDC overlay on a half-scale two-storey building beat welded-wire mesh in shake-table tests.</a:t>
            </a:r>
            <a:endParaRPr lang="en-US" sz="1350" dirty="0"/>
          </a:p>
        </p:txBody>
      </p:sp>
      <p:sp>
        <p:nvSpPr>
          <p:cNvPr id="10" name="Shape 8"/>
          <p:cNvSpPr/>
          <p:nvPr/>
        </p:nvSpPr>
        <p:spPr>
          <a:xfrm>
            <a:off x="4388842" y="1638895"/>
            <a:ext cx="3414216" cy="1440061"/>
          </a:xfrm>
          <a:prstGeom prst="roundRect">
            <a:avLst>
              <a:gd name="adj" fmla="val 5071"/>
            </a:avLst>
          </a:prstGeom>
          <a:solidFill>
            <a:srgbClr val="F4F8FC"/>
          </a:solidFill>
          <a:ln w="6350">
            <a:solidFill>
              <a:srgbClr val="C9D7E8"/>
            </a:solidFill>
            <a:prstDash val="solid"/>
          </a:ln>
        </p:spPr>
      </p:sp>
      <p:sp>
        <p:nvSpPr>
          <p:cNvPr id="11" name="Text 9"/>
          <p:cNvSpPr/>
          <p:nvPr/>
        </p:nvSpPr>
        <p:spPr>
          <a:xfrm>
            <a:off x="4595217" y="1845270"/>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2272B"/>
                </a:solidFill>
                <a:latin typeface="Arial" pitchFamily="34" charset="0"/>
                <a:ea typeface="Arial" pitchFamily="34" charset="-122"/>
                <a:cs typeface="Arial" pitchFamily="34" charset="-120"/>
              </a:rPr>
              <a:t>RC strengthening</a:t>
            </a:r>
            <a:endParaRPr lang="en-US" sz="1600" dirty="0"/>
          </a:p>
        </p:txBody>
      </p:sp>
      <p:sp>
        <p:nvSpPr>
          <p:cNvPr id="12" name="Text 10"/>
          <p:cNvSpPr/>
          <p:nvPr/>
        </p:nvSpPr>
        <p:spPr>
          <a:xfrm>
            <a:off x="4595217" y="2152551"/>
            <a:ext cx="3091510" cy="50542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64C"/>
                </a:solidFill>
                <a:latin typeface="Arial" pitchFamily="34" charset="0"/>
                <a:ea typeface="Arial" pitchFamily="34" charset="-122"/>
                <a:cs typeface="Arial" pitchFamily="34" charset="-120"/>
              </a:rPr>
              <a:t>Jacketing of short columns; textile-reinforced HDC for beams and slabs.</a:t>
            </a:r>
            <a:endParaRPr lang="en-US" sz="1350" dirty="0"/>
          </a:p>
        </p:txBody>
      </p:sp>
      <p:sp>
        <p:nvSpPr>
          <p:cNvPr id="13" name="Shape 11"/>
          <p:cNvSpPr/>
          <p:nvPr/>
        </p:nvSpPr>
        <p:spPr>
          <a:xfrm>
            <a:off x="7961809" y="1638895"/>
            <a:ext cx="3414216" cy="1440061"/>
          </a:xfrm>
          <a:prstGeom prst="roundRect">
            <a:avLst>
              <a:gd name="adj" fmla="val 5071"/>
            </a:avLst>
          </a:prstGeom>
          <a:solidFill>
            <a:srgbClr val="F4F8FC"/>
          </a:solidFill>
          <a:ln w="6350">
            <a:solidFill>
              <a:srgbClr val="C9D7E8"/>
            </a:solidFill>
            <a:prstDash val="solid"/>
          </a:ln>
        </p:spPr>
      </p:sp>
      <p:sp>
        <p:nvSpPr>
          <p:cNvPr id="14" name="Text 12"/>
          <p:cNvSpPr/>
          <p:nvPr/>
        </p:nvSpPr>
        <p:spPr>
          <a:xfrm>
            <a:off x="8168184" y="1845270"/>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2272B"/>
                </a:solidFill>
                <a:latin typeface="Arial" pitchFamily="34" charset="0"/>
                <a:ea typeface="Arial" pitchFamily="34" charset="-122"/>
                <a:cs typeface="Arial" pitchFamily="34" charset="-120"/>
              </a:rPr>
              <a:t>Unreinforced structures</a:t>
            </a:r>
            <a:endParaRPr lang="en-US" sz="1600" dirty="0"/>
          </a:p>
        </p:txBody>
      </p:sp>
      <p:sp>
        <p:nvSpPr>
          <p:cNvPr id="15" name="Text 13"/>
          <p:cNvSpPr/>
          <p:nvPr/>
        </p:nvSpPr>
        <p:spPr>
          <a:xfrm>
            <a:off x="8168184" y="2152551"/>
            <a:ext cx="3091510" cy="50542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64C"/>
                </a:solidFill>
                <a:latin typeface="Arial" pitchFamily="34" charset="0"/>
                <a:ea typeface="Arial" pitchFamily="34" charset="-122"/>
                <a:cs typeface="Arial" pitchFamily="34" charset="-120"/>
              </a:rPr>
              <a:t>Steel-free UHDC frames and a pavilion at the 2021 China Flora Expo.</a:t>
            </a:r>
            <a:endParaRPr lang="en-US" sz="1350" dirty="0"/>
          </a:p>
        </p:txBody>
      </p:sp>
      <p:sp>
        <p:nvSpPr>
          <p:cNvPr id="16" name="Shape 14"/>
          <p:cNvSpPr/>
          <p:nvPr/>
        </p:nvSpPr>
        <p:spPr>
          <a:xfrm>
            <a:off x="815975" y="3237706"/>
            <a:ext cx="3414117" cy="1452761"/>
          </a:xfrm>
          <a:prstGeom prst="roundRect">
            <a:avLst>
              <a:gd name="adj" fmla="val 5027"/>
            </a:avLst>
          </a:prstGeom>
          <a:solidFill>
            <a:srgbClr val="F4F8FC"/>
          </a:solidFill>
          <a:ln w="6350">
            <a:solidFill>
              <a:srgbClr val="C9D7E8"/>
            </a:solidFill>
            <a:prstDash val="solid"/>
          </a:ln>
        </p:spPr>
      </p:sp>
      <p:sp>
        <p:nvSpPr>
          <p:cNvPr id="17" name="Text 15"/>
          <p:cNvSpPr/>
          <p:nvPr/>
        </p:nvSpPr>
        <p:spPr>
          <a:xfrm>
            <a:off x="1022350" y="3444081"/>
            <a:ext cx="30914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2272B"/>
                </a:solidFill>
                <a:latin typeface="Arial" pitchFamily="34" charset="0"/>
                <a:ea typeface="Arial" pitchFamily="34" charset="-122"/>
                <a:cs typeface="Arial" pitchFamily="34" charset="-120"/>
              </a:rPr>
              <a:t>3D printing</a:t>
            </a:r>
            <a:endParaRPr lang="en-US" sz="1600" dirty="0"/>
          </a:p>
        </p:txBody>
      </p:sp>
      <p:sp>
        <p:nvSpPr>
          <p:cNvPr id="18" name="Text 16"/>
          <p:cNvSpPr/>
          <p:nvPr/>
        </p:nvSpPr>
        <p:spPr>
          <a:xfrm>
            <a:off x="1022350" y="3751362"/>
            <a:ext cx="3091408" cy="50542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64C"/>
                </a:solidFill>
                <a:latin typeface="Arial" pitchFamily="34" charset="0"/>
                <a:ea typeface="Arial" pitchFamily="34" charset="-122"/>
                <a:cs typeface="Arial" pitchFamily="34" charset="-120"/>
              </a:rPr>
              <a:t>Printed UHDC performs best at 1.5% PE; layer anisotropy is the open issue.</a:t>
            </a:r>
            <a:endParaRPr lang="en-US" sz="1350" dirty="0"/>
          </a:p>
        </p:txBody>
      </p:sp>
      <p:sp>
        <p:nvSpPr>
          <p:cNvPr id="19" name="Shape 17"/>
          <p:cNvSpPr/>
          <p:nvPr/>
        </p:nvSpPr>
        <p:spPr>
          <a:xfrm>
            <a:off x="4392017" y="3240881"/>
            <a:ext cx="3407866" cy="1446411"/>
          </a:xfrm>
          <a:prstGeom prst="roundRect">
            <a:avLst>
              <a:gd name="adj" fmla="val 4829"/>
            </a:avLst>
          </a:prstGeom>
          <a:solidFill>
            <a:srgbClr val="F4F8FC"/>
          </a:solidFill>
          <a:ln w="12700">
            <a:solidFill>
              <a:srgbClr val="0070C0"/>
            </a:solidFill>
            <a:prstDash val="solid"/>
          </a:ln>
        </p:spPr>
      </p:sp>
      <p:sp>
        <p:nvSpPr>
          <p:cNvPr id="20" name="Text 18"/>
          <p:cNvSpPr/>
          <p:nvPr/>
        </p:nvSpPr>
        <p:spPr>
          <a:xfrm>
            <a:off x="4601567" y="3450431"/>
            <a:ext cx="307842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2272B"/>
                </a:solidFill>
                <a:latin typeface="Arial" pitchFamily="34" charset="0"/>
                <a:ea typeface="Arial" pitchFamily="34" charset="-122"/>
                <a:cs typeface="Arial" pitchFamily="34" charset="-120"/>
              </a:rPr>
              <a:t>Impact protection</a:t>
            </a:r>
            <a:endParaRPr lang="en-US" sz="1600" dirty="0"/>
          </a:p>
        </p:txBody>
      </p:sp>
      <p:sp>
        <p:nvSpPr>
          <p:cNvPr id="21" name="Text 19"/>
          <p:cNvSpPr/>
          <p:nvPr/>
        </p:nvSpPr>
        <p:spPr>
          <a:xfrm>
            <a:off x="4601567" y="3757712"/>
            <a:ext cx="3078429" cy="74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64C"/>
                </a:solidFill>
                <a:latin typeface="Arial" pitchFamily="34" charset="0"/>
                <a:ea typeface="Arial" pitchFamily="34" charset="-122"/>
                <a:cs typeface="Arial" pitchFamily="34" charset="-120"/>
              </a:rPr>
              <a:t>HSHDC slabs under repeated impact: the only primary structural test in the corpus.</a:t>
            </a:r>
            <a:endParaRPr lang="en-US" sz="1350" dirty="0"/>
          </a:p>
        </p:txBody>
      </p:sp>
      <p:sp>
        <p:nvSpPr>
          <p:cNvPr id="22" name="Shape 20"/>
          <p:cNvSpPr/>
          <p:nvPr/>
        </p:nvSpPr>
        <p:spPr>
          <a:xfrm>
            <a:off x="7958634" y="3234531"/>
            <a:ext cx="3420566" cy="1459111"/>
          </a:xfrm>
          <a:prstGeom prst="roundRect">
            <a:avLst>
              <a:gd name="adj" fmla="val 5222"/>
            </a:avLst>
          </a:prstGeom>
          <a:solidFill>
            <a:srgbClr val="EEF3F9"/>
          </a:solidFill>
          <a:ln/>
        </p:spPr>
      </p:sp>
      <p:sp>
        <p:nvSpPr>
          <p:cNvPr id="23" name="Text 21"/>
          <p:cNvSpPr/>
          <p:nvPr/>
        </p:nvSpPr>
        <p:spPr>
          <a:xfrm>
            <a:off x="8161834" y="3437731"/>
            <a:ext cx="310459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2272B"/>
                </a:solidFill>
                <a:latin typeface="Arial" pitchFamily="34" charset="0"/>
                <a:ea typeface="Arial" pitchFamily="34" charset="-122"/>
                <a:cs typeface="Arial" pitchFamily="34" charset="-120"/>
              </a:rPr>
              <a:t>Field use</a:t>
            </a:r>
            <a:endParaRPr lang="en-US" sz="1600" dirty="0"/>
          </a:p>
        </p:txBody>
      </p:sp>
      <p:sp>
        <p:nvSpPr>
          <p:cNvPr id="24" name="Text 22"/>
          <p:cNvSpPr/>
          <p:nvPr/>
        </p:nvSpPr>
        <p:spPr>
          <a:xfrm>
            <a:off x="8161834" y="3745012"/>
            <a:ext cx="3104591" cy="50542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64C"/>
                </a:solidFill>
                <a:latin typeface="Arial" pitchFamily="34" charset="0"/>
                <a:ea typeface="Arial" pitchFamily="34" charset="-122"/>
                <a:cs typeface="Arial" pitchFamily="34" charset="-120"/>
              </a:rPr>
              <a:t>No field deployment of high-strength HDC reported yet.</a:t>
            </a:r>
            <a:endParaRPr lang="en-US" sz="1350" dirty="0"/>
          </a:p>
        </p:txBody>
      </p:sp>
      <p:sp>
        <p:nvSpPr>
          <p:cNvPr id="25" name="Text 23"/>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8"/>
                </a:solidFill>
                <a:latin typeface="Arial" pitchFamily="34" charset="0"/>
                <a:ea typeface="Arial" pitchFamily="34" charset="-122"/>
                <a:cs typeface="Arial" pitchFamily="34" charset="-120"/>
              </a:rPr>
              <a:t>Part B · Applications · as cited in he2024 (p. 4–9, 19–20); ranade2017; zhang2022 p. 2 · wiki: applications</a:t>
            </a:r>
            <a:endParaRPr lang="en-US" sz="1200" dirty="0"/>
          </a:p>
        </p:txBody>
      </p:sp>
      <p:sp>
        <p:nvSpPr>
          <p:cNvPr id="26" name="Shape 24"/>
          <p:cNvSpPr/>
          <p:nvPr/>
        </p:nvSpPr>
        <p:spPr>
          <a:xfrm>
            <a:off x="0" y="6350000"/>
            <a:ext cx="12192000" cy="12700"/>
          </a:xfrm>
          <a:prstGeom prst="rect">
            <a:avLst/>
          </a:prstGeom>
          <a:solidFill>
            <a:srgbClr val="A6A6A6"/>
          </a:solidFill>
          <a:ln/>
        </p:spPr>
      </p:sp>
      <p:sp>
        <p:nvSpPr>
          <p:cNvPr id="27" name="Text 25"/>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28" name="Text 26"/>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32</a:t>
            </a:r>
            <a:endParaRPr lang="en-US" sz="1500" dirty="0"/>
          </a:p>
        </p:txBody>
      </p:sp>
      <p:pic>
        <p:nvPicPr>
          <p:cNvPr id="29" name="Image 0" descr="preencoded.png">    </p:cNvPr>
          <p:cNvPicPr>
            <a:picLocks noChangeAspect="1"/>
          </p:cNvPicPr>
          <p:nvPr/>
        </p:nvPicPr>
        <p:blipFill>
          <a:blip r:embed="rId1">
            <a:alphaModFix amt="60000"/>
          </a:blip>
          <a:srcRect l="0" r="0" t="0" b="0"/>
          <a:stretch/>
        </p:blipFill>
        <p:spPr>
          <a:xfrm>
            <a:off x="11468100" y="6400800"/>
            <a:ext cx="431800" cy="4318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B: Literature review</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2.17. Research gaps</a:t>
            </a:r>
            <a:endParaRPr lang="en-US" sz="2800" dirty="0"/>
          </a:p>
        </p:txBody>
      </p:sp>
      <p:sp>
        <p:nvSpPr>
          <p:cNvPr id="7" name="Shape 5"/>
          <p:cNvSpPr/>
          <p:nvPr/>
        </p:nvSpPr>
        <p:spPr>
          <a:xfrm>
            <a:off x="831850" y="1635720"/>
            <a:ext cx="0" cy="876201"/>
          </a:xfrm>
          <a:prstGeom prst="line">
            <a:avLst/>
          </a:prstGeom>
          <a:noFill/>
          <a:ln w="38100">
            <a:solidFill>
              <a:srgbClr val="B8720C"/>
            </a:solidFill>
            <a:prstDash val="solid"/>
          </a:ln>
        </p:spPr>
      </p:sp>
      <p:sp>
        <p:nvSpPr>
          <p:cNvPr id="8" name="Text 6"/>
          <p:cNvSpPr/>
          <p:nvPr/>
        </p:nvSpPr>
        <p:spPr>
          <a:xfrm>
            <a:off x="1028700" y="1686520"/>
            <a:ext cx="51408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2272B"/>
                </a:solidFill>
                <a:latin typeface="Arial" pitchFamily="34" charset="0"/>
                <a:ea typeface="Arial" pitchFamily="34" charset="-122"/>
                <a:cs typeface="Arial" pitchFamily="34" charset="-120"/>
              </a:rPr>
              <a:t>Durability of high-strength HDC</a:t>
            </a:r>
            <a:endParaRPr lang="en-US" sz="1600" dirty="0"/>
          </a:p>
        </p:txBody>
      </p:sp>
      <p:sp>
        <p:nvSpPr>
          <p:cNvPr id="9" name="Text 7"/>
          <p:cNvSpPr/>
          <p:nvPr/>
        </p:nvSpPr>
        <p:spPr>
          <a:xfrm>
            <a:off x="1028700" y="1981101"/>
            <a:ext cx="5140833" cy="50542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64C"/>
                </a:solidFill>
                <a:latin typeface="Arial" pitchFamily="34" charset="0"/>
                <a:ea typeface="Arial" pitchFamily="34" charset="-122"/>
                <a:cs typeface="Arial" pitchFamily="34" charset="-120"/>
              </a:rPr>
              <a:t>No data for HSHDC or UHDC; PE crack widths exceed chloride and self-healing thresholds.</a:t>
            </a:r>
            <a:endParaRPr lang="en-US" sz="1350" dirty="0"/>
          </a:p>
        </p:txBody>
      </p:sp>
      <p:sp>
        <p:nvSpPr>
          <p:cNvPr id="10" name="Shape 8"/>
          <p:cNvSpPr/>
          <p:nvPr/>
        </p:nvSpPr>
        <p:spPr>
          <a:xfrm>
            <a:off x="6191250" y="1635720"/>
            <a:ext cx="0" cy="876201"/>
          </a:xfrm>
          <a:prstGeom prst="line">
            <a:avLst/>
          </a:prstGeom>
          <a:noFill/>
          <a:ln w="38100">
            <a:solidFill>
              <a:srgbClr val="B8720C"/>
            </a:solidFill>
            <a:prstDash val="solid"/>
          </a:ln>
        </p:spPr>
      </p:sp>
      <p:sp>
        <p:nvSpPr>
          <p:cNvPr id="11" name="Text 9"/>
          <p:cNvSpPr/>
          <p:nvPr/>
        </p:nvSpPr>
        <p:spPr>
          <a:xfrm>
            <a:off x="6388100" y="1686520"/>
            <a:ext cx="51408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2272B"/>
                </a:solidFill>
                <a:latin typeface="Arial" pitchFamily="34" charset="0"/>
                <a:ea typeface="Arial" pitchFamily="34" charset="-122"/>
                <a:cs typeface="Arial" pitchFamily="34" charset="-120"/>
              </a:rPr>
              <a:t>Fire</a:t>
            </a:r>
            <a:endParaRPr lang="en-US" sz="1600" dirty="0"/>
          </a:p>
        </p:txBody>
      </p:sp>
      <p:sp>
        <p:nvSpPr>
          <p:cNvPr id="12" name="Text 10"/>
          <p:cNvSpPr/>
          <p:nvPr/>
        </p:nvSpPr>
        <p:spPr>
          <a:xfrm>
            <a:off x="6388100" y="1981101"/>
            <a:ext cx="5140833" cy="50542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64C"/>
                </a:solidFill>
                <a:latin typeface="Arial" pitchFamily="34" charset="0"/>
                <a:ea typeface="Arial" pitchFamily="34" charset="-122"/>
                <a:cs typeface="Arial" pitchFamily="34" charset="-120"/>
              </a:rPr>
              <a:t>PE-ECC loses strain hardening between 100 and 140 °C; no fire design data.</a:t>
            </a:r>
            <a:endParaRPr lang="en-US" sz="1350" dirty="0"/>
          </a:p>
        </p:txBody>
      </p:sp>
      <p:sp>
        <p:nvSpPr>
          <p:cNvPr id="13" name="Shape 11"/>
          <p:cNvSpPr/>
          <p:nvPr/>
        </p:nvSpPr>
        <p:spPr>
          <a:xfrm>
            <a:off x="831850" y="2664321"/>
            <a:ext cx="0" cy="876201"/>
          </a:xfrm>
          <a:prstGeom prst="line">
            <a:avLst/>
          </a:prstGeom>
          <a:noFill/>
          <a:ln w="38100">
            <a:solidFill>
              <a:srgbClr val="0070C0"/>
            </a:solidFill>
            <a:prstDash val="solid"/>
          </a:ln>
        </p:spPr>
      </p:sp>
      <p:sp>
        <p:nvSpPr>
          <p:cNvPr id="14" name="Text 12"/>
          <p:cNvSpPr/>
          <p:nvPr/>
        </p:nvSpPr>
        <p:spPr>
          <a:xfrm>
            <a:off x="1028700" y="2715121"/>
            <a:ext cx="51408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2272B"/>
                </a:solidFill>
                <a:latin typeface="Arial" pitchFamily="34" charset="0"/>
                <a:ea typeface="Arial" pitchFamily="34" charset="-122"/>
                <a:cs typeface="Arial" pitchFamily="34" charset="-120"/>
              </a:rPr>
              <a:t>Standards</a:t>
            </a:r>
            <a:endParaRPr lang="en-US" sz="1600" dirty="0"/>
          </a:p>
        </p:txBody>
      </p:sp>
      <p:sp>
        <p:nvSpPr>
          <p:cNvPr id="15" name="Text 13"/>
          <p:cNvSpPr/>
          <p:nvPr/>
        </p:nvSpPr>
        <p:spPr>
          <a:xfrm>
            <a:off x="1028700" y="3009702"/>
            <a:ext cx="5140833" cy="50542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64C"/>
                </a:solidFill>
                <a:latin typeface="Arial" pitchFamily="34" charset="0"/>
                <a:ea typeface="Arial" pitchFamily="34" charset="-122"/>
                <a:cs typeface="Arial" pitchFamily="34" charset="-120"/>
              </a:rPr>
              <a:t>No agreed definition of HDC and no standard tension or flexure test.</a:t>
            </a:r>
            <a:endParaRPr lang="en-US" sz="1350" dirty="0"/>
          </a:p>
        </p:txBody>
      </p:sp>
      <p:sp>
        <p:nvSpPr>
          <p:cNvPr id="16" name="Shape 14"/>
          <p:cNvSpPr/>
          <p:nvPr/>
        </p:nvSpPr>
        <p:spPr>
          <a:xfrm>
            <a:off x="6191250" y="2664321"/>
            <a:ext cx="0" cy="876201"/>
          </a:xfrm>
          <a:prstGeom prst="line">
            <a:avLst/>
          </a:prstGeom>
          <a:noFill/>
          <a:ln w="38100">
            <a:solidFill>
              <a:srgbClr val="0070C0"/>
            </a:solidFill>
            <a:prstDash val="solid"/>
          </a:ln>
        </p:spPr>
      </p:sp>
      <p:sp>
        <p:nvSpPr>
          <p:cNvPr id="17" name="Text 15"/>
          <p:cNvSpPr/>
          <p:nvPr/>
        </p:nvSpPr>
        <p:spPr>
          <a:xfrm>
            <a:off x="6388100" y="2715121"/>
            <a:ext cx="51408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2272B"/>
                </a:solidFill>
                <a:latin typeface="Arial" pitchFamily="34" charset="0"/>
                <a:ea typeface="Arial" pitchFamily="34" charset="-122"/>
                <a:cs typeface="Arial" pitchFamily="34" charset="-120"/>
              </a:rPr>
              <a:t>Design criteria</a:t>
            </a:r>
            <a:endParaRPr lang="en-US" sz="1600" dirty="0"/>
          </a:p>
        </p:txBody>
      </p:sp>
      <p:sp>
        <p:nvSpPr>
          <p:cNvPr id="18" name="Text 16"/>
          <p:cNvSpPr/>
          <p:nvPr/>
        </p:nvSpPr>
        <p:spPr>
          <a:xfrm>
            <a:off x="6388100" y="3009702"/>
            <a:ext cx="5140833" cy="50542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64C"/>
                </a:solidFill>
                <a:latin typeface="Arial" pitchFamily="34" charset="0"/>
                <a:ea typeface="Arial" pitchFamily="34" charset="-122"/>
                <a:cs typeface="Arial" pitchFamily="34" charset="-120"/>
              </a:rPr>
              <a:t>PSH indices miss embedment length and flaw size, so they can pass brittle mixes.</a:t>
            </a:r>
            <a:endParaRPr lang="en-US" sz="1350" dirty="0"/>
          </a:p>
        </p:txBody>
      </p:sp>
      <p:sp>
        <p:nvSpPr>
          <p:cNvPr id="19" name="Shape 17"/>
          <p:cNvSpPr/>
          <p:nvPr/>
        </p:nvSpPr>
        <p:spPr>
          <a:xfrm>
            <a:off x="831850" y="3692922"/>
            <a:ext cx="0" cy="876201"/>
          </a:xfrm>
          <a:prstGeom prst="line">
            <a:avLst/>
          </a:prstGeom>
          <a:noFill/>
          <a:ln w="38100">
            <a:solidFill>
              <a:srgbClr val="4E8A2A"/>
            </a:solidFill>
            <a:prstDash val="solid"/>
          </a:ln>
        </p:spPr>
      </p:sp>
      <p:sp>
        <p:nvSpPr>
          <p:cNvPr id="20" name="Text 18"/>
          <p:cNvSpPr/>
          <p:nvPr/>
        </p:nvSpPr>
        <p:spPr>
          <a:xfrm>
            <a:off x="1028700" y="3743722"/>
            <a:ext cx="51408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2272B"/>
                </a:solidFill>
                <a:latin typeface="Arial" pitchFamily="34" charset="0"/>
                <a:ea typeface="Arial" pitchFamily="34" charset="-122"/>
                <a:cs typeface="Arial" pitchFamily="34" charset="-120"/>
              </a:rPr>
              <a:t>Structural scale</a:t>
            </a:r>
            <a:endParaRPr lang="en-US" sz="1600" dirty="0"/>
          </a:p>
        </p:txBody>
      </p:sp>
      <p:sp>
        <p:nvSpPr>
          <p:cNvPr id="21" name="Text 19"/>
          <p:cNvSpPr/>
          <p:nvPr/>
        </p:nvSpPr>
        <p:spPr>
          <a:xfrm>
            <a:off x="1028700" y="4038302"/>
            <a:ext cx="5140833" cy="50542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64C"/>
                </a:solidFill>
                <a:latin typeface="Arial" pitchFamily="34" charset="0"/>
                <a:ea typeface="Arial" pitchFamily="34" charset="-122"/>
                <a:cs typeface="Arial" pitchFamily="34" charset="-120"/>
              </a:rPr>
              <a:t>Size effect tested only up to 150 mm; bond to old concrete unstudied; no field use.</a:t>
            </a:r>
            <a:endParaRPr lang="en-US" sz="1350" dirty="0"/>
          </a:p>
        </p:txBody>
      </p:sp>
      <p:sp>
        <p:nvSpPr>
          <p:cNvPr id="22" name="Shape 20"/>
          <p:cNvSpPr/>
          <p:nvPr/>
        </p:nvSpPr>
        <p:spPr>
          <a:xfrm>
            <a:off x="6191250" y="3692922"/>
            <a:ext cx="0" cy="876201"/>
          </a:xfrm>
          <a:prstGeom prst="line">
            <a:avLst/>
          </a:prstGeom>
          <a:noFill/>
          <a:ln w="38100">
            <a:solidFill>
              <a:srgbClr val="4E8A2A"/>
            </a:solidFill>
            <a:prstDash val="solid"/>
          </a:ln>
        </p:spPr>
      </p:sp>
      <p:sp>
        <p:nvSpPr>
          <p:cNvPr id="23" name="Text 21"/>
          <p:cNvSpPr/>
          <p:nvPr/>
        </p:nvSpPr>
        <p:spPr>
          <a:xfrm>
            <a:off x="6388100" y="3743722"/>
            <a:ext cx="51408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2272B"/>
                </a:solidFill>
                <a:latin typeface="Arial" pitchFamily="34" charset="0"/>
                <a:ea typeface="Arial" pitchFamily="34" charset="-122"/>
                <a:cs typeface="Arial" pitchFamily="34" charset="-120"/>
              </a:rPr>
              <a:t>Time and rate</a:t>
            </a:r>
            <a:endParaRPr lang="en-US" sz="1600" dirty="0"/>
          </a:p>
        </p:txBody>
      </p:sp>
      <p:sp>
        <p:nvSpPr>
          <p:cNvPr id="24" name="Text 22"/>
          <p:cNvSpPr/>
          <p:nvPr/>
        </p:nvSpPr>
        <p:spPr>
          <a:xfrm>
            <a:off x="6388100" y="4038302"/>
            <a:ext cx="5140833"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64C"/>
                </a:solidFill>
                <a:latin typeface="Arial" pitchFamily="34" charset="0"/>
                <a:ea typeface="Arial" pitchFamily="34" charset="-122"/>
                <a:cs typeface="Arial" pitchFamily="34" charset="-120"/>
              </a:rPr>
              <a:t>Almost all data at 28 days; nothing above 10 s⁻¹ for HSHDC.</a:t>
            </a:r>
            <a:endParaRPr lang="en-US" sz="1350" dirty="0"/>
          </a:p>
        </p:txBody>
      </p:sp>
      <p:sp>
        <p:nvSpPr>
          <p:cNvPr id="25" name="Text 23"/>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8"/>
                </a:solidFill>
                <a:latin typeface="Arial" pitchFamily="34" charset="0"/>
                <a:ea typeface="Arial" pitchFamily="34" charset="-122"/>
                <a:cs typeface="Arial" pitchFamily="34" charset="-120"/>
              </a:rPr>
              <a:t>Part B · Gaps · wiki: gaps (14 logged conflicts) · ma2021; zhang2022; yu2018; ye2021; yang2024; su2023</a:t>
            </a:r>
            <a:endParaRPr lang="en-US" sz="1200" dirty="0"/>
          </a:p>
        </p:txBody>
      </p:sp>
      <p:sp>
        <p:nvSpPr>
          <p:cNvPr id="26" name="Shape 24"/>
          <p:cNvSpPr/>
          <p:nvPr/>
        </p:nvSpPr>
        <p:spPr>
          <a:xfrm>
            <a:off x="0" y="6350000"/>
            <a:ext cx="12192000" cy="12700"/>
          </a:xfrm>
          <a:prstGeom prst="rect">
            <a:avLst/>
          </a:prstGeom>
          <a:solidFill>
            <a:srgbClr val="A6A6A6"/>
          </a:solidFill>
          <a:ln/>
        </p:spPr>
      </p:sp>
      <p:sp>
        <p:nvSpPr>
          <p:cNvPr id="27" name="Text 25"/>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28" name="Text 26"/>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33</a:t>
            </a:r>
            <a:endParaRPr lang="en-US" sz="1500" dirty="0"/>
          </a:p>
        </p:txBody>
      </p:sp>
      <p:pic>
        <p:nvPicPr>
          <p:cNvPr id="29" name="Image 0" descr="preencoded.png">    </p:cNvPr>
          <p:cNvPicPr>
            <a:picLocks noChangeAspect="1"/>
          </p:cNvPicPr>
          <p:nvPr/>
        </p:nvPicPr>
        <p:blipFill>
          <a:blip r:embed="rId1">
            <a:alphaModFix amt="60000"/>
          </a:blip>
          <a:srcRect l="0" r="0" t="0" b="0"/>
          <a:stretch/>
        </p:blipFill>
        <p:spPr>
          <a:xfrm>
            <a:off x="11468100" y="6400800"/>
            <a:ext cx="431800" cy="4318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Part B: Literature review</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9906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dirty="0">
                <a:solidFill>
                  <a:srgbClr val="0070C0"/>
                </a:solidFill>
                <a:latin typeface="Arial" pitchFamily="34" charset="0"/>
                <a:ea typeface="Arial" pitchFamily="34" charset="-122"/>
                <a:cs typeface="Arial" pitchFamily="34" charset="-120"/>
              </a:rPr>
              <a:t>2.18. Conclusions</a:t>
            </a:r>
            <a:endParaRPr lang="en-US" sz="2800" dirty="0"/>
          </a:p>
        </p:txBody>
      </p:sp>
      <p:sp>
        <p:nvSpPr>
          <p:cNvPr id="7" name="Shape 5"/>
          <p:cNvSpPr/>
          <p:nvPr/>
        </p:nvSpPr>
        <p:spPr>
          <a:xfrm>
            <a:off x="812800" y="1699220"/>
            <a:ext cx="5156200" cy="0"/>
          </a:xfrm>
          <a:prstGeom prst="line">
            <a:avLst/>
          </a:prstGeom>
          <a:noFill/>
          <a:ln w="25400">
            <a:solidFill>
              <a:srgbClr val="0070C0"/>
            </a:solidFill>
            <a:prstDash val="solid"/>
          </a:ln>
        </p:spPr>
      </p:sp>
      <p:sp>
        <p:nvSpPr>
          <p:cNvPr id="8" name="Text 6"/>
          <p:cNvSpPr/>
          <p:nvPr/>
        </p:nvSpPr>
        <p:spPr>
          <a:xfrm>
            <a:off x="812800" y="1864320"/>
            <a:ext cx="531088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4E79"/>
                </a:solidFill>
                <a:latin typeface="Arial" pitchFamily="34" charset="0"/>
                <a:ea typeface="Arial" pitchFamily="34" charset="-122"/>
                <a:cs typeface="Arial" pitchFamily="34" charset="-120"/>
              </a:rPr>
              <a:t>One family, many names</a:t>
            </a:r>
            <a:endParaRPr lang="en-US" sz="1800" dirty="0"/>
          </a:p>
        </p:txBody>
      </p:sp>
      <p:sp>
        <p:nvSpPr>
          <p:cNvPr id="9" name="Text 7"/>
          <p:cNvSpPr/>
          <p:nvPr/>
        </p:nvSpPr>
        <p:spPr>
          <a:xfrm>
            <a:off x="812800" y="2214761"/>
            <a:ext cx="531088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64C"/>
                </a:solidFill>
                <a:latin typeface="Arial" pitchFamily="34" charset="0"/>
                <a:ea typeface="Arial" pitchFamily="34" charset="-122"/>
                <a:cs typeface="Arial" pitchFamily="34" charset="-120"/>
              </a:rPr>
              <a:t>HDC, ECC and SHCC are defined by tensile strain hardening, not by name or fiber type.</a:t>
            </a:r>
            <a:endParaRPr lang="en-US" sz="1500" dirty="0"/>
          </a:p>
        </p:txBody>
      </p:sp>
      <p:sp>
        <p:nvSpPr>
          <p:cNvPr id="10" name="Shape 8"/>
          <p:cNvSpPr/>
          <p:nvPr/>
        </p:nvSpPr>
        <p:spPr>
          <a:xfrm>
            <a:off x="6223000" y="1699220"/>
            <a:ext cx="5156200" cy="0"/>
          </a:xfrm>
          <a:prstGeom prst="line">
            <a:avLst/>
          </a:prstGeom>
          <a:noFill/>
          <a:ln w="25400">
            <a:solidFill>
              <a:srgbClr val="0070C0"/>
            </a:solidFill>
            <a:prstDash val="solid"/>
          </a:ln>
        </p:spPr>
      </p:sp>
      <p:sp>
        <p:nvSpPr>
          <p:cNvPr id="11" name="Text 9"/>
          <p:cNvSpPr/>
          <p:nvPr/>
        </p:nvSpPr>
        <p:spPr>
          <a:xfrm>
            <a:off x="6223000" y="1864320"/>
            <a:ext cx="531088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4E79"/>
                </a:solidFill>
                <a:latin typeface="Arial" pitchFamily="34" charset="0"/>
                <a:ea typeface="Arial" pitchFamily="34" charset="-122"/>
                <a:cs typeface="Arial" pitchFamily="34" charset="-120"/>
              </a:rPr>
              <a:t>Ductility is designed at the interface</a:t>
            </a:r>
            <a:endParaRPr lang="en-US" sz="1800" dirty="0"/>
          </a:p>
        </p:txBody>
      </p:sp>
      <p:sp>
        <p:nvSpPr>
          <p:cNvPr id="12" name="Text 10"/>
          <p:cNvSpPr/>
          <p:nvPr/>
        </p:nvSpPr>
        <p:spPr>
          <a:xfrm>
            <a:off x="6223000" y="2214761"/>
            <a:ext cx="531088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64C"/>
                </a:solidFill>
                <a:latin typeface="Arial" pitchFamily="34" charset="0"/>
                <a:ea typeface="Arial" pitchFamily="34" charset="-122"/>
                <a:cs typeface="Arial" pitchFamily="34" charset="-120"/>
              </a:rPr>
              <a:t>Oil-coated PVA in normal matrices, PE in high-strength ones.</a:t>
            </a:r>
            <a:endParaRPr lang="en-US" sz="1500" dirty="0"/>
          </a:p>
        </p:txBody>
      </p:sp>
      <p:sp>
        <p:nvSpPr>
          <p:cNvPr id="13" name="Shape 11"/>
          <p:cNvSpPr/>
          <p:nvPr/>
        </p:nvSpPr>
        <p:spPr>
          <a:xfrm>
            <a:off x="812800" y="3014861"/>
            <a:ext cx="5156200" cy="0"/>
          </a:xfrm>
          <a:prstGeom prst="line">
            <a:avLst/>
          </a:prstGeom>
          <a:noFill/>
          <a:ln w="25400">
            <a:solidFill>
              <a:srgbClr val="B8720C"/>
            </a:solidFill>
            <a:prstDash val="solid"/>
          </a:ln>
        </p:spPr>
      </p:sp>
      <p:sp>
        <p:nvSpPr>
          <p:cNvPr id="14" name="Text 12"/>
          <p:cNvSpPr/>
          <p:nvPr/>
        </p:nvSpPr>
        <p:spPr>
          <a:xfrm>
            <a:off x="812800" y="3179961"/>
            <a:ext cx="531088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4E79"/>
                </a:solidFill>
                <a:latin typeface="Arial" pitchFamily="34" charset="0"/>
                <a:ea typeface="Arial" pitchFamily="34" charset="-122"/>
                <a:cs typeface="Arial" pitchFamily="34" charset="-120"/>
              </a:rPr>
              <a:t>Strength and ductility can coexist</a:t>
            </a:r>
            <a:endParaRPr lang="en-US" sz="1800" dirty="0"/>
          </a:p>
        </p:txBody>
      </p:sp>
      <p:sp>
        <p:nvSpPr>
          <p:cNvPr id="15" name="Text 13"/>
          <p:cNvSpPr/>
          <p:nvPr/>
        </p:nvSpPr>
        <p:spPr>
          <a:xfrm>
            <a:off x="812800" y="3530402"/>
            <a:ext cx="531088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64C"/>
                </a:solidFill>
                <a:latin typeface="Arial" pitchFamily="34" charset="0"/>
                <a:ea typeface="Arial" pitchFamily="34" charset="-122"/>
                <a:cs typeface="Arial" pitchFamily="34" charset="-120"/>
              </a:rPr>
              <a:t>Over 210 MPa with over 5% strain is reported; wider cracks and low heat resistance are the price of PE.</a:t>
            </a:r>
            <a:endParaRPr lang="en-US" sz="1500" dirty="0"/>
          </a:p>
        </p:txBody>
      </p:sp>
      <p:sp>
        <p:nvSpPr>
          <p:cNvPr id="16" name="Shape 14"/>
          <p:cNvSpPr/>
          <p:nvPr/>
        </p:nvSpPr>
        <p:spPr>
          <a:xfrm>
            <a:off x="6223000" y="3014861"/>
            <a:ext cx="5156200" cy="0"/>
          </a:xfrm>
          <a:prstGeom prst="line">
            <a:avLst/>
          </a:prstGeom>
          <a:noFill/>
          <a:ln w="25400">
            <a:solidFill>
              <a:srgbClr val="B8720C"/>
            </a:solidFill>
            <a:prstDash val="solid"/>
          </a:ln>
        </p:spPr>
      </p:sp>
      <p:sp>
        <p:nvSpPr>
          <p:cNvPr id="17" name="Text 15"/>
          <p:cNvSpPr/>
          <p:nvPr/>
        </p:nvSpPr>
        <p:spPr>
          <a:xfrm>
            <a:off x="6223000" y="3179961"/>
            <a:ext cx="531088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4E79"/>
                </a:solidFill>
                <a:latin typeface="Arial" pitchFamily="34" charset="0"/>
                <a:ea typeface="Arial" pitchFamily="34" charset="-122"/>
                <a:cs typeface="Arial" pitchFamily="34" charset="-120"/>
              </a:rPr>
              <a:t>The wiki made the gaps visible</a:t>
            </a:r>
            <a:endParaRPr lang="en-US" sz="1800" dirty="0"/>
          </a:p>
        </p:txBody>
      </p:sp>
      <p:sp>
        <p:nvSpPr>
          <p:cNvPr id="18" name="Text 16"/>
          <p:cNvSpPr/>
          <p:nvPr/>
        </p:nvSpPr>
        <p:spPr>
          <a:xfrm>
            <a:off x="6223000" y="3530402"/>
            <a:ext cx="531088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64C"/>
                </a:solidFill>
                <a:latin typeface="Arial" pitchFamily="34" charset="0"/>
                <a:ea typeface="Arial" pitchFamily="34" charset="-122"/>
                <a:cs typeface="Arial" pitchFamily="34" charset="-120"/>
              </a:rPr>
              <a:t>Every claim is traceable to a table or page, and every conflict is logged rather than smoothed over.</a:t>
            </a:r>
            <a:endParaRPr lang="en-US" sz="1500" dirty="0"/>
          </a:p>
        </p:txBody>
      </p:sp>
      <p:sp>
        <p:nvSpPr>
          <p:cNvPr id="19" name="Text 17"/>
          <p:cNvSpPr/>
          <p:nvPr/>
        </p:nvSpPr>
        <p:spPr>
          <a:xfrm>
            <a:off x="812800" y="6035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5959"/>
                </a:solidFill>
                <a:latin typeface="Arial" pitchFamily="34" charset="0"/>
                <a:ea typeface="Arial" pitchFamily="34" charset="-122"/>
                <a:cs typeface="Arial" pitchFamily="34" charset="-120"/>
              </a:rPr>
              <a:t>Conclusions · full evidence at conslmhoang.github.io/HDC-wiki</a:t>
            </a:r>
            <a:endParaRPr lang="en-US" sz="1200" dirty="0"/>
          </a:p>
        </p:txBody>
      </p:sp>
      <p:sp>
        <p:nvSpPr>
          <p:cNvPr id="20" name="Shape 18"/>
          <p:cNvSpPr/>
          <p:nvPr/>
        </p:nvSpPr>
        <p:spPr>
          <a:xfrm>
            <a:off x="0" y="6350000"/>
            <a:ext cx="12192000" cy="12700"/>
          </a:xfrm>
          <a:prstGeom prst="rect">
            <a:avLst/>
          </a:prstGeom>
          <a:solidFill>
            <a:srgbClr val="A6A6A6"/>
          </a:solidFill>
          <a:ln/>
        </p:spPr>
      </p:sp>
      <p:sp>
        <p:nvSpPr>
          <p:cNvPr id="21" name="Text 19"/>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22" name="Text 20"/>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34</a:t>
            </a:r>
            <a:endParaRPr lang="en-US" sz="1500" dirty="0"/>
          </a:p>
        </p:txBody>
      </p:sp>
      <p:pic>
        <p:nvPicPr>
          <p:cNvPr id="23" name="Image 0" descr="preencoded.png">    </p:cNvPr>
          <p:cNvPicPr>
            <a:picLocks noChangeAspect="1"/>
          </p:cNvPicPr>
          <p:nvPr/>
        </p:nvPicPr>
        <p:blipFill>
          <a:blip r:embed="rId1">
            <a:alphaModFix amt="60000"/>
          </a:blip>
          <a:srcRect l="0" r="0" t="0" b="0"/>
          <a:stretch/>
        </p:blipFill>
        <p:spPr>
          <a:xfrm>
            <a:off x="11468100" y="6400800"/>
            <a:ext cx="431800" cy="4318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12172950" cy="768350"/>
          </a:xfrm>
          <a:prstGeom prst="rect">
            <a:avLst/>
          </a:prstGeom>
          <a:solidFill>
            <a:srgbClr val="FFFFFF"/>
          </a:solidFill>
          <a:ln w="19050">
            <a:solidFill>
              <a:srgbClr val="2F5597"/>
            </a:solidFill>
            <a:prstDash val="solid"/>
          </a:ln>
        </p:spPr>
      </p:sp>
      <p:sp>
        <p:nvSpPr>
          <p:cNvPr id="3" name="Text 1"/>
          <p:cNvSpPr/>
          <p:nvPr/>
        </p:nvSpPr>
        <p:spPr>
          <a:xfrm>
            <a:off x="203200" y="190500"/>
            <a:ext cx="6278880" cy="4215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0070C0"/>
                </a:solidFill>
                <a:latin typeface="Arial" pitchFamily="34" charset="0"/>
                <a:ea typeface="Arial" pitchFamily="34" charset="-122"/>
                <a:cs typeface="Arial" pitchFamily="34" charset="-120"/>
              </a:rPr>
              <a:t>Discussion</a:t>
            </a:r>
            <a:endParaRPr lang="en-US" sz="2600" dirty="0"/>
          </a:p>
        </p:txBody>
      </p:sp>
      <p:sp>
        <p:nvSpPr>
          <p:cNvPr id="4" name="Text 2"/>
          <p:cNvSpPr/>
          <p:nvPr/>
        </p:nvSpPr>
        <p:spPr>
          <a:xfrm>
            <a:off x="6182360" y="1016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Department: Architecture and Civil Engineering</a:t>
            </a:r>
            <a:endParaRPr lang="en-US" sz="1500" dirty="0"/>
          </a:p>
        </p:txBody>
      </p:sp>
      <p:sp>
        <p:nvSpPr>
          <p:cNvPr id="5" name="Text 3"/>
          <p:cNvSpPr/>
          <p:nvPr/>
        </p:nvSpPr>
        <p:spPr>
          <a:xfrm>
            <a:off x="6182360" y="406400"/>
            <a:ext cx="5755640" cy="292100"/>
          </a:xfrm>
          <a:prstGeom prst="rect">
            <a:avLst/>
          </a:prstGeom>
          <a:noFill/>
          <a:ln/>
        </p:spPr>
        <p:txBody>
          <a:bodyPr wrap="square" lIns="0" tIns="0" rIns="0" bIns="0" rtlCol="0" anchor="t">
            <a:normAutofit/>
          </a:bodyPr>
          <a:lstStyle/>
          <a:p>
            <a:pPr algn="r" indent="0" marL="0">
              <a:lnSpc>
                <a:spcPts val="2100"/>
              </a:lnSpc>
              <a:buNone/>
            </a:pPr>
            <a:r>
              <a:rPr lang="en-US" sz="1500" b="1" i="1" dirty="0">
                <a:solidFill>
                  <a:srgbClr val="0070C0"/>
                </a:solidFill>
                <a:latin typeface="Arial" pitchFamily="34" charset="0"/>
                <a:ea typeface="Arial" pitchFamily="34" charset="-122"/>
                <a:cs typeface="Arial" pitchFamily="34" charset="-120"/>
              </a:rPr>
              <a:t>Course: Smart Concrete</a:t>
            </a:r>
            <a:endParaRPr lang="en-US" sz="1500" dirty="0"/>
          </a:p>
        </p:txBody>
      </p:sp>
      <p:sp>
        <p:nvSpPr>
          <p:cNvPr id="6" name="Text 4"/>
          <p:cNvSpPr/>
          <p:nvPr>
            <p:ph type="title"/>
          </p:nvPr>
        </p:nvSpPr>
        <p:spPr>
          <a:xfrm>
            <a:off x="812800" y="2313980"/>
            <a:ext cx="10883392" cy="665460"/>
          </a:xfrm>
          <a:prstGeom prst="rect">
            <a:avLst/>
          </a:prstGeom>
          <a:noFill/>
          <a:ln/>
        </p:spPr>
        <p:txBody>
          <a:bodyPr wrap="square" lIns="0" tIns="0" rIns="0" bIns="0" rtlCol="0" anchor="t">
            <a:normAutofit/>
          </a:bodyPr>
          <a:lstStyle/>
          <a:p>
            <a:pPr algn="l" indent="0" marL="0">
              <a:lnSpc>
                <a:spcPts val="5040"/>
              </a:lnSpc>
              <a:buNone/>
            </a:pPr>
            <a:r>
              <a:rPr lang="en-US" sz="4800" b="0" i="0" dirty="0">
                <a:solidFill>
                  <a:srgbClr val="0070C0"/>
                </a:solidFill>
                <a:latin typeface="Arial" pitchFamily="34" charset="0"/>
                <a:ea typeface="Arial" pitchFamily="34" charset="-122"/>
                <a:cs typeface="Arial" pitchFamily="34" charset="-120"/>
              </a:rPr>
              <a:t>Questions</a:t>
            </a:r>
            <a:endParaRPr lang="en-US" sz="4800" dirty="0"/>
          </a:p>
        </p:txBody>
      </p:sp>
      <p:sp>
        <p:nvSpPr>
          <p:cNvPr id="7" name="Text 5"/>
          <p:cNvSpPr/>
          <p:nvPr/>
        </p:nvSpPr>
        <p:spPr>
          <a:xfrm>
            <a:off x="812800" y="32080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E464C"/>
                </a:solidFill>
                <a:latin typeface="Arial" pitchFamily="34" charset="0"/>
                <a:ea typeface="Arial" pitchFamily="34" charset="-122"/>
                <a:cs typeface="Arial" pitchFamily="34" charset="-120"/>
              </a:rPr>
              <a:t>Wiki: conslmhoang.github.io/HDC-wiki</a:t>
            </a:r>
            <a:endParaRPr lang="en-US" sz="1600" dirty="0"/>
          </a:p>
        </p:txBody>
      </p:sp>
      <p:sp>
        <p:nvSpPr>
          <p:cNvPr id="8" name="Text 6"/>
          <p:cNvSpPr/>
          <p:nvPr/>
        </p:nvSpPr>
        <p:spPr>
          <a:xfrm>
            <a:off x="812800" y="35941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E464C"/>
                </a:solidFill>
                <a:latin typeface="Arial" pitchFamily="34" charset="0"/>
                <a:ea typeface="Arial" pitchFamily="34" charset="-122"/>
                <a:cs typeface="Arial" pitchFamily="34" charset="-120"/>
              </a:rPr>
              <a:t>Code and notes: github.com/conslmhoang/HDC-wiki</a:t>
            </a:r>
            <a:endParaRPr lang="en-US" sz="1600" dirty="0"/>
          </a:p>
        </p:txBody>
      </p:sp>
      <p:sp>
        <p:nvSpPr>
          <p:cNvPr id="9" name="Text 7"/>
          <p:cNvSpPr/>
          <p:nvPr/>
        </p:nvSpPr>
        <p:spPr>
          <a:xfrm>
            <a:off x="812800" y="4132560"/>
            <a:ext cx="85026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070C0"/>
                </a:solidFill>
                <a:latin typeface="Arial" pitchFamily="34" charset="0"/>
                <a:ea typeface="Arial" pitchFamily="34" charset="-122"/>
                <a:cs typeface="Arial" pitchFamily="34" charset="-120"/>
              </a:rPr>
              <a:t>Ask about any number: I can open its source note and the table it came from.</a:t>
            </a:r>
            <a:endParaRPr lang="en-US" sz="1600" dirty="0"/>
          </a:p>
        </p:txBody>
      </p:sp>
      <p:sp>
        <p:nvSpPr>
          <p:cNvPr id="10" name="Shape 8"/>
          <p:cNvSpPr/>
          <p:nvPr/>
        </p:nvSpPr>
        <p:spPr>
          <a:xfrm>
            <a:off x="0" y="6350000"/>
            <a:ext cx="12192000" cy="12700"/>
          </a:xfrm>
          <a:prstGeom prst="rect">
            <a:avLst/>
          </a:prstGeom>
          <a:solidFill>
            <a:srgbClr val="A6A6A6"/>
          </a:solidFill>
          <a:ln/>
        </p:spPr>
      </p:sp>
      <p:sp>
        <p:nvSpPr>
          <p:cNvPr id="11" name="Text 9"/>
          <p:cNvSpPr/>
          <p:nvPr/>
        </p:nvSpPr>
        <p:spPr>
          <a:xfrm>
            <a:off x="254000" y="64516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0070C0"/>
                </a:solidFill>
                <a:latin typeface="Arial" pitchFamily="34" charset="0"/>
                <a:ea typeface="Arial" pitchFamily="34" charset="-122"/>
                <a:cs typeface="Arial" pitchFamily="34" charset="-120"/>
              </a:rPr>
              <a:t>Chonnam National University</a:t>
            </a:r>
            <a:endParaRPr lang="en-US" sz="1500" dirty="0"/>
          </a:p>
        </p:txBody>
      </p:sp>
      <p:sp>
        <p:nvSpPr>
          <p:cNvPr id="12" name="Text 10"/>
          <p:cNvSpPr/>
          <p:nvPr/>
        </p:nvSpPr>
        <p:spPr>
          <a:xfrm>
            <a:off x="9340850" y="6451600"/>
            <a:ext cx="1962150" cy="292100"/>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0070C0"/>
                </a:solidFill>
                <a:latin typeface="Arial" pitchFamily="34" charset="0"/>
                <a:ea typeface="Arial" pitchFamily="34" charset="-122"/>
                <a:cs typeface="Arial" pitchFamily="34" charset="-120"/>
              </a:rPr>
              <a:t>Page 35</a:t>
            </a:r>
            <a:endParaRPr lang="en-US" sz="1500" dirty="0"/>
          </a:p>
        </p:txBody>
      </p:sp>
      <p:pic>
        <p:nvPicPr>
          <p:cNvPr id="13" name="Image 0" descr="preencoded.png">    </p:cNvPr>
          <p:cNvPicPr>
            <a:picLocks noChangeAspect="1"/>
          </p:cNvPicPr>
          <p:nvPr/>
        </p:nvPicPr>
        <p:blipFill>
          <a:blip r:embed="rId1">
            <a:alphaModFix amt="60000"/>
          </a:blip>
          <a:srcRect l="0" r="0" t="0" b="0"/>
          <a:stretch/>
        </p:blipFill>
        <p:spPr>
          <a:xfrm>
            <a:off x="11468100" y="6400800"/>
            <a:ext cx="431800" cy="431800"/>
          </a:xfrm>
          <a:prstGeom prst="rect">
            <a:avLst/>
          </a:prstGeom>
        </p:spPr>
      </p:pic>
    </p:spTree>
  </p:cSld>
  <p:clrMapOvr>
    <a:masterClrMapping/>
  </p:clrMapOvr>
</p:sld>
</file>

<file path=ppt/theme/theme1.xml><?xml version="1.0" encoding="utf-8"?>
<a:theme xmlns:a="http://schemas.openxmlformats.org/drawingml/2006/main" name="LLM Wiki for High Ductile Concrete">
  <a:themeElements>
    <a:clrScheme name="LLM Wiki for High Ductile Concrete">
      <a:dk1>
        <a:srgbClr val="0070C0"/>
      </a:dk1>
      <a:lt1>
        <a:srgbClr val="FFFFFF"/>
      </a:lt1>
      <a:dk2>
        <a:srgbClr val="4094D0"/>
      </a:dk2>
      <a:lt2>
        <a:srgbClr val="E6F1F9"/>
      </a:lt2>
      <a:accent1>
        <a:srgbClr val="1F4E79"/>
      </a:accent1>
      <a:accent2>
        <a:srgbClr val="B8720C"/>
      </a:accent2>
      <a:accent3>
        <a:srgbClr val="8A5509"/>
      </a:accent3>
      <a:accent4>
        <a:srgbClr val="8FB8D6"/>
      </a:accent4>
      <a:accent5>
        <a:srgbClr val="4E8A2A"/>
      </a:accent5>
      <a:accent6>
        <a:srgbClr val="E3B25E"/>
      </a:accent6>
      <a:hlink>
        <a:srgbClr val="0563C1"/>
      </a:hlink>
      <a:folHlink>
        <a:srgbClr val="954F72"/>
      </a:folHlink>
    </a:clrScheme>
    <a:fontScheme name="LLM Wiki for High Ductile Concret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Wiki for High Ductile Concrete</dc:title>
  <dc:subject/>
  <dc:creator/>
  <cp:lastModifiedBy/>
  <cp:revision>1</cp:revision>
  <dcterms:created xsi:type="dcterms:W3CDTF">2026-10-19T07:22:53Z</dcterms:created>
  <dcterms:modified xsi:type="dcterms:W3CDTF">2026-10-19T07:22:53Z</dcterms:modified>
</cp:coreProperties>
</file>